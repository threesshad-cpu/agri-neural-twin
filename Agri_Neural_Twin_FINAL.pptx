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72A830-9583-41FA-BB9F-0BE46193E6DD}" v="3" dt="2026-06-09T05:53:06.7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reessha D" userId="7fbd0ca69ffc79db" providerId="LiveId" clId="{E2EF1B65-9FAC-4A6F-BC75-03952B29E0CF}"/>
    <pc:docChg chg="undo custSel modSld">
      <pc:chgData name="Threessha D" userId="7fbd0ca69ffc79db" providerId="LiveId" clId="{E2EF1B65-9FAC-4A6F-BC75-03952B29E0CF}" dt="2026-06-09T05:53:06.718" v="18"/>
      <pc:docMkLst>
        <pc:docMk/>
      </pc:docMkLst>
      <pc:sldChg chg="modSp">
        <pc:chgData name="Threessha D" userId="7fbd0ca69ffc79db" providerId="LiveId" clId="{E2EF1B65-9FAC-4A6F-BC75-03952B29E0CF}" dt="2026-06-09T05:53:06.718" v="18"/>
        <pc:sldMkLst>
          <pc:docMk/>
          <pc:sldMk cId="0" sldId="265"/>
        </pc:sldMkLst>
        <pc:graphicFrameChg chg="mod">
          <ac:chgData name="Threessha D" userId="7fbd0ca69ffc79db" providerId="LiveId" clId="{E2EF1B65-9FAC-4A6F-BC75-03952B29E0CF}" dt="2026-06-09T05:53:06.718" v="18"/>
          <ac:graphicFrameMkLst>
            <pc:docMk/>
            <pc:sldMk cId="0" sldId="265"/>
            <ac:graphicFrameMk id="5" creationId="{00000000-0000-0000-0000-000000000000}"/>
          </ac:graphicFrameMkLst>
        </pc:graphicFrameChg>
      </pc:sldChg>
      <pc:sldChg chg="addSp delSp modSp mod">
        <pc:chgData name="Threessha D" userId="7fbd0ca69ffc79db" providerId="LiveId" clId="{E2EF1B65-9FAC-4A6F-BC75-03952B29E0CF}" dt="2026-06-09T05:51:31.570" v="15" actId="21"/>
        <pc:sldMkLst>
          <pc:docMk/>
          <pc:sldMk cId="0" sldId="268"/>
        </pc:sldMkLst>
        <pc:spChg chg="add del">
          <ac:chgData name="Threessha D" userId="7fbd0ca69ffc79db" providerId="LiveId" clId="{E2EF1B65-9FAC-4A6F-BC75-03952B29E0CF}" dt="2026-06-09T05:51:31.570" v="15" actId="21"/>
          <ac:spMkLst>
            <pc:docMk/>
            <pc:sldMk cId="0" sldId="268"/>
            <ac:spMk id="5" creationId="{00000000-0000-0000-0000-000000000000}"/>
          </ac:spMkLst>
        </pc:spChg>
        <pc:spChg chg="mod">
          <ac:chgData name="Threessha D" userId="7fbd0ca69ffc79db" providerId="LiveId" clId="{E2EF1B65-9FAC-4A6F-BC75-03952B29E0CF}" dt="2026-06-09T05:51:28.718" v="10" actId="1076"/>
          <ac:spMkLst>
            <pc:docMk/>
            <pc:sldMk cId="0" sldId="268"/>
            <ac:spMk id="7" creationId="{00000000-0000-0000-0000-000000000000}"/>
          </ac:spMkLst>
        </pc:spChg>
        <pc:spChg chg="mod">
          <ac:chgData name="Threessha D" userId="7fbd0ca69ffc79db" providerId="LiveId" clId="{E2EF1B65-9FAC-4A6F-BC75-03952B29E0CF}" dt="2026-06-09T05:51:29.615" v="12" actId="1076"/>
          <ac:spMkLst>
            <pc:docMk/>
            <pc:sldMk cId="0" sldId="268"/>
            <ac:spMk id="8" creationId="{00000000-0000-0000-0000-000000000000}"/>
          </ac:spMkLst>
        </pc:spChg>
        <pc:spChg chg="mod">
          <ac:chgData name="Threessha D" userId="7fbd0ca69ffc79db" providerId="LiveId" clId="{E2EF1B65-9FAC-4A6F-BC75-03952B29E0CF}" dt="2026-06-09T05:51:29.174" v="11" actId="688"/>
          <ac:spMkLst>
            <pc:docMk/>
            <pc:sldMk cId="0" sldId="268"/>
            <ac:spMk id="9" creationId="{00000000-0000-0000-0000-000000000000}"/>
          </ac:spMkLst>
        </pc:spChg>
        <pc:picChg chg="add del mod">
          <ac:chgData name="Threessha D" userId="7fbd0ca69ffc79db" providerId="LiveId" clId="{E2EF1B65-9FAC-4A6F-BC75-03952B29E0CF}" dt="2026-06-09T05:51:30.702" v="14" actId="22"/>
          <ac:picMkLst>
            <pc:docMk/>
            <pc:sldMk cId="0" sldId="268"/>
            <ac:picMk id="36" creationId="{54A5F762-340C-2B9D-25AF-F2EC0269A30E}"/>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 (₹ Lakhs)</c:v>
                </c:pt>
              </c:strCache>
            </c:strRef>
          </c:tx>
          <c:spPr>
            <a:solidFill>
              <a:srgbClr val="2ECC71"/>
            </a:solidFill>
            <a:effectLst>
              <a:outerShdw blurRad="101600" dist="38100" dir="2700000" algn="bl">
                <a:srgbClr val="000000">
                  <a:alpha val="40000"/>
                </a:srgbClr>
              </a:outerShdw>
            </a:effectLst>
          </c:spPr>
          <c:invertIfNegative val="0"/>
          <c:dPt>
            <c:idx val="0"/>
            <c:invertIfNegative val="0"/>
            <c:bubble3D val="0"/>
            <c:extLst>
              <c:ext xmlns:c16="http://schemas.microsoft.com/office/drawing/2014/chart" uri="{C3380CC4-5D6E-409C-BE32-E72D297353CC}">
                <c16:uniqueId val="{00000001-834E-44A8-A9A0-FE4373DA97DA}"/>
              </c:ext>
            </c:extLst>
          </c:dPt>
          <c:dPt>
            <c:idx val="1"/>
            <c:invertIfNegative val="0"/>
            <c:bubble3D val="0"/>
            <c:spPr>
              <a:solidFill>
                <a:srgbClr val="00B4D8"/>
              </a:solidFill>
              <a:effectLst>
                <a:outerShdw blurRad="101600" dist="38100" dir="2700000" algn="bl">
                  <a:srgbClr val="000000">
                    <a:alpha val="40000"/>
                  </a:srgbClr>
                </a:outerShdw>
              </a:effectLst>
            </c:spPr>
            <c:extLst>
              <c:ext xmlns:c16="http://schemas.microsoft.com/office/drawing/2014/chart" uri="{C3380CC4-5D6E-409C-BE32-E72D297353CC}">
                <c16:uniqueId val="{00000003-834E-44A8-A9A0-FE4373DA97DA}"/>
              </c:ext>
            </c:extLst>
          </c:dPt>
          <c:dPt>
            <c:idx val="2"/>
            <c:invertIfNegative val="0"/>
            <c:bubble3D val="0"/>
            <c:spPr>
              <a:solidFill>
                <a:srgbClr val="FF6B35"/>
              </a:solidFill>
              <a:effectLst>
                <a:outerShdw blurRad="101600" dist="38100" dir="2700000" algn="bl">
                  <a:srgbClr val="000000">
                    <a:alpha val="40000"/>
                  </a:srgbClr>
                </a:outerShdw>
              </a:effectLst>
            </c:spPr>
            <c:extLst>
              <c:ext xmlns:c16="http://schemas.microsoft.com/office/drawing/2014/chart" uri="{C3380CC4-5D6E-409C-BE32-E72D297353CC}">
                <c16:uniqueId val="{00000005-834E-44A8-A9A0-FE4373DA97DA}"/>
              </c:ext>
            </c:extLst>
          </c:dPt>
          <c:dLbls>
            <c:numFmt formatCode="#,##0" sourceLinked="0"/>
            <c:spPr>
              <a:noFill/>
              <a:ln>
                <a:noFill/>
              </a:ln>
              <a:effectLst/>
            </c:spPr>
            <c:txPr>
              <a:bodyPr/>
              <a:lstStyle/>
              <a:p>
                <a:pPr>
                  <a:defRPr sz="1100" b="1"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Y1 — 2026</c:v>
                </c:pt>
                <c:pt idx="1">
                  <c:v>Y2 — 2027</c:v>
                </c:pt>
                <c:pt idx="2">
                  <c:v>Y3 — 2028</c:v>
                </c:pt>
              </c:strCache>
            </c:strRef>
          </c:cat>
          <c:val>
            <c:numRef>
              <c:f>Sheet1!$B$2:$B$4</c:f>
              <c:numCache>
                <c:formatCode>General</c:formatCode>
                <c:ptCount val="3"/>
                <c:pt idx="0">
                  <c:v>25</c:v>
                </c:pt>
                <c:pt idx="1">
                  <c:v>120</c:v>
                </c:pt>
                <c:pt idx="2">
                  <c:v>800</c:v>
                </c:pt>
              </c:numCache>
            </c:numRef>
          </c:val>
          <c:extLst>
            <c:ext xmlns:c16="http://schemas.microsoft.com/office/drawing/2014/chart" uri="{C3380CC4-5D6E-409C-BE32-E72D297353CC}">
              <c16:uniqueId val="{00000006-834E-44A8-A9A0-FE4373DA97D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FFFF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FFFFF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Currently Served</c:v>
                </c:pt>
              </c:strCache>
            </c:strRef>
          </c:tx>
          <c:spPr>
            <a:solidFill>
              <a:schemeClr val="accent1"/>
            </a:solidFill>
            <a:ln w="9525" cap="flat">
              <a:solidFill>
                <a:srgbClr val="F9F9F9"/>
              </a:solidFill>
              <a:prstDash val="solid"/>
              <a:round/>
            </a:ln>
            <a:effectLst>
              <a:outerShdw blurRad="101600" dist="38100" dir="2700000" algn="bl">
                <a:srgbClr val="000000">
                  <a:alpha val="40000"/>
                </a:srgbClr>
              </a:outerShdw>
            </a:effectLst>
          </c:spPr>
          <c:dPt>
            <c:idx val="0"/>
            <c:bubble3D val="0"/>
            <c:spPr>
              <a:solidFill>
                <a:srgbClr val="8AB89A"/>
              </a:solidFill>
              <a:effectLst>
                <a:outerShdw blurRad="101600" dist="38100" dir="2700000" algn="bl">
                  <a:srgbClr val="000000">
                    <a:alpha val="40000"/>
                  </a:srgbClr>
                </a:outerShdw>
              </a:effectLst>
            </c:spPr>
            <c:extLst>
              <c:ext xmlns:c16="http://schemas.microsoft.com/office/drawing/2014/chart" uri="{C3380CC4-5D6E-409C-BE32-E72D297353CC}">
                <c16:uniqueId val="{00000001-18E9-4A24-8D99-3DBE3F42D38B}"/>
              </c:ext>
            </c:extLst>
          </c:dPt>
          <c:dPt>
            <c:idx val="1"/>
            <c:bubble3D val="0"/>
            <c:spPr>
              <a:solidFill>
                <a:srgbClr val="2ECC71"/>
              </a:solidFill>
              <a:effectLst>
                <a:outerShdw blurRad="101600" dist="38100" dir="2700000" algn="bl">
                  <a:srgbClr val="000000">
                    <a:alpha val="40000"/>
                  </a:srgbClr>
                </a:outerShdw>
              </a:effectLst>
            </c:spPr>
            <c:extLst>
              <c:ext xmlns:c16="http://schemas.microsoft.com/office/drawing/2014/chart" uri="{C3380CC4-5D6E-409C-BE32-E72D297353CC}">
                <c16:uniqueId val="{00000003-18E9-4A24-8D99-3DBE3F42D38B}"/>
              </c:ext>
            </c:extLst>
          </c:dPt>
          <c:dPt>
            <c:idx val="2"/>
            <c:bubble3D val="0"/>
            <c:spPr>
              <a:solidFill>
                <a:srgbClr val="1A3A2A"/>
              </a:solidFill>
              <a:effectLst>
                <a:outerShdw blurRad="101600" dist="38100" dir="2700000" algn="bl">
                  <a:srgbClr val="000000">
                    <a:alpha val="40000"/>
                  </a:srgbClr>
                </a:outerShdw>
              </a:effectLst>
            </c:spPr>
            <c:extLst>
              <c:ext xmlns:c16="http://schemas.microsoft.com/office/drawing/2014/chart" uri="{C3380CC4-5D6E-409C-BE32-E72D297353CC}">
                <c16:uniqueId val="{00000005-18E9-4A24-8D99-3DBE3F42D38B}"/>
              </c:ext>
            </c:extLst>
          </c:dPt>
          <c:dLbls>
            <c:dLbl>
              <c:idx val="0"/>
              <c:layout>
                <c:manualLayout>
                  <c:x val="-0.15211640211640212"/>
                  <c:y val="1.5873015873015872E-2"/>
                </c:manualLayout>
              </c:layout>
              <c:tx>
                <c:rich>
                  <a:bodyPr/>
                  <a:lstStyle/>
                  <a:p>
                    <a:pPr>
                      <a:defRPr sz="1200" b="0" i="0" u="none" strike="noStrike">
                        <a:solidFill>
                          <a:srgbClr val="000000"/>
                        </a:solidFill>
                        <a:latin typeface="Arial"/>
                      </a:defRPr>
                    </a:pPr>
                    <a:fld id="{4D494E9C-1722-4943-9FC0-C831934F623D}" type="VALUE">
                      <a:rPr lang="en-US" smtClean="0"/>
                      <a:pPr>
                        <a:defRPr sz="1200" b="0" i="0" u="none" strike="noStrike">
                          <a:solidFill>
                            <a:srgbClr val="000000"/>
                          </a:solidFill>
                          <a:latin typeface="Arial"/>
                        </a:defRPr>
                      </a:pPr>
                      <a:t>[VALUE]</a:t>
                    </a:fld>
                    <a:r>
                      <a:rPr lang="en-US" baseline="0" dirty="0"/>
                      <a:t>
</a:t>
                    </a:r>
                    <a:fld id="{F0B3908A-5AD4-4E0E-82B9-8FD4C1C96BBC}" type="PERCENTAGE">
                      <a:rPr lang="en-US" baseline="0"/>
                      <a:pPr>
                        <a:defRPr sz="1200" b="0" i="0" u="none" strike="noStrike">
                          <a:solidFill>
                            <a:srgbClr val="000000"/>
                          </a:solidFill>
                          <a:latin typeface="Arial"/>
                        </a:defRPr>
                      </a:pPr>
                      <a:t>[PERCENTAGE]</a:t>
                    </a:fld>
                    <a:endParaRPr lang="en-US" baseline="0" dirty="0"/>
                  </a:p>
                </c:rich>
              </c:tx>
              <c:numFmt formatCode="0%" sourceLinked="0"/>
              <c:spPr/>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18E9-4A24-8D99-3DBE3F42D38B}"/>
                </c:ext>
              </c:extLst>
            </c:dLbl>
            <c:dLbl>
              <c:idx val="1"/>
              <c:layout>
                <c:manualLayout>
                  <c:x val="0.1146384479717813"/>
                  <c:y val="0.1309523809523809"/>
                </c:manualLayout>
              </c:layout>
              <c:numFmt formatCode="0%" sourceLinked="0"/>
              <c:spPr/>
              <c:txPr>
                <a:bodyPr/>
                <a:lstStyle/>
                <a:p>
                  <a:pPr>
                    <a:defRPr sz="1200" b="0" i="0" u="none" strike="noStrike">
                      <a:solidFill>
                        <a:srgbClr val="000000"/>
                      </a:solidFill>
                      <a:latin typeface="Arial"/>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18E9-4A24-8D99-3DBE3F42D38B}"/>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1"/>
              <c:showSerName val="0"/>
              <c:showPercent val="1"/>
              <c:showBubbleSize val="0"/>
              <c:extLst>
                <c:ext xmlns:c16="http://schemas.microsoft.com/office/drawing/2014/chart" uri="{C3380CC4-5D6E-409C-BE32-E72D297353CC}">
                  <c16:uniqueId val="{00000005-18E9-4A24-8D99-3DBE3F42D38B}"/>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Currently Served</c:v>
                </c:pt>
                <c:pt idx="1">
                  <c:v>Our Target Y1</c:v>
                </c:pt>
                <c:pt idx="2">
                  <c:v>Remaining Market</c:v>
                </c:pt>
              </c:strCache>
            </c:strRef>
          </c:cat>
          <c:val>
            <c:numRef>
              <c:f>Sheet1!$B$2:$B$4</c:f>
              <c:numCache>
                <c:formatCode>General</c:formatCode>
                <c:ptCount val="3"/>
                <c:pt idx="0">
                  <c:v>500000</c:v>
                </c:pt>
                <c:pt idx="1">
                  <c:v>100000</c:v>
                </c:pt>
                <c:pt idx="2">
                  <c:v>7600000</c:v>
                </c:pt>
              </c:numCache>
            </c:numRef>
          </c:val>
          <c:extLst>
            <c:ext xmlns:c16="http://schemas.microsoft.com/office/drawing/2014/chart" uri="{C3380CC4-5D6E-409C-BE32-E72D297353CC}">
              <c16:uniqueId val="{00000006-18E9-4A24-8D99-3DBE3F42D38B}"/>
            </c:ext>
          </c:extLst>
        </c:ser>
        <c:dLbls>
          <c:showLegendKey val="0"/>
          <c:showVal val="0"/>
          <c:showCatName val="0"/>
          <c:showSerName val="0"/>
          <c:showPercent val="0"/>
          <c:showBubbleSize val="0"/>
          <c:showLeaderLines val="0"/>
        </c:dLbls>
        <c:firstSliceAng val="0"/>
        <c:holeSize val="50"/>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5728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A0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ECC71"/>
          </a:solidFill>
          <a:ln/>
        </p:spPr>
      </p:sp>
      <p:sp>
        <p:nvSpPr>
          <p:cNvPr id="3" name="Shape 1"/>
          <p:cNvSpPr/>
          <p:nvPr/>
        </p:nvSpPr>
        <p:spPr>
          <a:xfrm>
            <a:off x="8686800" y="-1371600"/>
            <a:ext cx="3200400" cy="3200400"/>
          </a:xfrm>
          <a:prstGeom prst="ellipse">
            <a:avLst/>
          </a:prstGeom>
          <a:solidFill>
            <a:srgbClr val="1A3A2A"/>
          </a:solidFill>
          <a:ln w="25400">
            <a:solidFill>
              <a:srgbClr val="2ECC71"/>
            </a:solidFill>
            <a:prstDash val="solid"/>
          </a:ln>
        </p:spPr>
      </p:sp>
      <p:sp>
        <p:nvSpPr>
          <p:cNvPr id="4" name="Shape 2"/>
          <p:cNvSpPr/>
          <p:nvPr/>
        </p:nvSpPr>
        <p:spPr>
          <a:xfrm>
            <a:off x="9144000" y="-731520"/>
            <a:ext cx="2286000" cy="2286000"/>
          </a:xfrm>
          <a:prstGeom prst="ellipse">
            <a:avLst/>
          </a:prstGeom>
          <a:solidFill>
            <a:srgbClr val="163A26"/>
          </a:solidFill>
          <a:ln w="12700">
            <a:solidFill>
              <a:srgbClr val="F0C040"/>
            </a:solidFill>
            <a:prstDash val="solid"/>
          </a:ln>
        </p:spPr>
      </p:sp>
      <p:sp>
        <p:nvSpPr>
          <p:cNvPr id="5" name="Text 3"/>
          <p:cNvSpPr/>
          <p:nvPr/>
        </p:nvSpPr>
        <p:spPr>
          <a:xfrm>
            <a:off x="274320" y="1097280"/>
            <a:ext cx="7315200" cy="1097280"/>
          </a:xfrm>
          <a:prstGeom prst="rect">
            <a:avLst/>
          </a:prstGeom>
          <a:noFill/>
          <a:ln/>
          <a:effectLst>
            <a:outerShdw blurRad="101600" dist="38100" dir="2700000" algn="bl" rotWithShape="0">
              <a:srgbClr val="000000">
                <a:alpha val="40000"/>
              </a:srgbClr>
            </a:outerShdw>
          </a:effectLst>
        </p:spPr>
        <p:txBody>
          <a:bodyPr wrap="square" rtlCol="0" anchor="ctr"/>
          <a:lstStyle/>
          <a:p>
            <a:pPr marL="0" indent="0">
              <a:buNone/>
            </a:pPr>
            <a:r>
              <a:rPr lang="en-US" sz="5200" b="1" dirty="0">
                <a:solidFill>
                  <a:srgbClr val="2ECC71"/>
                </a:solidFill>
                <a:latin typeface="Trebuchet MS" pitchFamily="34" charset="0"/>
                <a:ea typeface="Trebuchet MS" pitchFamily="34" charset="-122"/>
                <a:cs typeface="Trebuchet MS" pitchFamily="34" charset="-120"/>
              </a:rPr>
              <a:t>AGRI-NEURAL TWIN</a:t>
            </a:r>
            <a:endParaRPr lang="en-US" sz="5200" dirty="0"/>
          </a:p>
        </p:txBody>
      </p:sp>
      <p:sp>
        <p:nvSpPr>
          <p:cNvPr id="6" name="Text 4"/>
          <p:cNvSpPr/>
          <p:nvPr/>
        </p:nvSpPr>
        <p:spPr>
          <a:xfrm>
            <a:off x="274320" y="2194560"/>
            <a:ext cx="7315200" cy="457200"/>
          </a:xfrm>
          <a:prstGeom prst="rect">
            <a:avLst/>
          </a:prstGeom>
          <a:noFill/>
          <a:ln/>
        </p:spPr>
        <p:txBody>
          <a:bodyPr wrap="square" rtlCol="0" anchor="ctr"/>
          <a:lstStyle/>
          <a:p>
            <a:pPr marL="0" indent="0">
              <a:buNone/>
            </a:pPr>
            <a:r>
              <a:rPr lang="en-US" sz="2200" i="1" dirty="0">
                <a:solidFill>
                  <a:srgbClr val="F0C040"/>
                </a:solidFill>
                <a:latin typeface="Trebuchet MS" pitchFamily="34" charset="0"/>
                <a:ea typeface="Trebuchet MS" pitchFamily="34" charset="-122"/>
                <a:cs typeface="Trebuchet MS" pitchFamily="34" charset="-120"/>
              </a:rPr>
              <a:t>நிமிர்ந்து நில் | Nimirndhu Nil</a:t>
            </a:r>
            <a:endParaRPr lang="en-US" sz="2200" dirty="0"/>
          </a:p>
        </p:txBody>
      </p:sp>
      <p:sp>
        <p:nvSpPr>
          <p:cNvPr id="7" name="Text 5"/>
          <p:cNvSpPr/>
          <p:nvPr/>
        </p:nvSpPr>
        <p:spPr>
          <a:xfrm>
            <a:off x="274320" y="2743200"/>
            <a:ext cx="7772400" cy="45720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District Intelligence &amp; Agricultural Risk Engine for Tamil Nadu</a:t>
            </a:r>
            <a:endParaRPr lang="en-US" sz="1600" dirty="0"/>
          </a:p>
        </p:txBody>
      </p:sp>
      <p:sp>
        <p:nvSpPr>
          <p:cNvPr id="8" name="Shape 6"/>
          <p:cNvSpPr/>
          <p:nvPr/>
        </p:nvSpPr>
        <p:spPr>
          <a:xfrm>
            <a:off x="274320" y="3291840"/>
            <a:ext cx="8686800" cy="27432"/>
          </a:xfrm>
          <a:prstGeom prst="rect">
            <a:avLst/>
          </a:prstGeom>
          <a:solidFill>
            <a:srgbClr val="2ECC71"/>
          </a:solidFill>
          <a:ln/>
        </p:spPr>
      </p:sp>
      <p:sp>
        <p:nvSpPr>
          <p:cNvPr id="9" name="Text 7"/>
          <p:cNvSpPr/>
          <p:nvPr/>
        </p:nvSpPr>
        <p:spPr>
          <a:xfrm>
            <a:off x="274320" y="3474720"/>
            <a:ext cx="5486400" cy="320040"/>
          </a:xfrm>
          <a:prstGeom prst="rect">
            <a:avLst/>
          </a:prstGeom>
          <a:noFill/>
          <a:ln/>
        </p:spPr>
        <p:txBody>
          <a:bodyPr wrap="square" rtlCol="0" anchor="ctr"/>
          <a:lstStyle/>
          <a:p>
            <a:pPr marL="0" indent="0">
              <a:buNone/>
            </a:pPr>
            <a:r>
              <a:rPr lang="en-US" sz="1400" b="1" dirty="0">
                <a:solidFill>
                  <a:srgbClr val="F0C040"/>
                </a:solidFill>
                <a:latin typeface="Calibri" pitchFamily="34" charset="0"/>
                <a:ea typeface="Calibri" pitchFamily="34" charset="-122"/>
                <a:cs typeface="Calibri" pitchFamily="34" charset="-120"/>
              </a:rPr>
              <a:t>Team: Uzhavar Intelligence</a:t>
            </a:r>
            <a:endParaRPr lang="en-US" sz="1400" dirty="0"/>
          </a:p>
        </p:txBody>
      </p:sp>
      <p:sp>
        <p:nvSpPr>
          <p:cNvPr id="10" name="Text 8"/>
          <p:cNvSpPr/>
          <p:nvPr/>
        </p:nvSpPr>
        <p:spPr>
          <a:xfrm>
            <a:off x="274320" y="3794760"/>
            <a:ext cx="8229600" cy="320040"/>
          </a:xfrm>
          <a:prstGeom prst="rect">
            <a:avLst/>
          </a:prstGeom>
          <a:noFill/>
          <a:ln/>
        </p:spPr>
        <p:txBody>
          <a:bodyPr wrap="square" rtlCol="0" anchor="ctr"/>
          <a:lstStyle/>
          <a:p>
            <a:pPr marL="0" indent="0">
              <a:buNone/>
            </a:pPr>
            <a:r>
              <a:rPr lang="en-US" sz="1100" dirty="0">
                <a:solidFill>
                  <a:srgbClr val="8AB89A"/>
                </a:solidFill>
                <a:latin typeface="Calibri" pitchFamily="34" charset="0"/>
                <a:ea typeface="Calibri" pitchFamily="34" charset="-122"/>
                <a:cs typeface="Calibri" pitchFamily="34" charset="-120"/>
              </a:rPr>
              <a:t>Lead: Threessha D  |  Members: Padma Priya V, K. Sathyapriya, Santhosh Kumar B, Karthikeyan K</a:t>
            </a:r>
            <a:endParaRPr lang="en-US" sz="1100" dirty="0"/>
          </a:p>
        </p:txBody>
      </p:sp>
      <p:sp>
        <p:nvSpPr>
          <p:cNvPr id="11" name="Text 9"/>
          <p:cNvSpPr/>
          <p:nvPr/>
        </p:nvSpPr>
        <p:spPr>
          <a:xfrm>
            <a:off x="274320" y="4114800"/>
            <a:ext cx="7315200" cy="274320"/>
          </a:xfrm>
          <a:prstGeom prst="rect">
            <a:avLst/>
          </a:prstGeom>
          <a:noFill/>
          <a:ln/>
        </p:spPr>
        <p:txBody>
          <a:bodyPr wrap="square" rtlCol="0" anchor="ctr"/>
          <a:lstStyle/>
          <a:p>
            <a:pPr marL="0" indent="0">
              <a:buNone/>
            </a:pPr>
            <a:r>
              <a:rPr lang="en-US" sz="1100" dirty="0">
                <a:solidFill>
                  <a:srgbClr val="8AB89A"/>
                </a:solidFill>
                <a:latin typeface="Calibri" pitchFamily="34" charset="0"/>
                <a:ea typeface="Calibri" pitchFamily="34" charset="-122"/>
                <a:cs typeface="Calibri" pitchFamily="34" charset="-120"/>
              </a:rPr>
              <a:t>C. Abdul Hakeem College of Engineering &amp; Technology</a:t>
            </a:r>
            <a:endParaRPr lang="en-US" sz="1100" dirty="0"/>
          </a:p>
        </p:txBody>
      </p:sp>
      <p:sp>
        <p:nvSpPr>
          <p:cNvPr id="12" name="Text 10"/>
          <p:cNvSpPr/>
          <p:nvPr/>
        </p:nvSpPr>
        <p:spPr>
          <a:xfrm>
            <a:off x="274320" y="4480560"/>
            <a:ext cx="7315200" cy="274320"/>
          </a:xfrm>
          <a:prstGeom prst="rect">
            <a:avLst/>
          </a:prstGeom>
          <a:noFill/>
          <a:ln/>
        </p:spPr>
        <p:txBody>
          <a:bodyPr wrap="square" rtlCol="0" anchor="ctr"/>
          <a:lstStyle/>
          <a:p>
            <a:pPr marL="0" indent="0">
              <a:buNone/>
            </a:pPr>
            <a:r>
              <a:rPr lang="en-US" sz="1000" dirty="0">
                <a:solidFill>
                  <a:srgbClr val="00B4D8"/>
                </a:solidFill>
                <a:latin typeface="Calibri" pitchFamily="34" charset="0"/>
                <a:ea typeface="Calibri" pitchFamily="34" charset="-122"/>
                <a:cs typeface="Calibri" pitchFamily="34" charset="-120"/>
              </a:rPr>
              <a:t>🌐 nimirndhunil.vercel.app  |  GitHub: threesshad-cpu/agri-neural-twin</a:t>
            </a:r>
            <a:endParaRPr lang="en-US" sz="1000" dirty="0"/>
          </a:p>
        </p:txBody>
      </p:sp>
      <p:sp>
        <p:nvSpPr>
          <p:cNvPr id="13" name="Shape 11"/>
          <p:cNvSpPr/>
          <p:nvPr/>
        </p:nvSpPr>
        <p:spPr>
          <a:xfrm>
            <a:off x="7498080" y="5852160"/>
            <a:ext cx="3291840" cy="822960"/>
          </a:xfrm>
          <a:prstGeom prst="rect">
            <a:avLst/>
          </a:prstGeom>
          <a:solidFill>
            <a:srgbClr val="F0C040"/>
          </a:solidFill>
          <a:ln/>
          <a:effectLst>
            <a:outerShdw blurRad="101600" dist="38100" dir="2700000" algn="bl" rotWithShape="0">
              <a:srgbClr val="000000">
                <a:alpha val="40000"/>
              </a:srgbClr>
            </a:outerShdw>
          </a:effectLst>
        </p:spPr>
      </p:sp>
      <p:sp>
        <p:nvSpPr>
          <p:cNvPr id="14" name="Text 12"/>
          <p:cNvSpPr/>
          <p:nvPr/>
        </p:nvSpPr>
        <p:spPr>
          <a:xfrm>
            <a:off x="7498080" y="5852160"/>
            <a:ext cx="3291840" cy="822960"/>
          </a:xfrm>
          <a:prstGeom prst="rect">
            <a:avLst/>
          </a:prstGeom>
          <a:noFill/>
          <a:ln/>
        </p:spPr>
        <p:txBody>
          <a:bodyPr wrap="square" rtlCol="0" anchor="ctr"/>
          <a:lstStyle/>
          <a:p>
            <a:pPr marL="0" indent="0" algn="ctr">
              <a:buNone/>
            </a:pPr>
            <a:r>
              <a:rPr lang="en-US" sz="1000" b="1" dirty="0">
                <a:solidFill>
                  <a:srgbClr val="061008"/>
                </a:solidFill>
                <a:latin typeface="Trebuchet MS" pitchFamily="34" charset="0"/>
                <a:ea typeface="Trebuchet MS" pitchFamily="34" charset="-122"/>
                <a:cs typeface="Trebuchet MS" pitchFamily="34" charset="-120"/>
              </a:rPr>
              <a:t>🏆 NIMIRNDHU NIL HACKATHON</a:t>
            </a:r>
            <a:endParaRPr lang="en-US" sz="1000" dirty="0"/>
          </a:p>
          <a:p>
            <a:pPr marL="0" indent="0" algn="ctr">
              <a:buNone/>
            </a:pPr>
            <a:r>
              <a:rPr lang="en-US" sz="1000" b="1" dirty="0">
                <a:solidFill>
                  <a:srgbClr val="061008"/>
                </a:solidFill>
                <a:latin typeface="Trebuchet MS" pitchFamily="34" charset="0"/>
                <a:ea typeface="Trebuchet MS" pitchFamily="34" charset="-122"/>
                <a:cs typeface="Trebuchet MS" pitchFamily="34" charset="-120"/>
              </a:rPr>
              <a:t>Govt of Tamil Nadu — 2026</a:t>
            </a:r>
            <a:endParaRPr lang="en-US" sz="1000" dirty="0"/>
          </a:p>
        </p:txBody>
      </p:sp>
      <p:sp>
        <p:nvSpPr>
          <p:cNvPr id="15" name="Shape 13"/>
          <p:cNvSpPr/>
          <p:nvPr/>
        </p:nvSpPr>
        <p:spPr>
          <a:xfrm>
            <a:off x="0" y="6492240"/>
            <a:ext cx="12188952" cy="365760"/>
          </a:xfrm>
          <a:prstGeom prst="rect">
            <a:avLst/>
          </a:prstGeom>
          <a:solidFill>
            <a:srgbClr val="1A3A2A"/>
          </a:solidFill>
          <a:ln/>
        </p:spPr>
      </p:sp>
      <p:sp>
        <p:nvSpPr>
          <p:cNvPr id="16" name="Text 14"/>
          <p:cNvSpPr/>
          <p:nvPr/>
        </p:nvSpPr>
        <p:spPr>
          <a:xfrm>
            <a:off x="0" y="6492240"/>
            <a:ext cx="12188952" cy="365760"/>
          </a:xfrm>
          <a:prstGeom prst="rect">
            <a:avLst/>
          </a:prstGeom>
          <a:noFill/>
          <a:ln/>
        </p:spPr>
        <p:txBody>
          <a:bodyPr wrap="square" rtlCol="0" anchor="ctr"/>
          <a:lstStyle/>
          <a:p>
            <a:pPr marL="0" indent="0" algn="ctr">
              <a:buNone/>
            </a:pPr>
            <a:r>
              <a:rPr lang="en-US" sz="1100" i="1" dirty="0">
                <a:solidFill>
                  <a:srgbClr val="2ECC71"/>
                </a:solidFill>
                <a:latin typeface="Calibri" pitchFamily="34" charset="0"/>
                <a:ea typeface="Calibri" pitchFamily="34" charset="-122"/>
                <a:cs typeface="Calibri" pitchFamily="34" charset="-120"/>
              </a:rPr>
              <a:t>"From Soil Data to Smart Decisions — Democratizing AI for Every Farmer"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A0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F6B35"/>
          </a:solidFill>
          <a:ln/>
        </p:spPr>
      </p:sp>
      <p:sp>
        <p:nvSpPr>
          <p:cNvPr id="3" name="Text 1"/>
          <p:cNvSpPr/>
          <p:nvPr/>
        </p:nvSpPr>
        <p:spPr>
          <a:xfrm>
            <a:off x="457200" y="182880"/>
            <a:ext cx="7315200" cy="548640"/>
          </a:xfrm>
          <a:prstGeom prst="rect">
            <a:avLst/>
          </a:prstGeom>
          <a:noFill/>
          <a:ln/>
          <a:effectLst>
            <a:outerShdw blurRad="101600" dist="38100" dir="2700000" algn="bl" rotWithShape="0">
              <a:srgbClr val="000000">
                <a:alpha val="40000"/>
              </a:srgbClr>
            </a:outerShdw>
          </a:effectLst>
        </p:spPr>
        <p:txBody>
          <a:bodyPr wrap="square" rtlCol="0" anchor="ctr"/>
          <a:lstStyle/>
          <a:p>
            <a:pPr marL="0" indent="0">
              <a:buNone/>
            </a:pPr>
            <a:r>
              <a:rPr lang="en-US" sz="3400" b="1" dirty="0">
                <a:solidFill>
                  <a:srgbClr val="FF6B35"/>
                </a:solidFill>
                <a:latin typeface="Trebuchet MS" pitchFamily="34" charset="0"/>
                <a:ea typeface="Trebuchet MS" pitchFamily="34" charset="-122"/>
                <a:cs typeface="Trebuchet MS" pitchFamily="34" charset="-120"/>
              </a:rPr>
              <a:t>THE PROBLEM</a:t>
            </a:r>
            <a:endParaRPr lang="en-US" sz="3400" dirty="0"/>
          </a:p>
        </p:txBody>
      </p:sp>
      <p:sp>
        <p:nvSpPr>
          <p:cNvPr id="4" name="Text 2"/>
          <p:cNvSpPr/>
          <p:nvPr/>
        </p:nvSpPr>
        <p:spPr>
          <a:xfrm>
            <a:off x="457200" y="749808"/>
            <a:ext cx="8229600" cy="320040"/>
          </a:xfrm>
          <a:prstGeom prst="rect">
            <a:avLst/>
          </a:prstGeom>
          <a:noFill/>
          <a:ln/>
        </p:spPr>
        <p:txBody>
          <a:bodyPr wrap="square" rtlCol="0" anchor="ctr"/>
          <a:lstStyle/>
          <a:p>
            <a:pPr marL="0" indent="0">
              <a:buNone/>
            </a:pPr>
            <a:r>
              <a:rPr lang="en-US" sz="1400" i="1" dirty="0">
                <a:solidFill>
                  <a:srgbClr val="8AB89A"/>
                </a:solidFill>
                <a:latin typeface="Calibri" pitchFamily="34" charset="0"/>
                <a:ea typeface="Calibri" pitchFamily="34" charset="-122"/>
                <a:cs typeface="Calibri" pitchFamily="34" charset="-120"/>
              </a:rPr>
              <a:t>Why Tamil Nadu's 8.2M Farmers Are Losing Money</a:t>
            </a:r>
            <a:endParaRPr lang="en-US" sz="1400" dirty="0"/>
          </a:p>
        </p:txBody>
      </p:sp>
      <p:sp>
        <p:nvSpPr>
          <p:cNvPr id="5" name="Shape 3"/>
          <p:cNvSpPr/>
          <p:nvPr/>
        </p:nvSpPr>
        <p:spPr>
          <a:xfrm>
            <a:off x="365760" y="1280160"/>
            <a:ext cx="3657600" cy="2926080"/>
          </a:xfrm>
          <a:prstGeom prst="rect">
            <a:avLst/>
          </a:prstGeom>
          <a:solidFill>
            <a:srgbClr val="1A3A2A"/>
          </a:solidFill>
          <a:ln/>
          <a:effectLst>
            <a:outerShdw blurRad="101600" dist="38100" dir="2700000" algn="bl" rotWithShape="0">
              <a:srgbClr val="000000">
                <a:alpha val="40000"/>
              </a:srgbClr>
            </a:outerShdw>
          </a:effectLst>
        </p:spPr>
      </p:sp>
      <p:sp>
        <p:nvSpPr>
          <p:cNvPr id="6" name="Shape 4"/>
          <p:cNvSpPr/>
          <p:nvPr/>
        </p:nvSpPr>
        <p:spPr>
          <a:xfrm>
            <a:off x="365760" y="1280160"/>
            <a:ext cx="3657600" cy="109728"/>
          </a:xfrm>
          <a:prstGeom prst="rect">
            <a:avLst/>
          </a:prstGeom>
          <a:solidFill>
            <a:srgbClr val="FF6B35"/>
          </a:solidFill>
          <a:ln/>
        </p:spPr>
      </p:sp>
      <p:sp>
        <p:nvSpPr>
          <p:cNvPr id="7" name="Text 5"/>
          <p:cNvSpPr/>
          <p:nvPr/>
        </p:nvSpPr>
        <p:spPr>
          <a:xfrm>
            <a:off x="365760" y="1463040"/>
            <a:ext cx="365760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8" name="Text 6"/>
          <p:cNvSpPr/>
          <p:nvPr/>
        </p:nvSpPr>
        <p:spPr>
          <a:xfrm>
            <a:off x="365760" y="2011680"/>
            <a:ext cx="3657600" cy="640080"/>
          </a:xfrm>
          <a:prstGeom prst="rect">
            <a:avLst/>
          </a:prstGeom>
          <a:noFill/>
          <a:ln/>
        </p:spPr>
        <p:txBody>
          <a:bodyPr wrap="square" rtlCol="0" anchor="ctr"/>
          <a:lstStyle/>
          <a:p>
            <a:pPr marL="0" indent="0" algn="ctr">
              <a:buNone/>
            </a:pPr>
            <a:r>
              <a:rPr lang="en-US" sz="3000" b="1" dirty="0">
                <a:solidFill>
                  <a:srgbClr val="FFFFFF"/>
                </a:solidFill>
                <a:latin typeface="Trebuchet MS" pitchFamily="34" charset="0"/>
                <a:ea typeface="Trebuchet MS" pitchFamily="34" charset="-122"/>
                <a:cs typeface="Trebuchet MS" pitchFamily="34" charset="-120"/>
              </a:rPr>
              <a:t>₹14,000 Cr</a:t>
            </a:r>
            <a:endParaRPr lang="en-US" sz="3000" dirty="0"/>
          </a:p>
        </p:txBody>
      </p:sp>
      <p:sp>
        <p:nvSpPr>
          <p:cNvPr id="9" name="Text 7"/>
          <p:cNvSpPr/>
          <p:nvPr/>
        </p:nvSpPr>
        <p:spPr>
          <a:xfrm>
            <a:off x="365760" y="2651760"/>
            <a:ext cx="3657600" cy="365760"/>
          </a:xfrm>
          <a:prstGeom prst="rect">
            <a:avLst/>
          </a:prstGeom>
          <a:noFill/>
          <a:ln/>
        </p:spPr>
        <p:txBody>
          <a:bodyPr wrap="square" rtlCol="0" anchor="ctr"/>
          <a:lstStyle/>
          <a:p>
            <a:pPr marL="0" indent="0" algn="ctr">
              <a:buNone/>
            </a:pPr>
            <a:r>
              <a:rPr lang="en-US" sz="1300" b="1" dirty="0">
                <a:solidFill>
                  <a:srgbClr val="F0C040"/>
                </a:solidFill>
                <a:latin typeface="Calibri" pitchFamily="34" charset="0"/>
                <a:ea typeface="Calibri" pitchFamily="34" charset="-122"/>
                <a:cs typeface="Calibri" pitchFamily="34" charset="-120"/>
              </a:rPr>
              <a:t>Annual Crop Loss</a:t>
            </a:r>
            <a:endParaRPr lang="en-US" sz="1300" dirty="0"/>
          </a:p>
        </p:txBody>
      </p:sp>
      <p:sp>
        <p:nvSpPr>
          <p:cNvPr id="10" name="Text 8"/>
          <p:cNvSpPr/>
          <p:nvPr/>
        </p:nvSpPr>
        <p:spPr>
          <a:xfrm>
            <a:off x="365760" y="3017520"/>
            <a:ext cx="3657600" cy="548640"/>
          </a:xfrm>
          <a:prstGeom prst="rect">
            <a:avLst/>
          </a:prstGeom>
          <a:noFill/>
          <a:ln/>
        </p:spPr>
        <p:txBody>
          <a:bodyPr wrap="square" rtlCol="0" anchor="ctr"/>
          <a:lstStyle/>
          <a:p>
            <a:pPr marL="0" indent="0" algn="ctr">
              <a:buNone/>
            </a:pPr>
            <a:r>
              <a:rPr lang="en-US" sz="1000" dirty="0">
                <a:solidFill>
                  <a:srgbClr val="8AB89A"/>
                </a:solidFill>
                <a:latin typeface="Calibri" pitchFamily="34" charset="0"/>
                <a:ea typeface="Calibri" pitchFamily="34" charset="-122"/>
                <a:cs typeface="Calibri" pitchFamily="34" charset="-120"/>
              </a:rPr>
              <a:t>Due to market gluts &amp; price crashes</a:t>
            </a:r>
            <a:endParaRPr lang="en-US" sz="1000" dirty="0"/>
          </a:p>
        </p:txBody>
      </p:sp>
      <p:sp>
        <p:nvSpPr>
          <p:cNvPr id="11" name="Shape 9"/>
          <p:cNvSpPr/>
          <p:nvPr/>
        </p:nvSpPr>
        <p:spPr>
          <a:xfrm>
            <a:off x="4297680" y="1280160"/>
            <a:ext cx="3657600" cy="2926080"/>
          </a:xfrm>
          <a:prstGeom prst="rect">
            <a:avLst/>
          </a:prstGeom>
          <a:solidFill>
            <a:srgbClr val="1A3A2A"/>
          </a:solidFill>
          <a:ln/>
          <a:effectLst>
            <a:outerShdw blurRad="101600" dist="38100" dir="2700000" algn="bl" rotWithShape="0">
              <a:srgbClr val="000000">
                <a:alpha val="40000"/>
              </a:srgbClr>
            </a:outerShdw>
          </a:effectLst>
        </p:spPr>
      </p:sp>
      <p:sp>
        <p:nvSpPr>
          <p:cNvPr id="12" name="Shape 10"/>
          <p:cNvSpPr/>
          <p:nvPr/>
        </p:nvSpPr>
        <p:spPr>
          <a:xfrm>
            <a:off x="4297680" y="1280160"/>
            <a:ext cx="3657600" cy="109728"/>
          </a:xfrm>
          <a:prstGeom prst="rect">
            <a:avLst/>
          </a:prstGeom>
          <a:solidFill>
            <a:srgbClr val="C0392B"/>
          </a:solidFill>
          <a:ln/>
        </p:spPr>
      </p:sp>
      <p:sp>
        <p:nvSpPr>
          <p:cNvPr id="13" name="Text 11"/>
          <p:cNvSpPr/>
          <p:nvPr/>
        </p:nvSpPr>
        <p:spPr>
          <a:xfrm>
            <a:off x="4297680" y="1463040"/>
            <a:ext cx="365760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4" name="Text 12"/>
          <p:cNvSpPr/>
          <p:nvPr/>
        </p:nvSpPr>
        <p:spPr>
          <a:xfrm>
            <a:off x="4297680" y="2011680"/>
            <a:ext cx="3657600" cy="640080"/>
          </a:xfrm>
          <a:prstGeom prst="rect">
            <a:avLst/>
          </a:prstGeom>
          <a:noFill/>
          <a:ln/>
        </p:spPr>
        <p:txBody>
          <a:bodyPr wrap="square" rtlCol="0" anchor="ctr"/>
          <a:lstStyle/>
          <a:p>
            <a:pPr marL="0" indent="0" algn="ctr">
              <a:buNone/>
            </a:pPr>
            <a:r>
              <a:rPr lang="en-US" sz="3000" b="1" dirty="0">
                <a:solidFill>
                  <a:srgbClr val="FFFFFF"/>
                </a:solidFill>
                <a:latin typeface="Trebuchet MS" pitchFamily="34" charset="0"/>
                <a:ea typeface="Trebuchet MS" pitchFamily="34" charset="-122"/>
                <a:cs typeface="Trebuchet MS" pitchFamily="34" charset="-120"/>
              </a:rPr>
              <a:t>42%</a:t>
            </a:r>
            <a:endParaRPr lang="en-US" sz="3000" dirty="0"/>
          </a:p>
        </p:txBody>
      </p:sp>
      <p:sp>
        <p:nvSpPr>
          <p:cNvPr id="15" name="Text 13"/>
          <p:cNvSpPr/>
          <p:nvPr/>
        </p:nvSpPr>
        <p:spPr>
          <a:xfrm>
            <a:off x="4297680" y="2651760"/>
            <a:ext cx="3657600" cy="365760"/>
          </a:xfrm>
          <a:prstGeom prst="rect">
            <a:avLst/>
          </a:prstGeom>
          <a:noFill/>
          <a:ln/>
        </p:spPr>
        <p:txBody>
          <a:bodyPr wrap="square" rtlCol="0" anchor="ctr"/>
          <a:lstStyle/>
          <a:p>
            <a:pPr marL="0" indent="0" algn="ctr">
              <a:buNone/>
            </a:pPr>
            <a:r>
              <a:rPr lang="en-US" sz="1300" b="1" dirty="0">
                <a:solidFill>
                  <a:srgbClr val="F0C040"/>
                </a:solidFill>
                <a:latin typeface="Calibri" pitchFamily="34" charset="0"/>
                <a:ea typeface="Calibri" pitchFamily="34" charset="-122"/>
                <a:cs typeface="Calibri" pitchFamily="34" charset="-120"/>
              </a:rPr>
              <a:t>Farmer Income Gap</a:t>
            </a:r>
            <a:endParaRPr lang="en-US" sz="1300" dirty="0"/>
          </a:p>
        </p:txBody>
      </p:sp>
      <p:sp>
        <p:nvSpPr>
          <p:cNvPr id="16" name="Text 14"/>
          <p:cNvSpPr/>
          <p:nvPr/>
        </p:nvSpPr>
        <p:spPr>
          <a:xfrm>
            <a:off x="4297680" y="3017520"/>
            <a:ext cx="3657600" cy="548640"/>
          </a:xfrm>
          <a:prstGeom prst="rect">
            <a:avLst/>
          </a:prstGeom>
          <a:noFill/>
          <a:ln/>
        </p:spPr>
        <p:txBody>
          <a:bodyPr wrap="square" rtlCol="0" anchor="ctr"/>
          <a:lstStyle/>
          <a:p>
            <a:pPr marL="0" indent="0" algn="ctr">
              <a:buNone/>
            </a:pPr>
            <a:r>
              <a:rPr lang="en-US" sz="1000" dirty="0">
                <a:solidFill>
                  <a:srgbClr val="8AB89A"/>
                </a:solidFill>
                <a:latin typeface="Calibri" pitchFamily="34" charset="0"/>
                <a:ea typeface="Calibri" pitchFamily="34" charset="-122"/>
                <a:cs typeface="Calibri" pitchFamily="34" charset="-120"/>
              </a:rPr>
              <a:t>vs national average — persistent poverty</a:t>
            </a:r>
            <a:endParaRPr lang="en-US" sz="1000" dirty="0"/>
          </a:p>
        </p:txBody>
      </p:sp>
      <p:sp>
        <p:nvSpPr>
          <p:cNvPr id="17" name="Shape 15"/>
          <p:cNvSpPr/>
          <p:nvPr/>
        </p:nvSpPr>
        <p:spPr>
          <a:xfrm>
            <a:off x="8229600" y="1280160"/>
            <a:ext cx="3657600" cy="2926080"/>
          </a:xfrm>
          <a:prstGeom prst="rect">
            <a:avLst/>
          </a:prstGeom>
          <a:solidFill>
            <a:srgbClr val="1A3A2A"/>
          </a:solidFill>
          <a:ln/>
          <a:effectLst>
            <a:outerShdw blurRad="101600" dist="38100" dir="2700000" algn="bl" rotWithShape="0">
              <a:srgbClr val="000000">
                <a:alpha val="40000"/>
              </a:srgbClr>
            </a:outerShdw>
          </a:effectLst>
        </p:spPr>
      </p:sp>
      <p:sp>
        <p:nvSpPr>
          <p:cNvPr id="18" name="Shape 16"/>
          <p:cNvSpPr/>
          <p:nvPr/>
        </p:nvSpPr>
        <p:spPr>
          <a:xfrm>
            <a:off x="8229600" y="1280160"/>
            <a:ext cx="3657600" cy="109728"/>
          </a:xfrm>
          <a:prstGeom prst="rect">
            <a:avLst/>
          </a:prstGeom>
          <a:solidFill>
            <a:srgbClr val="7B2FBE"/>
          </a:solidFill>
          <a:ln/>
        </p:spPr>
      </p:sp>
      <p:sp>
        <p:nvSpPr>
          <p:cNvPr id="19" name="Text 17"/>
          <p:cNvSpPr/>
          <p:nvPr/>
        </p:nvSpPr>
        <p:spPr>
          <a:xfrm>
            <a:off x="8229600" y="1463040"/>
            <a:ext cx="365760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0" name="Text 18"/>
          <p:cNvSpPr/>
          <p:nvPr/>
        </p:nvSpPr>
        <p:spPr>
          <a:xfrm>
            <a:off x="8229600" y="2011680"/>
            <a:ext cx="3657600" cy="640080"/>
          </a:xfrm>
          <a:prstGeom prst="rect">
            <a:avLst/>
          </a:prstGeom>
          <a:noFill/>
          <a:ln/>
        </p:spPr>
        <p:txBody>
          <a:bodyPr wrap="square" rtlCol="0" anchor="ctr"/>
          <a:lstStyle/>
          <a:p>
            <a:pPr marL="0" indent="0" algn="ctr">
              <a:buNone/>
            </a:pPr>
            <a:r>
              <a:rPr lang="en-US" sz="3000" b="1" dirty="0">
                <a:solidFill>
                  <a:srgbClr val="FFFFFF"/>
                </a:solidFill>
                <a:latin typeface="Trebuchet MS" pitchFamily="34" charset="0"/>
                <a:ea typeface="Trebuchet MS" pitchFamily="34" charset="-122"/>
                <a:cs typeface="Trebuchet MS" pitchFamily="34" charset="-120"/>
              </a:rPr>
              <a:t>38 Districts</a:t>
            </a:r>
            <a:endParaRPr lang="en-US" sz="3000" dirty="0"/>
          </a:p>
        </p:txBody>
      </p:sp>
      <p:sp>
        <p:nvSpPr>
          <p:cNvPr id="21" name="Text 19"/>
          <p:cNvSpPr/>
          <p:nvPr/>
        </p:nvSpPr>
        <p:spPr>
          <a:xfrm>
            <a:off x="8229600" y="2651760"/>
            <a:ext cx="3657600" cy="365760"/>
          </a:xfrm>
          <a:prstGeom prst="rect">
            <a:avLst/>
          </a:prstGeom>
          <a:noFill/>
          <a:ln/>
        </p:spPr>
        <p:txBody>
          <a:bodyPr wrap="square" rtlCol="0" anchor="ctr"/>
          <a:lstStyle/>
          <a:p>
            <a:pPr marL="0" indent="0" algn="ctr">
              <a:buNone/>
            </a:pPr>
            <a:r>
              <a:rPr lang="en-US" sz="1300" b="1" dirty="0">
                <a:solidFill>
                  <a:srgbClr val="F0C040"/>
                </a:solidFill>
                <a:latin typeface="Calibri" pitchFamily="34" charset="0"/>
                <a:ea typeface="Calibri" pitchFamily="34" charset="-122"/>
                <a:cs typeface="Calibri" pitchFamily="34" charset="-120"/>
              </a:rPr>
              <a:t>Zero Data Visibility</a:t>
            </a:r>
            <a:endParaRPr lang="en-US" sz="1300" dirty="0"/>
          </a:p>
        </p:txBody>
      </p:sp>
      <p:sp>
        <p:nvSpPr>
          <p:cNvPr id="22" name="Text 20"/>
          <p:cNvSpPr/>
          <p:nvPr/>
        </p:nvSpPr>
        <p:spPr>
          <a:xfrm>
            <a:off x="8229600" y="3017520"/>
            <a:ext cx="3657600" cy="548640"/>
          </a:xfrm>
          <a:prstGeom prst="rect">
            <a:avLst/>
          </a:prstGeom>
          <a:noFill/>
          <a:ln/>
        </p:spPr>
        <p:txBody>
          <a:bodyPr wrap="square" rtlCol="0" anchor="ctr"/>
          <a:lstStyle/>
          <a:p>
            <a:pPr marL="0" indent="0" algn="ctr">
              <a:buNone/>
            </a:pPr>
            <a:r>
              <a:rPr lang="en-US" sz="1000" dirty="0">
                <a:solidFill>
                  <a:srgbClr val="8AB89A"/>
                </a:solidFill>
                <a:latin typeface="Calibri" pitchFamily="34" charset="0"/>
                <a:ea typeface="Calibri" pitchFamily="34" charset="-122"/>
                <a:cs typeface="Calibri" pitchFamily="34" charset="-120"/>
              </a:rPr>
              <a:t>No real-time soil/market intelligence</a:t>
            </a:r>
            <a:endParaRPr lang="en-US" sz="1000" dirty="0"/>
          </a:p>
        </p:txBody>
      </p:sp>
      <p:sp>
        <p:nvSpPr>
          <p:cNvPr id="23" name="Shape 21"/>
          <p:cNvSpPr/>
          <p:nvPr/>
        </p:nvSpPr>
        <p:spPr>
          <a:xfrm>
            <a:off x="365760" y="4480560"/>
            <a:ext cx="11430000" cy="1463040"/>
          </a:xfrm>
          <a:prstGeom prst="rect">
            <a:avLst/>
          </a:prstGeom>
          <a:solidFill>
            <a:srgbClr val="1A0A0A"/>
          </a:solidFill>
          <a:ln/>
          <a:effectLst>
            <a:outerShdw blurRad="101600" dist="38100" dir="2700000" algn="bl" rotWithShape="0">
              <a:srgbClr val="000000">
                <a:alpha val="40000"/>
              </a:srgbClr>
            </a:outerShdw>
          </a:effectLst>
        </p:spPr>
      </p:sp>
      <p:sp>
        <p:nvSpPr>
          <p:cNvPr id="24" name="Shape 22"/>
          <p:cNvSpPr/>
          <p:nvPr/>
        </p:nvSpPr>
        <p:spPr>
          <a:xfrm>
            <a:off x="365760" y="4480560"/>
            <a:ext cx="73152" cy="1463040"/>
          </a:xfrm>
          <a:prstGeom prst="rect">
            <a:avLst/>
          </a:prstGeom>
          <a:solidFill>
            <a:srgbClr val="FF6B35"/>
          </a:solidFill>
          <a:ln/>
        </p:spPr>
      </p:sp>
      <p:sp>
        <p:nvSpPr>
          <p:cNvPr id="25" name="Text 23"/>
          <p:cNvSpPr/>
          <p:nvPr/>
        </p:nvSpPr>
        <p:spPr>
          <a:xfrm>
            <a:off x="548640" y="4572000"/>
            <a:ext cx="3657600" cy="365760"/>
          </a:xfrm>
          <a:prstGeom prst="rect">
            <a:avLst/>
          </a:prstGeom>
          <a:noFill/>
          <a:ln/>
        </p:spPr>
        <p:txBody>
          <a:bodyPr wrap="square" rtlCol="0" anchor="ctr"/>
          <a:lstStyle/>
          <a:p>
            <a:pPr marL="0" indent="0">
              <a:buNone/>
            </a:pPr>
            <a:r>
              <a:rPr lang="en-US" sz="1400" b="1" dirty="0">
                <a:solidFill>
                  <a:srgbClr val="FF6B35"/>
                </a:solidFill>
                <a:latin typeface="Trebuchet MS" pitchFamily="34" charset="0"/>
                <a:ea typeface="Trebuchet MS" pitchFamily="34" charset="-122"/>
                <a:cs typeface="Trebuchet MS" pitchFamily="34" charset="-120"/>
              </a:rPr>
              <a:t>🔴  ROOT CAUSE</a:t>
            </a:r>
            <a:endParaRPr lang="en-US" sz="1400" dirty="0"/>
          </a:p>
        </p:txBody>
      </p:sp>
      <p:sp>
        <p:nvSpPr>
          <p:cNvPr id="26" name="Text 24"/>
          <p:cNvSpPr/>
          <p:nvPr/>
        </p:nvSpPr>
        <p:spPr>
          <a:xfrm>
            <a:off x="548640" y="4937760"/>
            <a:ext cx="10972800" cy="82296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Farmers make crop decisions blindly — No district-level soil analytics, no market saturation warnings, no AI-driven advisory. A ₹500 smartphone has no access to the intelligence that decides ₹50,000 worth of harvest outcome.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A0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ECC71"/>
          </a:solidFill>
          <a:ln/>
        </p:spPr>
      </p:sp>
      <p:sp>
        <p:nvSpPr>
          <p:cNvPr id="3" name="Text 1"/>
          <p:cNvSpPr/>
          <p:nvPr/>
        </p:nvSpPr>
        <p:spPr>
          <a:xfrm>
            <a:off x="457200" y="182880"/>
            <a:ext cx="7315200" cy="548640"/>
          </a:xfrm>
          <a:prstGeom prst="rect">
            <a:avLst/>
          </a:prstGeom>
          <a:noFill/>
          <a:ln/>
          <a:effectLst>
            <a:outerShdw blurRad="101600" dist="38100" dir="2700000" algn="bl" rotWithShape="0">
              <a:srgbClr val="000000">
                <a:alpha val="40000"/>
              </a:srgbClr>
            </a:outerShdw>
          </a:effectLst>
        </p:spPr>
        <p:txBody>
          <a:bodyPr wrap="square" rtlCol="0" anchor="ctr"/>
          <a:lstStyle/>
          <a:p>
            <a:pPr marL="0" indent="0">
              <a:buNone/>
            </a:pPr>
            <a:r>
              <a:rPr lang="en-US" sz="3400" b="1" dirty="0">
                <a:solidFill>
                  <a:srgbClr val="2ECC71"/>
                </a:solidFill>
                <a:latin typeface="Trebuchet MS" pitchFamily="34" charset="0"/>
                <a:ea typeface="Trebuchet MS" pitchFamily="34" charset="-122"/>
                <a:cs typeface="Trebuchet MS" pitchFamily="34" charset="-120"/>
              </a:rPr>
              <a:t>OUR SOLUTION</a:t>
            </a:r>
            <a:endParaRPr lang="en-US" sz="3400" dirty="0"/>
          </a:p>
        </p:txBody>
      </p:sp>
      <p:sp>
        <p:nvSpPr>
          <p:cNvPr id="4" name="Text 2"/>
          <p:cNvSpPr/>
          <p:nvPr/>
        </p:nvSpPr>
        <p:spPr>
          <a:xfrm>
            <a:off x="457200" y="749808"/>
            <a:ext cx="9144000" cy="320040"/>
          </a:xfrm>
          <a:prstGeom prst="rect">
            <a:avLst/>
          </a:prstGeom>
          <a:noFill/>
          <a:ln/>
        </p:spPr>
        <p:txBody>
          <a:bodyPr wrap="square" rtlCol="0" anchor="ctr"/>
          <a:lstStyle/>
          <a:p>
            <a:pPr marL="0" indent="0">
              <a:buNone/>
            </a:pPr>
            <a:r>
              <a:rPr lang="en-US" sz="1400" i="1" dirty="0">
                <a:solidFill>
                  <a:srgbClr val="8AB89A"/>
                </a:solidFill>
                <a:latin typeface="Calibri" pitchFamily="34" charset="0"/>
                <a:ea typeface="Calibri" pitchFamily="34" charset="-122"/>
                <a:cs typeface="Calibri" pitchFamily="34" charset="-120"/>
              </a:rPr>
              <a:t>A Real-Time Digital Twin Platform for Tamil Nadu Agriculture</a:t>
            </a:r>
            <a:endParaRPr lang="en-US" sz="1400" dirty="0"/>
          </a:p>
        </p:txBody>
      </p:sp>
      <p:sp>
        <p:nvSpPr>
          <p:cNvPr id="5" name="Shape 3"/>
          <p:cNvSpPr/>
          <p:nvPr/>
        </p:nvSpPr>
        <p:spPr>
          <a:xfrm>
            <a:off x="457200" y="1280160"/>
            <a:ext cx="10515600" cy="1280160"/>
          </a:xfrm>
          <a:prstGeom prst="rect">
            <a:avLst/>
          </a:prstGeom>
          <a:solidFill>
            <a:srgbClr val="162040"/>
          </a:solidFill>
          <a:ln w="25400">
            <a:solidFill>
              <a:srgbClr val="00B4D8"/>
            </a:solidFill>
            <a:prstDash val="solid"/>
          </a:ln>
          <a:effectLst>
            <a:outerShdw blurRad="101600" dist="38100" dir="2700000" algn="bl" rotWithShape="0">
              <a:srgbClr val="000000">
                <a:alpha val="40000"/>
              </a:srgbClr>
            </a:outerShdw>
          </a:effectLst>
        </p:spPr>
      </p:sp>
      <p:sp>
        <p:nvSpPr>
          <p:cNvPr id="6" name="Shape 4"/>
          <p:cNvSpPr/>
          <p:nvPr/>
        </p:nvSpPr>
        <p:spPr>
          <a:xfrm>
            <a:off x="457200" y="1280160"/>
            <a:ext cx="91440" cy="1280160"/>
          </a:xfrm>
          <a:prstGeom prst="rect">
            <a:avLst/>
          </a:prstGeom>
          <a:solidFill>
            <a:srgbClr val="00B4D8"/>
          </a:solidFill>
          <a:ln/>
        </p:spPr>
      </p:sp>
      <p:sp>
        <p:nvSpPr>
          <p:cNvPr id="7" name="Text 5"/>
          <p:cNvSpPr/>
          <p:nvPr/>
        </p:nvSpPr>
        <p:spPr>
          <a:xfrm>
            <a:off x="731520" y="1417320"/>
            <a:ext cx="9144000" cy="320040"/>
          </a:xfrm>
          <a:prstGeom prst="rect">
            <a:avLst/>
          </a:prstGeom>
          <a:noFill/>
          <a:ln/>
        </p:spPr>
        <p:txBody>
          <a:bodyPr wrap="square" rtlCol="0" anchor="ctr"/>
          <a:lstStyle/>
          <a:p>
            <a:pPr marL="0" indent="0">
              <a:buNone/>
            </a:pPr>
            <a:r>
              <a:rPr lang="en-US" sz="1300" b="1" dirty="0">
                <a:solidFill>
                  <a:srgbClr val="00B4D8"/>
                </a:solidFill>
                <a:latin typeface="Trebuchet MS" pitchFamily="34" charset="0"/>
                <a:ea typeface="Trebuchet MS" pitchFamily="34" charset="-122"/>
                <a:cs typeface="Trebuchet MS" pitchFamily="34" charset="-120"/>
              </a:rPr>
              <a:t>LAYER 1 — IoT &amp; Data Ingestion</a:t>
            </a:r>
            <a:endParaRPr lang="en-US" sz="1300" dirty="0"/>
          </a:p>
        </p:txBody>
      </p:sp>
      <p:sp>
        <p:nvSpPr>
          <p:cNvPr id="8" name="Text 6"/>
          <p:cNvSpPr/>
          <p:nvPr/>
        </p:nvSpPr>
        <p:spPr>
          <a:xfrm>
            <a:off x="731520" y="1783080"/>
            <a:ext cx="9601200" cy="64008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Soil NPK sensors · Weather telemetry · Market price APIs · 38-district TN coverage · Aadhaar-linked farmer IDs</a:t>
            </a:r>
            <a:endParaRPr lang="en-US" sz="1100" dirty="0"/>
          </a:p>
        </p:txBody>
      </p:sp>
      <p:sp>
        <p:nvSpPr>
          <p:cNvPr id="9" name="Shape 7"/>
          <p:cNvSpPr/>
          <p:nvPr/>
        </p:nvSpPr>
        <p:spPr>
          <a:xfrm>
            <a:off x="5669280" y="2560320"/>
            <a:ext cx="54864" cy="320040"/>
          </a:xfrm>
          <a:prstGeom prst="rect">
            <a:avLst/>
          </a:prstGeom>
          <a:solidFill>
            <a:srgbClr val="2ECC71"/>
          </a:solidFill>
          <a:ln/>
        </p:spPr>
      </p:sp>
      <p:sp>
        <p:nvSpPr>
          <p:cNvPr id="10" name="Shape 8"/>
          <p:cNvSpPr/>
          <p:nvPr/>
        </p:nvSpPr>
        <p:spPr>
          <a:xfrm>
            <a:off x="457200" y="2880360"/>
            <a:ext cx="10515600" cy="1280160"/>
          </a:xfrm>
          <a:prstGeom prst="rect">
            <a:avLst/>
          </a:prstGeom>
          <a:solidFill>
            <a:srgbClr val="162016"/>
          </a:solidFill>
          <a:ln w="25400">
            <a:solidFill>
              <a:srgbClr val="2ECC71"/>
            </a:solidFill>
            <a:prstDash val="solid"/>
          </a:ln>
          <a:effectLst>
            <a:outerShdw blurRad="101600" dist="38100" dir="2700000" algn="bl" rotWithShape="0">
              <a:srgbClr val="000000">
                <a:alpha val="40000"/>
              </a:srgbClr>
            </a:outerShdw>
          </a:effectLst>
        </p:spPr>
      </p:sp>
      <p:sp>
        <p:nvSpPr>
          <p:cNvPr id="11" name="Shape 9"/>
          <p:cNvSpPr/>
          <p:nvPr/>
        </p:nvSpPr>
        <p:spPr>
          <a:xfrm>
            <a:off x="457200" y="2880360"/>
            <a:ext cx="91440" cy="1280160"/>
          </a:xfrm>
          <a:prstGeom prst="rect">
            <a:avLst/>
          </a:prstGeom>
          <a:solidFill>
            <a:srgbClr val="2ECC71"/>
          </a:solidFill>
          <a:ln/>
        </p:spPr>
      </p:sp>
      <p:sp>
        <p:nvSpPr>
          <p:cNvPr id="12" name="Text 10"/>
          <p:cNvSpPr/>
          <p:nvPr/>
        </p:nvSpPr>
        <p:spPr>
          <a:xfrm>
            <a:off x="731520" y="3017520"/>
            <a:ext cx="9144000" cy="320040"/>
          </a:xfrm>
          <a:prstGeom prst="rect">
            <a:avLst/>
          </a:prstGeom>
          <a:noFill/>
          <a:ln/>
        </p:spPr>
        <p:txBody>
          <a:bodyPr wrap="square" rtlCol="0" anchor="ctr"/>
          <a:lstStyle/>
          <a:p>
            <a:pPr marL="0" indent="0">
              <a:buNone/>
            </a:pPr>
            <a:r>
              <a:rPr lang="en-US" sz="1300" b="1" dirty="0">
                <a:solidFill>
                  <a:srgbClr val="2ECC71"/>
                </a:solidFill>
                <a:latin typeface="Trebuchet MS" pitchFamily="34" charset="0"/>
                <a:ea typeface="Trebuchet MS" pitchFamily="34" charset="-122"/>
                <a:cs typeface="Trebuchet MS" pitchFamily="34" charset="-120"/>
              </a:rPr>
              <a:t>LAYER 2 — StateBrain AI Engine</a:t>
            </a:r>
            <a:endParaRPr lang="en-US" sz="1300" dirty="0"/>
          </a:p>
        </p:txBody>
      </p:sp>
      <p:sp>
        <p:nvSpPr>
          <p:cNvPr id="13" name="Text 11"/>
          <p:cNvSpPr/>
          <p:nvPr/>
        </p:nvSpPr>
        <p:spPr>
          <a:xfrm>
            <a:off x="731520" y="3383280"/>
            <a:ext cx="9601200" cy="64008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What-If Simulator · Market Glut Predictor · Cross-District Risk Analysis · Gemini Pro Advisory · 1000-season simulation</a:t>
            </a:r>
            <a:endParaRPr lang="en-US" sz="1100" dirty="0"/>
          </a:p>
        </p:txBody>
      </p:sp>
      <p:sp>
        <p:nvSpPr>
          <p:cNvPr id="14" name="Shape 12"/>
          <p:cNvSpPr/>
          <p:nvPr/>
        </p:nvSpPr>
        <p:spPr>
          <a:xfrm>
            <a:off x="5669280" y="4160520"/>
            <a:ext cx="54864" cy="320040"/>
          </a:xfrm>
          <a:prstGeom prst="rect">
            <a:avLst/>
          </a:prstGeom>
          <a:solidFill>
            <a:srgbClr val="2ECC71"/>
          </a:solidFill>
          <a:ln/>
        </p:spPr>
      </p:sp>
      <p:sp>
        <p:nvSpPr>
          <p:cNvPr id="15" name="Shape 13"/>
          <p:cNvSpPr/>
          <p:nvPr/>
        </p:nvSpPr>
        <p:spPr>
          <a:xfrm>
            <a:off x="457200" y="4480560"/>
            <a:ext cx="10515600" cy="1280160"/>
          </a:xfrm>
          <a:prstGeom prst="rect">
            <a:avLst/>
          </a:prstGeom>
          <a:solidFill>
            <a:srgbClr val="302010"/>
          </a:solidFill>
          <a:ln w="25400">
            <a:solidFill>
              <a:srgbClr val="F0C040"/>
            </a:solidFill>
            <a:prstDash val="solid"/>
          </a:ln>
          <a:effectLst>
            <a:outerShdw blurRad="101600" dist="38100" dir="2700000" algn="bl" rotWithShape="0">
              <a:srgbClr val="000000">
                <a:alpha val="40000"/>
              </a:srgbClr>
            </a:outerShdw>
          </a:effectLst>
        </p:spPr>
      </p:sp>
      <p:sp>
        <p:nvSpPr>
          <p:cNvPr id="16" name="Shape 14"/>
          <p:cNvSpPr/>
          <p:nvPr/>
        </p:nvSpPr>
        <p:spPr>
          <a:xfrm>
            <a:off x="457200" y="4480560"/>
            <a:ext cx="91440" cy="1280160"/>
          </a:xfrm>
          <a:prstGeom prst="rect">
            <a:avLst/>
          </a:prstGeom>
          <a:solidFill>
            <a:srgbClr val="F0C040"/>
          </a:solidFill>
          <a:ln/>
        </p:spPr>
      </p:sp>
      <p:sp>
        <p:nvSpPr>
          <p:cNvPr id="17" name="Text 15"/>
          <p:cNvSpPr/>
          <p:nvPr/>
        </p:nvSpPr>
        <p:spPr>
          <a:xfrm>
            <a:off x="731520" y="4617720"/>
            <a:ext cx="9144000" cy="320040"/>
          </a:xfrm>
          <a:prstGeom prst="rect">
            <a:avLst/>
          </a:prstGeom>
          <a:noFill/>
          <a:ln/>
        </p:spPr>
        <p:txBody>
          <a:bodyPr wrap="square" rtlCol="0" anchor="ctr"/>
          <a:lstStyle/>
          <a:p>
            <a:pPr marL="0" indent="0">
              <a:buNone/>
            </a:pPr>
            <a:r>
              <a:rPr lang="en-US" sz="1300" b="1" dirty="0">
                <a:solidFill>
                  <a:srgbClr val="F0C040"/>
                </a:solidFill>
                <a:latin typeface="Trebuchet MS" pitchFamily="34" charset="0"/>
                <a:ea typeface="Trebuchet MS" pitchFamily="34" charset="-122"/>
                <a:cs typeface="Trebuchet MS" pitchFamily="34" charset="-120"/>
              </a:rPr>
              <a:t>LAYER 3 — Geospatial Command UI</a:t>
            </a:r>
            <a:endParaRPr lang="en-US" sz="1300" dirty="0"/>
          </a:p>
        </p:txBody>
      </p:sp>
      <p:sp>
        <p:nvSpPr>
          <p:cNvPr id="18" name="Text 16"/>
          <p:cNvSpPr/>
          <p:nvPr/>
        </p:nvSpPr>
        <p:spPr>
          <a:xfrm>
            <a:off x="731520" y="4983480"/>
            <a:ext cx="9601200" cy="64008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Interactive Leaflet map · Block-level analysis · Multi-lingual (6 languages) · Officer &amp; Farmer dashboards · PDF Reports</a:t>
            </a:r>
            <a:endParaRPr lang="en-US" sz="1100" dirty="0"/>
          </a:p>
        </p:txBody>
      </p:sp>
      <p:sp>
        <p:nvSpPr>
          <p:cNvPr id="19" name="Shape 17"/>
          <p:cNvSpPr/>
          <p:nvPr/>
        </p:nvSpPr>
        <p:spPr>
          <a:xfrm>
            <a:off x="0" y="6309360"/>
            <a:ext cx="12188952" cy="548640"/>
          </a:xfrm>
          <a:prstGeom prst="rect">
            <a:avLst/>
          </a:prstGeom>
          <a:solidFill>
            <a:srgbClr val="2ECC71"/>
          </a:solidFill>
          <a:ln/>
        </p:spPr>
      </p:sp>
      <p:sp>
        <p:nvSpPr>
          <p:cNvPr id="20" name="Text 18"/>
          <p:cNvSpPr/>
          <p:nvPr/>
        </p:nvSpPr>
        <p:spPr>
          <a:xfrm>
            <a:off x="0" y="6309360"/>
            <a:ext cx="12188952" cy="548640"/>
          </a:xfrm>
          <a:prstGeom prst="rect">
            <a:avLst/>
          </a:prstGeom>
          <a:noFill/>
          <a:ln/>
        </p:spPr>
        <p:txBody>
          <a:bodyPr wrap="square" rtlCol="0" anchor="ctr"/>
          <a:lstStyle/>
          <a:p>
            <a:pPr marL="0" indent="0" algn="ctr">
              <a:buNone/>
            </a:pPr>
            <a:r>
              <a:rPr lang="en-US" sz="1400" b="1" dirty="0">
                <a:solidFill>
                  <a:srgbClr val="061008"/>
                </a:solidFill>
                <a:latin typeface="Trebuchet MS" pitchFamily="34" charset="0"/>
                <a:ea typeface="Trebuchet MS" pitchFamily="34" charset="-122"/>
                <a:cs typeface="Trebuchet MS" pitchFamily="34" charset="-120"/>
              </a:rPr>
              <a:t>🚀  LIVE @ nimirndhunil.vercel.app — Deployed &amp; Functional for 38 TN Districts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A0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B4D8"/>
          </a:solidFill>
          <a:ln/>
        </p:spPr>
      </p:sp>
      <p:sp>
        <p:nvSpPr>
          <p:cNvPr id="3" name="Text 1"/>
          <p:cNvSpPr/>
          <p:nvPr/>
        </p:nvSpPr>
        <p:spPr>
          <a:xfrm>
            <a:off x="457200" y="182880"/>
            <a:ext cx="9144000" cy="548640"/>
          </a:xfrm>
          <a:prstGeom prst="rect">
            <a:avLst/>
          </a:prstGeom>
          <a:noFill/>
          <a:ln/>
          <a:effectLst>
            <a:outerShdw blurRad="101600" dist="38100" dir="2700000" algn="bl" rotWithShape="0">
              <a:srgbClr val="000000">
                <a:alpha val="40000"/>
              </a:srgbClr>
            </a:outerShdw>
          </a:effectLst>
        </p:spPr>
        <p:txBody>
          <a:bodyPr wrap="square" rtlCol="0" anchor="ctr"/>
          <a:lstStyle/>
          <a:p>
            <a:pPr marL="0" indent="0">
              <a:buNone/>
            </a:pPr>
            <a:r>
              <a:rPr lang="en-US" sz="3000" b="1" dirty="0">
                <a:solidFill>
                  <a:srgbClr val="00B4D8"/>
                </a:solidFill>
                <a:latin typeface="Trebuchet MS" pitchFamily="34" charset="0"/>
                <a:ea typeface="Trebuchet MS" pitchFamily="34" charset="-122"/>
                <a:cs typeface="Trebuchet MS" pitchFamily="34" charset="-120"/>
              </a:rPr>
              <a:t>ACTUAL PROJECT ARCHITECTURE</a:t>
            </a:r>
            <a:endParaRPr lang="en-US" sz="3000" dirty="0"/>
          </a:p>
        </p:txBody>
      </p:sp>
      <p:sp>
        <p:nvSpPr>
          <p:cNvPr id="4" name="Shape 2"/>
          <p:cNvSpPr/>
          <p:nvPr/>
        </p:nvSpPr>
        <p:spPr>
          <a:xfrm>
            <a:off x="365760" y="914400"/>
            <a:ext cx="3566160" cy="365760"/>
          </a:xfrm>
          <a:prstGeom prst="rect">
            <a:avLst/>
          </a:prstGeom>
          <a:solidFill>
            <a:srgbClr val="00B4D8"/>
          </a:solidFill>
          <a:ln/>
          <a:effectLst>
            <a:outerShdw blurRad="101600" dist="38100" dir="2700000" algn="bl" rotWithShape="0">
              <a:srgbClr val="000000">
                <a:alpha val="40000"/>
              </a:srgbClr>
            </a:outerShdw>
          </a:effectLst>
        </p:spPr>
      </p:sp>
      <p:sp>
        <p:nvSpPr>
          <p:cNvPr id="5" name="Text 3"/>
          <p:cNvSpPr/>
          <p:nvPr/>
        </p:nvSpPr>
        <p:spPr>
          <a:xfrm>
            <a:off x="365760" y="914400"/>
            <a:ext cx="3566160" cy="365760"/>
          </a:xfrm>
          <a:prstGeom prst="rect">
            <a:avLst/>
          </a:prstGeom>
          <a:noFill/>
          <a:ln/>
        </p:spPr>
        <p:txBody>
          <a:bodyPr wrap="square" rtlCol="0" anchor="ctr"/>
          <a:lstStyle/>
          <a:p>
            <a:pPr marL="0" indent="0" algn="ctr">
              <a:buNone/>
            </a:pPr>
            <a:r>
              <a:rPr lang="en-US" sz="1100" b="1" dirty="0">
                <a:solidFill>
                  <a:srgbClr val="061008"/>
                </a:solidFill>
                <a:latin typeface="Trebuchet MS" pitchFamily="34" charset="0"/>
                <a:ea typeface="Trebuchet MS" pitchFamily="34" charset="-122"/>
                <a:cs typeface="Trebuchet MS" pitchFamily="34" charset="-120"/>
              </a:rPr>
              <a:t>FRONTEND (React/Vite)</a:t>
            </a:r>
            <a:endParaRPr lang="en-US" sz="1100" dirty="0"/>
          </a:p>
        </p:txBody>
      </p:sp>
      <p:sp>
        <p:nvSpPr>
          <p:cNvPr id="6" name="Shape 4"/>
          <p:cNvSpPr/>
          <p:nvPr/>
        </p:nvSpPr>
        <p:spPr>
          <a:xfrm>
            <a:off x="4297680" y="914400"/>
            <a:ext cx="3566160" cy="365760"/>
          </a:xfrm>
          <a:prstGeom prst="rect">
            <a:avLst/>
          </a:prstGeom>
          <a:solidFill>
            <a:srgbClr val="F0C040"/>
          </a:solidFill>
          <a:ln/>
          <a:effectLst>
            <a:outerShdw blurRad="101600" dist="38100" dir="2700000" algn="bl" rotWithShape="0">
              <a:srgbClr val="000000">
                <a:alpha val="40000"/>
              </a:srgbClr>
            </a:outerShdw>
          </a:effectLst>
        </p:spPr>
      </p:sp>
      <p:sp>
        <p:nvSpPr>
          <p:cNvPr id="7" name="Text 5"/>
          <p:cNvSpPr/>
          <p:nvPr/>
        </p:nvSpPr>
        <p:spPr>
          <a:xfrm>
            <a:off x="4297680" y="914400"/>
            <a:ext cx="3566160" cy="365760"/>
          </a:xfrm>
          <a:prstGeom prst="rect">
            <a:avLst/>
          </a:prstGeom>
          <a:noFill/>
          <a:ln/>
        </p:spPr>
        <p:txBody>
          <a:bodyPr wrap="square" rtlCol="0" anchor="ctr"/>
          <a:lstStyle/>
          <a:p>
            <a:pPr marL="0" indent="0" algn="ctr">
              <a:buNone/>
            </a:pPr>
            <a:r>
              <a:rPr lang="en-US" sz="1100" b="1" dirty="0">
                <a:solidFill>
                  <a:srgbClr val="061008"/>
                </a:solidFill>
                <a:latin typeface="Trebuchet MS" pitchFamily="34" charset="0"/>
                <a:ea typeface="Trebuchet MS" pitchFamily="34" charset="-122"/>
                <a:cs typeface="Trebuchet MS" pitchFamily="34" charset="-120"/>
              </a:rPr>
              <a:t>BACKEND (Node/FastAPI)</a:t>
            </a:r>
            <a:endParaRPr lang="en-US" sz="1100" dirty="0"/>
          </a:p>
        </p:txBody>
      </p:sp>
      <p:sp>
        <p:nvSpPr>
          <p:cNvPr id="8" name="Shape 6"/>
          <p:cNvSpPr/>
          <p:nvPr/>
        </p:nvSpPr>
        <p:spPr>
          <a:xfrm>
            <a:off x="8229600" y="914400"/>
            <a:ext cx="3566160" cy="365760"/>
          </a:xfrm>
          <a:prstGeom prst="rect">
            <a:avLst/>
          </a:prstGeom>
          <a:solidFill>
            <a:srgbClr val="7B2FBE"/>
          </a:solidFill>
          <a:ln/>
          <a:effectLst>
            <a:outerShdw blurRad="101600" dist="38100" dir="2700000" algn="bl" rotWithShape="0">
              <a:srgbClr val="000000">
                <a:alpha val="40000"/>
              </a:srgbClr>
            </a:outerShdw>
          </a:effectLst>
        </p:spPr>
      </p:sp>
      <p:sp>
        <p:nvSpPr>
          <p:cNvPr id="9" name="Text 7"/>
          <p:cNvSpPr/>
          <p:nvPr/>
        </p:nvSpPr>
        <p:spPr>
          <a:xfrm>
            <a:off x="8229600" y="914400"/>
            <a:ext cx="3566160" cy="365760"/>
          </a:xfrm>
          <a:prstGeom prst="rect">
            <a:avLst/>
          </a:prstGeom>
          <a:noFill/>
          <a:ln/>
        </p:spPr>
        <p:txBody>
          <a:bodyPr wrap="square" rtlCol="0" anchor="ctr"/>
          <a:lstStyle/>
          <a:p>
            <a:pPr marL="0" indent="0" algn="ctr">
              <a:buNone/>
            </a:pPr>
            <a:r>
              <a:rPr lang="en-US" sz="1100" b="1" dirty="0">
                <a:solidFill>
                  <a:srgbClr val="061008"/>
                </a:solidFill>
                <a:latin typeface="Trebuchet MS" pitchFamily="34" charset="0"/>
                <a:ea typeface="Trebuchet MS" pitchFamily="34" charset="-122"/>
                <a:cs typeface="Trebuchet MS" pitchFamily="34" charset="-120"/>
              </a:rPr>
              <a:t>EXTERNAL SERVICES</a:t>
            </a:r>
            <a:endParaRPr lang="en-US" sz="1100" dirty="0"/>
          </a:p>
        </p:txBody>
      </p:sp>
      <p:sp>
        <p:nvSpPr>
          <p:cNvPr id="10" name="Shape 8"/>
          <p:cNvSpPr/>
          <p:nvPr/>
        </p:nvSpPr>
        <p:spPr>
          <a:xfrm>
            <a:off x="365760" y="1417320"/>
            <a:ext cx="3566160" cy="457200"/>
          </a:xfrm>
          <a:prstGeom prst="rect">
            <a:avLst/>
          </a:prstGeom>
          <a:solidFill>
            <a:srgbClr val="102030"/>
          </a:solidFill>
          <a:ln w="12700">
            <a:solidFill>
              <a:srgbClr val="00B4D8"/>
            </a:solidFill>
            <a:prstDash val="solid"/>
          </a:ln>
          <a:effectLst>
            <a:outerShdw blurRad="101600" dist="38100" dir="2700000" algn="bl" rotWithShape="0">
              <a:srgbClr val="000000">
                <a:alpha val="40000"/>
              </a:srgbClr>
            </a:outerShdw>
          </a:effectLst>
        </p:spPr>
      </p:sp>
      <p:sp>
        <p:nvSpPr>
          <p:cNvPr id="11" name="Text 9"/>
          <p:cNvSpPr/>
          <p:nvPr/>
        </p:nvSpPr>
        <p:spPr>
          <a:xfrm>
            <a:off x="365760" y="1417320"/>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App.jsx (Router)</a:t>
            </a:r>
            <a:endParaRPr lang="en-US" sz="900" dirty="0"/>
          </a:p>
        </p:txBody>
      </p:sp>
      <p:sp>
        <p:nvSpPr>
          <p:cNvPr id="12" name="Shape 10"/>
          <p:cNvSpPr/>
          <p:nvPr/>
        </p:nvSpPr>
        <p:spPr>
          <a:xfrm>
            <a:off x="365760" y="1984248"/>
            <a:ext cx="3566160" cy="457200"/>
          </a:xfrm>
          <a:prstGeom prst="rect">
            <a:avLst/>
          </a:prstGeom>
          <a:solidFill>
            <a:srgbClr val="102030"/>
          </a:solidFill>
          <a:ln w="12700">
            <a:solidFill>
              <a:srgbClr val="00B4D8"/>
            </a:solidFill>
            <a:prstDash val="solid"/>
          </a:ln>
          <a:effectLst>
            <a:outerShdw blurRad="101600" dist="38100" dir="2700000" algn="bl" rotWithShape="0">
              <a:srgbClr val="000000">
                <a:alpha val="40000"/>
              </a:srgbClr>
            </a:outerShdw>
          </a:effectLst>
        </p:spPr>
      </p:sp>
      <p:sp>
        <p:nvSpPr>
          <p:cNvPr id="13" name="Text 11"/>
          <p:cNvSpPr/>
          <p:nvPr/>
        </p:nvSpPr>
        <p:spPr>
          <a:xfrm>
            <a:off x="365760" y="1984248"/>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CommandCenter.jsx</a:t>
            </a:r>
            <a:endParaRPr lang="en-US" sz="900" dirty="0"/>
          </a:p>
        </p:txBody>
      </p:sp>
      <p:sp>
        <p:nvSpPr>
          <p:cNvPr id="14" name="Shape 12"/>
          <p:cNvSpPr/>
          <p:nvPr/>
        </p:nvSpPr>
        <p:spPr>
          <a:xfrm>
            <a:off x="365760" y="2551176"/>
            <a:ext cx="3566160" cy="457200"/>
          </a:xfrm>
          <a:prstGeom prst="rect">
            <a:avLst/>
          </a:prstGeom>
          <a:solidFill>
            <a:srgbClr val="102030"/>
          </a:solidFill>
          <a:ln w="12700">
            <a:solidFill>
              <a:srgbClr val="00B4D8"/>
            </a:solidFill>
            <a:prstDash val="solid"/>
          </a:ln>
          <a:effectLst>
            <a:outerShdw blurRad="101600" dist="38100" dir="2700000" algn="bl" rotWithShape="0">
              <a:srgbClr val="000000">
                <a:alpha val="40000"/>
              </a:srgbClr>
            </a:outerShdw>
          </a:effectLst>
        </p:spPr>
      </p:sp>
      <p:sp>
        <p:nvSpPr>
          <p:cNvPr id="15" name="Text 13"/>
          <p:cNvSpPr/>
          <p:nvPr/>
        </p:nvSpPr>
        <p:spPr>
          <a:xfrm>
            <a:off x="365760" y="2551176"/>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DashboardContent.jsx</a:t>
            </a:r>
            <a:endParaRPr lang="en-US" sz="900" dirty="0"/>
          </a:p>
        </p:txBody>
      </p:sp>
      <p:sp>
        <p:nvSpPr>
          <p:cNvPr id="16" name="Shape 14"/>
          <p:cNvSpPr/>
          <p:nvPr/>
        </p:nvSpPr>
        <p:spPr>
          <a:xfrm>
            <a:off x="365760" y="3118104"/>
            <a:ext cx="3566160" cy="457200"/>
          </a:xfrm>
          <a:prstGeom prst="rect">
            <a:avLst/>
          </a:prstGeom>
          <a:solidFill>
            <a:srgbClr val="102030"/>
          </a:solidFill>
          <a:ln w="12700">
            <a:solidFill>
              <a:srgbClr val="00B4D8"/>
            </a:solidFill>
            <a:prstDash val="solid"/>
          </a:ln>
          <a:effectLst>
            <a:outerShdw blurRad="101600" dist="38100" dir="2700000" algn="bl" rotWithShape="0">
              <a:srgbClr val="000000">
                <a:alpha val="40000"/>
              </a:srgbClr>
            </a:outerShdw>
          </a:effectLst>
        </p:spPr>
      </p:sp>
      <p:sp>
        <p:nvSpPr>
          <p:cNvPr id="17" name="Text 15"/>
          <p:cNvSpPr/>
          <p:nvPr/>
        </p:nvSpPr>
        <p:spPr>
          <a:xfrm>
            <a:off x="365760" y="3118104"/>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WhatIfSimulator.jsx</a:t>
            </a:r>
            <a:endParaRPr lang="en-US" sz="900" dirty="0"/>
          </a:p>
        </p:txBody>
      </p:sp>
      <p:sp>
        <p:nvSpPr>
          <p:cNvPr id="18" name="Shape 16"/>
          <p:cNvSpPr/>
          <p:nvPr/>
        </p:nvSpPr>
        <p:spPr>
          <a:xfrm>
            <a:off x="365760" y="3685032"/>
            <a:ext cx="3566160" cy="457200"/>
          </a:xfrm>
          <a:prstGeom prst="rect">
            <a:avLst/>
          </a:prstGeom>
          <a:solidFill>
            <a:srgbClr val="102030"/>
          </a:solidFill>
          <a:ln w="12700">
            <a:solidFill>
              <a:srgbClr val="00B4D8"/>
            </a:solidFill>
            <a:prstDash val="solid"/>
          </a:ln>
          <a:effectLst>
            <a:outerShdw blurRad="101600" dist="38100" dir="2700000" algn="bl" rotWithShape="0">
              <a:srgbClr val="000000">
                <a:alpha val="40000"/>
              </a:srgbClr>
            </a:outerShdw>
          </a:effectLst>
        </p:spPr>
      </p:sp>
      <p:sp>
        <p:nvSpPr>
          <p:cNvPr id="19" name="Text 17"/>
          <p:cNvSpPr/>
          <p:nvPr/>
        </p:nvSpPr>
        <p:spPr>
          <a:xfrm>
            <a:off x="365760" y="3685032"/>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GeospatialAnalysis.jsx</a:t>
            </a:r>
            <a:endParaRPr lang="en-US" sz="900" dirty="0"/>
          </a:p>
        </p:txBody>
      </p:sp>
      <p:sp>
        <p:nvSpPr>
          <p:cNvPr id="20" name="Shape 18"/>
          <p:cNvSpPr/>
          <p:nvPr/>
        </p:nvSpPr>
        <p:spPr>
          <a:xfrm>
            <a:off x="365760" y="4251960"/>
            <a:ext cx="3566160" cy="457200"/>
          </a:xfrm>
          <a:prstGeom prst="rect">
            <a:avLst/>
          </a:prstGeom>
          <a:solidFill>
            <a:srgbClr val="102030"/>
          </a:solidFill>
          <a:ln w="12700">
            <a:solidFill>
              <a:srgbClr val="00B4D8"/>
            </a:solidFill>
            <a:prstDash val="solid"/>
          </a:ln>
          <a:effectLst>
            <a:outerShdw blurRad="101600" dist="38100" dir="2700000" algn="bl" rotWithShape="0">
              <a:srgbClr val="000000">
                <a:alpha val="40000"/>
              </a:srgbClr>
            </a:outerShdw>
          </a:effectLst>
        </p:spPr>
      </p:sp>
      <p:sp>
        <p:nvSpPr>
          <p:cNvPr id="21" name="Text 19"/>
          <p:cNvSpPr/>
          <p:nvPr/>
        </p:nvSpPr>
        <p:spPr>
          <a:xfrm>
            <a:off x="365760" y="4251960"/>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Login.jsx (Aadhaar)</a:t>
            </a:r>
            <a:endParaRPr lang="en-US" sz="900" dirty="0"/>
          </a:p>
        </p:txBody>
      </p:sp>
      <p:sp>
        <p:nvSpPr>
          <p:cNvPr id="22" name="Shape 20"/>
          <p:cNvSpPr/>
          <p:nvPr/>
        </p:nvSpPr>
        <p:spPr>
          <a:xfrm>
            <a:off x="365760" y="4818888"/>
            <a:ext cx="3566160" cy="457200"/>
          </a:xfrm>
          <a:prstGeom prst="rect">
            <a:avLst/>
          </a:prstGeom>
          <a:solidFill>
            <a:srgbClr val="102030"/>
          </a:solidFill>
          <a:ln w="12700">
            <a:solidFill>
              <a:srgbClr val="00B4D8"/>
            </a:solidFill>
            <a:prstDash val="solid"/>
          </a:ln>
          <a:effectLst>
            <a:outerShdw blurRad="101600" dist="38100" dir="2700000" algn="bl" rotWithShape="0">
              <a:srgbClr val="000000">
                <a:alpha val="40000"/>
              </a:srgbClr>
            </a:outerShdw>
          </a:effectLst>
        </p:spPr>
      </p:sp>
      <p:sp>
        <p:nvSpPr>
          <p:cNvPr id="23" name="Text 21"/>
          <p:cNvSpPr/>
          <p:nvPr/>
        </p:nvSpPr>
        <p:spPr>
          <a:xfrm>
            <a:off x="365760" y="4818888"/>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AgriConsultant.jsx</a:t>
            </a:r>
            <a:endParaRPr lang="en-US" sz="900" dirty="0"/>
          </a:p>
        </p:txBody>
      </p:sp>
      <p:sp>
        <p:nvSpPr>
          <p:cNvPr id="24" name="Shape 22"/>
          <p:cNvSpPr/>
          <p:nvPr/>
        </p:nvSpPr>
        <p:spPr>
          <a:xfrm>
            <a:off x="365760" y="5385816"/>
            <a:ext cx="3566160" cy="457200"/>
          </a:xfrm>
          <a:prstGeom prst="rect">
            <a:avLst/>
          </a:prstGeom>
          <a:solidFill>
            <a:srgbClr val="102030"/>
          </a:solidFill>
          <a:ln w="12700">
            <a:solidFill>
              <a:srgbClr val="00B4D8"/>
            </a:solidFill>
            <a:prstDash val="solid"/>
          </a:ln>
          <a:effectLst>
            <a:outerShdw blurRad="101600" dist="38100" dir="2700000" algn="bl" rotWithShape="0">
              <a:srgbClr val="000000">
                <a:alpha val="40000"/>
              </a:srgbClr>
            </a:outerShdw>
          </a:effectLst>
        </p:spPr>
      </p:sp>
      <p:sp>
        <p:nvSpPr>
          <p:cNvPr id="25" name="Text 23"/>
          <p:cNvSpPr/>
          <p:nvPr/>
        </p:nvSpPr>
        <p:spPr>
          <a:xfrm>
            <a:off x="365760" y="5385816"/>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AdvancedAnalytics.jsx</a:t>
            </a:r>
            <a:endParaRPr lang="en-US" sz="900" dirty="0"/>
          </a:p>
        </p:txBody>
      </p:sp>
      <p:sp>
        <p:nvSpPr>
          <p:cNvPr id="26" name="Shape 24"/>
          <p:cNvSpPr/>
          <p:nvPr/>
        </p:nvSpPr>
        <p:spPr>
          <a:xfrm>
            <a:off x="4297680" y="1417320"/>
            <a:ext cx="3566160" cy="457200"/>
          </a:xfrm>
          <a:prstGeom prst="rect">
            <a:avLst/>
          </a:prstGeom>
          <a:solidFill>
            <a:srgbClr val="201A00"/>
          </a:solidFill>
          <a:ln w="12700">
            <a:solidFill>
              <a:srgbClr val="F0C040"/>
            </a:solidFill>
            <a:prstDash val="solid"/>
          </a:ln>
          <a:effectLst>
            <a:outerShdw blurRad="101600" dist="38100" dir="2700000" algn="bl" rotWithShape="0">
              <a:srgbClr val="000000">
                <a:alpha val="40000"/>
              </a:srgbClr>
            </a:outerShdw>
          </a:effectLst>
        </p:spPr>
      </p:sp>
      <p:sp>
        <p:nvSpPr>
          <p:cNvPr id="27" name="Text 25"/>
          <p:cNvSpPr/>
          <p:nvPr/>
        </p:nvSpPr>
        <p:spPr>
          <a:xfrm>
            <a:off x="4297680" y="1417320"/>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StateBrain.js</a:t>
            </a:r>
            <a:endParaRPr lang="en-US" sz="900" dirty="0"/>
          </a:p>
        </p:txBody>
      </p:sp>
      <p:sp>
        <p:nvSpPr>
          <p:cNvPr id="28" name="Shape 26"/>
          <p:cNvSpPr/>
          <p:nvPr/>
        </p:nvSpPr>
        <p:spPr>
          <a:xfrm>
            <a:off x="4297680" y="1984248"/>
            <a:ext cx="3566160" cy="457200"/>
          </a:xfrm>
          <a:prstGeom prst="rect">
            <a:avLst/>
          </a:prstGeom>
          <a:solidFill>
            <a:srgbClr val="201A00"/>
          </a:solidFill>
          <a:ln w="12700">
            <a:solidFill>
              <a:srgbClr val="F0C040"/>
            </a:solidFill>
            <a:prstDash val="solid"/>
          </a:ln>
          <a:effectLst>
            <a:outerShdw blurRad="101600" dist="38100" dir="2700000" algn="bl" rotWithShape="0">
              <a:srgbClr val="000000">
                <a:alpha val="40000"/>
              </a:srgbClr>
            </a:outerShdw>
          </a:effectLst>
        </p:spPr>
      </p:sp>
      <p:sp>
        <p:nvSpPr>
          <p:cNvPr id="29" name="Text 27"/>
          <p:cNvSpPr/>
          <p:nvPr/>
        </p:nvSpPr>
        <p:spPr>
          <a:xfrm>
            <a:off x="4297680" y="1984248"/>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GeminiService.js</a:t>
            </a:r>
            <a:endParaRPr lang="en-US" sz="900" dirty="0"/>
          </a:p>
        </p:txBody>
      </p:sp>
      <p:sp>
        <p:nvSpPr>
          <p:cNvPr id="30" name="Shape 28"/>
          <p:cNvSpPr/>
          <p:nvPr/>
        </p:nvSpPr>
        <p:spPr>
          <a:xfrm>
            <a:off x="4297680" y="2551176"/>
            <a:ext cx="3566160" cy="457200"/>
          </a:xfrm>
          <a:prstGeom prst="rect">
            <a:avLst/>
          </a:prstGeom>
          <a:solidFill>
            <a:srgbClr val="201A00"/>
          </a:solidFill>
          <a:ln w="12700">
            <a:solidFill>
              <a:srgbClr val="F0C040"/>
            </a:solidFill>
            <a:prstDash val="solid"/>
          </a:ln>
          <a:effectLst>
            <a:outerShdw blurRad="101600" dist="38100" dir="2700000" algn="bl" rotWithShape="0">
              <a:srgbClr val="000000">
                <a:alpha val="40000"/>
              </a:srgbClr>
            </a:outerShdw>
          </a:effectLst>
        </p:spPr>
      </p:sp>
      <p:sp>
        <p:nvSpPr>
          <p:cNvPr id="31" name="Text 29"/>
          <p:cNvSpPr/>
          <p:nvPr/>
        </p:nvSpPr>
        <p:spPr>
          <a:xfrm>
            <a:off x="4297680" y="2551176"/>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simulationEngine.js</a:t>
            </a:r>
            <a:endParaRPr lang="en-US" sz="900" dirty="0"/>
          </a:p>
        </p:txBody>
      </p:sp>
      <p:sp>
        <p:nvSpPr>
          <p:cNvPr id="32" name="Shape 30"/>
          <p:cNvSpPr/>
          <p:nvPr/>
        </p:nvSpPr>
        <p:spPr>
          <a:xfrm>
            <a:off x="4297680" y="3118104"/>
            <a:ext cx="3566160" cy="457200"/>
          </a:xfrm>
          <a:prstGeom prst="rect">
            <a:avLst/>
          </a:prstGeom>
          <a:solidFill>
            <a:srgbClr val="201A00"/>
          </a:solidFill>
          <a:ln w="12700">
            <a:solidFill>
              <a:srgbClr val="F0C040"/>
            </a:solidFill>
            <a:prstDash val="solid"/>
          </a:ln>
          <a:effectLst>
            <a:outerShdw blurRad="101600" dist="38100" dir="2700000" algn="bl" rotWithShape="0">
              <a:srgbClr val="000000">
                <a:alpha val="40000"/>
              </a:srgbClr>
            </a:outerShdw>
          </a:effectLst>
        </p:spPr>
      </p:sp>
      <p:sp>
        <p:nvSpPr>
          <p:cNvPr id="33" name="Text 31"/>
          <p:cNvSpPr/>
          <p:nvPr/>
        </p:nvSpPr>
        <p:spPr>
          <a:xfrm>
            <a:off x="4297680" y="3118104"/>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dataService.js</a:t>
            </a:r>
            <a:endParaRPr lang="en-US" sz="900" dirty="0"/>
          </a:p>
        </p:txBody>
      </p:sp>
      <p:sp>
        <p:nvSpPr>
          <p:cNvPr id="34" name="Shape 32"/>
          <p:cNvSpPr/>
          <p:nvPr/>
        </p:nvSpPr>
        <p:spPr>
          <a:xfrm>
            <a:off x="4297680" y="3685032"/>
            <a:ext cx="3566160" cy="457200"/>
          </a:xfrm>
          <a:prstGeom prst="rect">
            <a:avLst/>
          </a:prstGeom>
          <a:solidFill>
            <a:srgbClr val="201A00"/>
          </a:solidFill>
          <a:ln w="12700">
            <a:solidFill>
              <a:srgbClr val="F0C040"/>
            </a:solidFill>
            <a:prstDash val="solid"/>
          </a:ln>
          <a:effectLst>
            <a:outerShdw blurRad="101600" dist="38100" dir="2700000" algn="bl" rotWithShape="0">
              <a:srgbClr val="000000">
                <a:alpha val="40000"/>
              </a:srgbClr>
            </a:outerShdw>
          </a:effectLst>
        </p:spPr>
      </p:sp>
      <p:sp>
        <p:nvSpPr>
          <p:cNvPr id="35" name="Text 33"/>
          <p:cNvSpPr/>
          <p:nvPr/>
        </p:nvSpPr>
        <p:spPr>
          <a:xfrm>
            <a:off x="4297680" y="3685032"/>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Express /api/auth</a:t>
            </a:r>
            <a:endParaRPr lang="en-US" sz="900" dirty="0"/>
          </a:p>
        </p:txBody>
      </p:sp>
      <p:sp>
        <p:nvSpPr>
          <p:cNvPr id="36" name="Shape 34"/>
          <p:cNvSpPr/>
          <p:nvPr/>
        </p:nvSpPr>
        <p:spPr>
          <a:xfrm>
            <a:off x="4297680" y="4251960"/>
            <a:ext cx="3566160" cy="457200"/>
          </a:xfrm>
          <a:prstGeom prst="rect">
            <a:avLst/>
          </a:prstGeom>
          <a:solidFill>
            <a:srgbClr val="201A00"/>
          </a:solidFill>
          <a:ln w="12700">
            <a:solidFill>
              <a:srgbClr val="F0C040"/>
            </a:solidFill>
            <a:prstDash val="solid"/>
          </a:ln>
          <a:effectLst>
            <a:outerShdw blurRad="101600" dist="38100" dir="2700000" algn="bl" rotWithShape="0">
              <a:srgbClr val="000000">
                <a:alpha val="40000"/>
              </a:srgbClr>
            </a:outerShdw>
          </a:effectLst>
        </p:spPr>
      </p:sp>
      <p:sp>
        <p:nvSpPr>
          <p:cNvPr id="37" name="Text 35"/>
          <p:cNvSpPr/>
          <p:nvPr/>
        </p:nvSpPr>
        <p:spPr>
          <a:xfrm>
            <a:off x="4297680" y="4251960"/>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Express /api/analyze-risk</a:t>
            </a:r>
            <a:endParaRPr lang="en-US" sz="900" dirty="0"/>
          </a:p>
        </p:txBody>
      </p:sp>
      <p:sp>
        <p:nvSpPr>
          <p:cNvPr id="38" name="Shape 36"/>
          <p:cNvSpPr/>
          <p:nvPr/>
        </p:nvSpPr>
        <p:spPr>
          <a:xfrm>
            <a:off x="4297680" y="4818888"/>
            <a:ext cx="3566160" cy="457200"/>
          </a:xfrm>
          <a:prstGeom prst="rect">
            <a:avLst/>
          </a:prstGeom>
          <a:solidFill>
            <a:srgbClr val="201A00"/>
          </a:solidFill>
          <a:ln w="12700">
            <a:solidFill>
              <a:srgbClr val="F0C040"/>
            </a:solidFill>
            <a:prstDash val="solid"/>
          </a:ln>
          <a:effectLst>
            <a:outerShdw blurRad="101600" dist="38100" dir="2700000" algn="bl" rotWithShape="0">
              <a:srgbClr val="000000">
                <a:alpha val="40000"/>
              </a:srgbClr>
            </a:outerShdw>
          </a:effectLst>
        </p:spPr>
      </p:sp>
      <p:sp>
        <p:nvSpPr>
          <p:cNvPr id="39" name="Text 37"/>
          <p:cNvSpPr/>
          <p:nvPr/>
        </p:nvSpPr>
        <p:spPr>
          <a:xfrm>
            <a:off x="4297680" y="4818888"/>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FastAPI /api/vitals</a:t>
            </a:r>
            <a:endParaRPr lang="en-US" sz="900" dirty="0"/>
          </a:p>
        </p:txBody>
      </p:sp>
      <p:sp>
        <p:nvSpPr>
          <p:cNvPr id="40" name="Shape 38"/>
          <p:cNvSpPr/>
          <p:nvPr/>
        </p:nvSpPr>
        <p:spPr>
          <a:xfrm>
            <a:off x="8229600" y="1417320"/>
            <a:ext cx="3566160" cy="457200"/>
          </a:xfrm>
          <a:prstGeom prst="rect">
            <a:avLst/>
          </a:prstGeom>
          <a:solidFill>
            <a:srgbClr val="1A0030"/>
          </a:solidFill>
          <a:ln w="12700">
            <a:solidFill>
              <a:srgbClr val="7B2FBE"/>
            </a:solidFill>
            <a:prstDash val="solid"/>
          </a:ln>
          <a:effectLst>
            <a:outerShdw blurRad="101600" dist="38100" dir="2700000" algn="bl" rotWithShape="0">
              <a:srgbClr val="000000">
                <a:alpha val="40000"/>
              </a:srgbClr>
            </a:outerShdw>
          </a:effectLst>
        </p:spPr>
      </p:sp>
      <p:sp>
        <p:nvSpPr>
          <p:cNvPr id="41" name="Text 39"/>
          <p:cNvSpPr/>
          <p:nvPr/>
        </p:nvSpPr>
        <p:spPr>
          <a:xfrm>
            <a:off x="8229600" y="1417320"/>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Google Gemini Pro API</a:t>
            </a:r>
            <a:endParaRPr lang="en-US" sz="900" dirty="0"/>
          </a:p>
        </p:txBody>
      </p:sp>
      <p:sp>
        <p:nvSpPr>
          <p:cNvPr id="42" name="Shape 40"/>
          <p:cNvSpPr/>
          <p:nvPr/>
        </p:nvSpPr>
        <p:spPr>
          <a:xfrm>
            <a:off x="8229600" y="1984248"/>
            <a:ext cx="3566160" cy="457200"/>
          </a:xfrm>
          <a:prstGeom prst="rect">
            <a:avLst/>
          </a:prstGeom>
          <a:solidFill>
            <a:srgbClr val="1A0030"/>
          </a:solidFill>
          <a:ln w="12700">
            <a:solidFill>
              <a:srgbClr val="7B2FBE"/>
            </a:solidFill>
            <a:prstDash val="solid"/>
          </a:ln>
          <a:effectLst>
            <a:outerShdw blurRad="101600" dist="38100" dir="2700000" algn="bl" rotWithShape="0">
              <a:srgbClr val="000000">
                <a:alpha val="40000"/>
              </a:srgbClr>
            </a:outerShdw>
          </a:effectLst>
        </p:spPr>
      </p:sp>
      <p:sp>
        <p:nvSpPr>
          <p:cNvPr id="43" name="Text 41"/>
          <p:cNvSpPr/>
          <p:nvPr/>
        </p:nvSpPr>
        <p:spPr>
          <a:xfrm>
            <a:off x="8229600" y="1984248"/>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TN AgriStack (Mock)</a:t>
            </a:r>
            <a:endParaRPr lang="en-US" sz="900" dirty="0"/>
          </a:p>
        </p:txBody>
      </p:sp>
      <p:sp>
        <p:nvSpPr>
          <p:cNvPr id="44" name="Shape 42"/>
          <p:cNvSpPr/>
          <p:nvPr/>
        </p:nvSpPr>
        <p:spPr>
          <a:xfrm>
            <a:off x="8229600" y="2551176"/>
            <a:ext cx="3566160" cy="457200"/>
          </a:xfrm>
          <a:prstGeom prst="rect">
            <a:avLst/>
          </a:prstGeom>
          <a:solidFill>
            <a:srgbClr val="1A0030"/>
          </a:solidFill>
          <a:ln w="12700">
            <a:solidFill>
              <a:srgbClr val="7B2FBE"/>
            </a:solidFill>
            <a:prstDash val="solid"/>
          </a:ln>
          <a:effectLst>
            <a:outerShdw blurRad="101600" dist="38100" dir="2700000" algn="bl" rotWithShape="0">
              <a:srgbClr val="000000">
                <a:alpha val="40000"/>
              </a:srgbClr>
            </a:outerShdw>
          </a:effectLst>
        </p:spPr>
      </p:sp>
      <p:sp>
        <p:nvSpPr>
          <p:cNvPr id="45" name="Text 43"/>
          <p:cNvSpPr/>
          <p:nvPr/>
        </p:nvSpPr>
        <p:spPr>
          <a:xfrm>
            <a:off x="8229600" y="2551176"/>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Leaflet / OpenStreetMap</a:t>
            </a:r>
            <a:endParaRPr lang="en-US" sz="900" dirty="0"/>
          </a:p>
        </p:txBody>
      </p:sp>
      <p:sp>
        <p:nvSpPr>
          <p:cNvPr id="46" name="Shape 44"/>
          <p:cNvSpPr/>
          <p:nvPr/>
        </p:nvSpPr>
        <p:spPr>
          <a:xfrm>
            <a:off x="8229600" y="3118104"/>
            <a:ext cx="3566160" cy="457200"/>
          </a:xfrm>
          <a:prstGeom prst="rect">
            <a:avLst/>
          </a:prstGeom>
          <a:solidFill>
            <a:srgbClr val="1A0030"/>
          </a:solidFill>
          <a:ln w="12700">
            <a:solidFill>
              <a:srgbClr val="7B2FBE"/>
            </a:solidFill>
            <a:prstDash val="solid"/>
          </a:ln>
          <a:effectLst>
            <a:outerShdw blurRad="101600" dist="38100" dir="2700000" algn="bl" rotWithShape="0">
              <a:srgbClr val="000000">
                <a:alpha val="40000"/>
              </a:srgbClr>
            </a:outerShdw>
          </a:effectLst>
        </p:spPr>
      </p:sp>
      <p:sp>
        <p:nvSpPr>
          <p:cNvPr id="47" name="Text 45"/>
          <p:cNvSpPr/>
          <p:nvPr/>
        </p:nvSpPr>
        <p:spPr>
          <a:xfrm>
            <a:off x="8229600" y="3118104"/>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Recharts Visualization</a:t>
            </a:r>
            <a:endParaRPr lang="en-US" sz="900" dirty="0"/>
          </a:p>
        </p:txBody>
      </p:sp>
      <p:sp>
        <p:nvSpPr>
          <p:cNvPr id="48" name="Shape 46"/>
          <p:cNvSpPr/>
          <p:nvPr/>
        </p:nvSpPr>
        <p:spPr>
          <a:xfrm>
            <a:off x="8229600" y="3685032"/>
            <a:ext cx="3566160" cy="457200"/>
          </a:xfrm>
          <a:prstGeom prst="rect">
            <a:avLst/>
          </a:prstGeom>
          <a:solidFill>
            <a:srgbClr val="1A0030"/>
          </a:solidFill>
          <a:ln w="12700">
            <a:solidFill>
              <a:srgbClr val="7B2FBE"/>
            </a:solidFill>
            <a:prstDash val="solid"/>
          </a:ln>
          <a:effectLst>
            <a:outerShdw blurRad="101600" dist="38100" dir="2700000" algn="bl" rotWithShape="0">
              <a:srgbClr val="000000">
                <a:alpha val="40000"/>
              </a:srgbClr>
            </a:outerShdw>
          </a:effectLst>
        </p:spPr>
      </p:sp>
      <p:sp>
        <p:nvSpPr>
          <p:cNvPr id="49" name="Text 47"/>
          <p:cNvSpPr/>
          <p:nvPr/>
        </p:nvSpPr>
        <p:spPr>
          <a:xfrm>
            <a:off x="8229600" y="3685032"/>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MongoDB (User data)</a:t>
            </a:r>
            <a:endParaRPr lang="en-US" sz="900" dirty="0"/>
          </a:p>
        </p:txBody>
      </p:sp>
      <p:sp>
        <p:nvSpPr>
          <p:cNvPr id="50" name="Shape 48"/>
          <p:cNvSpPr/>
          <p:nvPr/>
        </p:nvSpPr>
        <p:spPr>
          <a:xfrm>
            <a:off x="8229600" y="4251960"/>
            <a:ext cx="3566160" cy="457200"/>
          </a:xfrm>
          <a:prstGeom prst="rect">
            <a:avLst/>
          </a:prstGeom>
          <a:solidFill>
            <a:srgbClr val="1A0030"/>
          </a:solidFill>
          <a:ln w="12700">
            <a:solidFill>
              <a:srgbClr val="7B2FBE"/>
            </a:solidFill>
            <a:prstDash val="solid"/>
          </a:ln>
          <a:effectLst>
            <a:outerShdw blurRad="101600" dist="38100" dir="2700000" algn="bl" rotWithShape="0">
              <a:srgbClr val="000000">
                <a:alpha val="40000"/>
              </a:srgbClr>
            </a:outerShdw>
          </a:effectLst>
        </p:spPr>
      </p:sp>
      <p:sp>
        <p:nvSpPr>
          <p:cNvPr id="51" name="Text 49"/>
          <p:cNvSpPr/>
          <p:nvPr/>
        </p:nvSpPr>
        <p:spPr>
          <a:xfrm>
            <a:off x="8229600" y="4251960"/>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Vercel (Frontend CDN)</a:t>
            </a:r>
            <a:endParaRPr lang="en-US" sz="900" dirty="0"/>
          </a:p>
        </p:txBody>
      </p:sp>
      <p:sp>
        <p:nvSpPr>
          <p:cNvPr id="52" name="Shape 50"/>
          <p:cNvSpPr/>
          <p:nvPr/>
        </p:nvSpPr>
        <p:spPr>
          <a:xfrm>
            <a:off x="8229600" y="4818888"/>
            <a:ext cx="3566160" cy="457200"/>
          </a:xfrm>
          <a:prstGeom prst="rect">
            <a:avLst/>
          </a:prstGeom>
          <a:solidFill>
            <a:srgbClr val="1A0030"/>
          </a:solidFill>
          <a:ln w="12700">
            <a:solidFill>
              <a:srgbClr val="7B2FBE"/>
            </a:solidFill>
            <a:prstDash val="solid"/>
          </a:ln>
          <a:effectLst>
            <a:outerShdw blurRad="101600" dist="38100" dir="2700000" algn="bl" rotWithShape="0">
              <a:srgbClr val="000000">
                <a:alpha val="40000"/>
              </a:srgbClr>
            </a:outerShdw>
          </a:effectLst>
        </p:spPr>
      </p:sp>
      <p:sp>
        <p:nvSpPr>
          <p:cNvPr id="53" name="Text 51"/>
          <p:cNvSpPr/>
          <p:nvPr/>
        </p:nvSpPr>
        <p:spPr>
          <a:xfrm>
            <a:off x="8229600" y="4818888"/>
            <a:ext cx="3566160" cy="4572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Render (FastAPI)</a:t>
            </a:r>
            <a:endParaRPr lang="en-US" sz="900" dirty="0"/>
          </a:p>
        </p:txBody>
      </p:sp>
      <p:sp>
        <p:nvSpPr>
          <p:cNvPr id="54" name="Shape 52"/>
          <p:cNvSpPr/>
          <p:nvPr/>
        </p:nvSpPr>
        <p:spPr>
          <a:xfrm>
            <a:off x="3931920" y="2286000"/>
            <a:ext cx="365760" cy="45720"/>
          </a:xfrm>
          <a:prstGeom prst="rect">
            <a:avLst/>
          </a:prstGeom>
          <a:solidFill>
            <a:srgbClr val="2ECC71"/>
          </a:solidFill>
          <a:ln/>
        </p:spPr>
      </p:sp>
      <p:sp>
        <p:nvSpPr>
          <p:cNvPr id="55" name="Shape 53"/>
          <p:cNvSpPr/>
          <p:nvPr/>
        </p:nvSpPr>
        <p:spPr>
          <a:xfrm>
            <a:off x="7863840" y="2286000"/>
            <a:ext cx="365760" cy="45720"/>
          </a:xfrm>
          <a:prstGeom prst="rect">
            <a:avLst/>
          </a:prstGeom>
          <a:solidFill>
            <a:srgbClr val="2ECC71"/>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A0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0C040"/>
          </a:solidFill>
          <a:ln/>
        </p:spPr>
      </p:sp>
      <p:sp>
        <p:nvSpPr>
          <p:cNvPr id="3" name="Text 1"/>
          <p:cNvSpPr/>
          <p:nvPr/>
        </p:nvSpPr>
        <p:spPr>
          <a:xfrm>
            <a:off x="457200" y="182880"/>
            <a:ext cx="7315200" cy="548640"/>
          </a:xfrm>
          <a:prstGeom prst="rect">
            <a:avLst/>
          </a:prstGeom>
          <a:noFill/>
          <a:ln/>
          <a:effectLst>
            <a:outerShdw blurRad="101600" dist="38100" dir="2700000" algn="bl" rotWithShape="0">
              <a:srgbClr val="000000">
                <a:alpha val="40000"/>
              </a:srgbClr>
            </a:outerShdw>
          </a:effectLst>
        </p:spPr>
        <p:txBody>
          <a:bodyPr wrap="square" rtlCol="0" anchor="ctr"/>
          <a:lstStyle/>
          <a:p>
            <a:pPr marL="0" indent="0">
              <a:buNone/>
            </a:pPr>
            <a:r>
              <a:rPr lang="en-US" sz="3400" b="1" dirty="0">
                <a:solidFill>
                  <a:srgbClr val="F0C040"/>
                </a:solidFill>
                <a:latin typeface="Trebuchet MS" pitchFamily="34" charset="0"/>
                <a:ea typeface="Trebuchet MS" pitchFamily="34" charset="-122"/>
                <a:cs typeface="Trebuchet MS" pitchFamily="34" charset="-120"/>
              </a:rPr>
              <a:t>TECH STACK DEEP DIVE</a:t>
            </a:r>
            <a:endParaRPr lang="en-US" sz="3400" dirty="0"/>
          </a:p>
        </p:txBody>
      </p:sp>
      <p:sp>
        <p:nvSpPr>
          <p:cNvPr id="4" name="Shape 2"/>
          <p:cNvSpPr/>
          <p:nvPr/>
        </p:nvSpPr>
        <p:spPr>
          <a:xfrm>
            <a:off x="274320" y="1005840"/>
            <a:ext cx="5669280" cy="2560320"/>
          </a:xfrm>
          <a:prstGeom prst="rect">
            <a:avLst/>
          </a:prstGeom>
          <a:solidFill>
            <a:srgbClr val="1A3A2A"/>
          </a:solidFill>
          <a:ln/>
          <a:effectLst>
            <a:outerShdw blurRad="101600" dist="38100" dir="2700000" algn="bl" rotWithShape="0">
              <a:srgbClr val="000000">
                <a:alpha val="40000"/>
              </a:srgbClr>
            </a:outerShdw>
          </a:effectLst>
        </p:spPr>
      </p:sp>
      <p:sp>
        <p:nvSpPr>
          <p:cNvPr id="5" name="Shape 3"/>
          <p:cNvSpPr/>
          <p:nvPr/>
        </p:nvSpPr>
        <p:spPr>
          <a:xfrm>
            <a:off x="274320" y="1005840"/>
            <a:ext cx="5669280" cy="411480"/>
          </a:xfrm>
          <a:prstGeom prst="rect">
            <a:avLst/>
          </a:prstGeom>
          <a:solidFill>
            <a:srgbClr val="00B4D8"/>
          </a:solidFill>
          <a:ln/>
        </p:spPr>
      </p:sp>
      <p:sp>
        <p:nvSpPr>
          <p:cNvPr id="6" name="Text 4"/>
          <p:cNvSpPr/>
          <p:nvPr/>
        </p:nvSpPr>
        <p:spPr>
          <a:xfrm>
            <a:off x="274320" y="1005840"/>
            <a:ext cx="5669280" cy="411480"/>
          </a:xfrm>
          <a:prstGeom prst="rect">
            <a:avLst/>
          </a:prstGeom>
          <a:noFill/>
          <a:ln/>
        </p:spPr>
        <p:txBody>
          <a:bodyPr wrap="square" rtlCol="0" anchor="ctr"/>
          <a:lstStyle/>
          <a:p>
            <a:pPr marL="0" indent="0" algn="ctr">
              <a:buNone/>
            </a:pPr>
            <a:r>
              <a:rPr lang="en-US" sz="1400" b="1" dirty="0">
                <a:solidFill>
                  <a:srgbClr val="061008"/>
                </a:solidFill>
                <a:latin typeface="Trebuchet MS" pitchFamily="34" charset="0"/>
                <a:ea typeface="Trebuchet MS" pitchFamily="34" charset="-122"/>
                <a:cs typeface="Trebuchet MS" pitchFamily="34" charset="-120"/>
              </a:rPr>
              <a:t>🖥️ Frontend</a:t>
            </a:r>
            <a:endParaRPr lang="en-US" sz="1400" dirty="0"/>
          </a:p>
        </p:txBody>
      </p:sp>
      <p:sp>
        <p:nvSpPr>
          <p:cNvPr id="7" name="Text 5"/>
          <p:cNvSpPr/>
          <p:nvPr/>
        </p:nvSpPr>
        <p:spPr>
          <a:xfrm>
            <a:off x="411480" y="1463040"/>
            <a:ext cx="5394960" cy="20116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React ^19.2.0  ·  Vite ^7.2.4  ·  React Router DOM ^7.13.0  ·  Framer Motion ^12.33.0  ·  Recharts ^3.7.0  ·  Leaflet ^1.9.4  ·  react-leaflet ^5.0.0  ·  lucide-react ^0.564.0  ·  jsPDF ^4.1.0</a:t>
            </a:r>
            <a:endParaRPr lang="en-US" sz="1000" dirty="0"/>
          </a:p>
        </p:txBody>
      </p:sp>
      <p:sp>
        <p:nvSpPr>
          <p:cNvPr id="8" name="Shape 6"/>
          <p:cNvSpPr/>
          <p:nvPr/>
        </p:nvSpPr>
        <p:spPr>
          <a:xfrm>
            <a:off x="6217920" y="1005840"/>
            <a:ext cx="5669280" cy="2560320"/>
          </a:xfrm>
          <a:prstGeom prst="rect">
            <a:avLst/>
          </a:prstGeom>
          <a:solidFill>
            <a:srgbClr val="1A3A2A"/>
          </a:solidFill>
          <a:ln/>
          <a:effectLst>
            <a:outerShdw blurRad="101600" dist="38100" dir="2700000" algn="bl" rotWithShape="0">
              <a:srgbClr val="000000">
                <a:alpha val="40000"/>
              </a:srgbClr>
            </a:outerShdw>
          </a:effectLst>
        </p:spPr>
      </p:sp>
      <p:sp>
        <p:nvSpPr>
          <p:cNvPr id="9" name="Shape 7"/>
          <p:cNvSpPr/>
          <p:nvPr/>
        </p:nvSpPr>
        <p:spPr>
          <a:xfrm>
            <a:off x="6217920" y="1005840"/>
            <a:ext cx="5669280" cy="411480"/>
          </a:xfrm>
          <a:prstGeom prst="rect">
            <a:avLst/>
          </a:prstGeom>
          <a:solidFill>
            <a:srgbClr val="2ECC71"/>
          </a:solidFill>
          <a:ln/>
        </p:spPr>
      </p:sp>
      <p:sp>
        <p:nvSpPr>
          <p:cNvPr id="10" name="Text 8"/>
          <p:cNvSpPr/>
          <p:nvPr/>
        </p:nvSpPr>
        <p:spPr>
          <a:xfrm>
            <a:off x="6217920" y="1005840"/>
            <a:ext cx="5669280" cy="411480"/>
          </a:xfrm>
          <a:prstGeom prst="rect">
            <a:avLst/>
          </a:prstGeom>
          <a:noFill/>
          <a:ln/>
        </p:spPr>
        <p:txBody>
          <a:bodyPr wrap="square" rtlCol="0" anchor="ctr"/>
          <a:lstStyle/>
          <a:p>
            <a:pPr marL="0" indent="0" algn="ctr">
              <a:buNone/>
            </a:pPr>
            <a:r>
              <a:rPr lang="en-US" sz="1400" b="1" dirty="0">
                <a:solidFill>
                  <a:srgbClr val="061008"/>
                </a:solidFill>
                <a:latin typeface="Trebuchet MS" pitchFamily="34" charset="0"/>
                <a:ea typeface="Trebuchet MS" pitchFamily="34" charset="-122"/>
                <a:cs typeface="Trebuchet MS" pitchFamily="34" charset="-120"/>
              </a:rPr>
              <a:t>🧠 AI / ML</a:t>
            </a:r>
            <a:endParaRPr lang="en-US" sz="1400" dirty="0"/>
          </a:p>
        </p:txBody>
      </p:sp>
      <p:sp>
        <p:nvSpPr>
          <p:cNvPr id="11" name="Text 9"/>
          <p:cNvSpPr/>
          <p:nvPr/>
        </p:nvSpPr>
        <p:spPr>
          <a:xfrm>
            <a:off x="6355080" y="1463040"/>
            <a:ext cx="5394960" cy="20116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Google Gemini Pro API  ·  StateBrain.js Engine  ·  simulationEngine.js  ·  1000-Season Monte Carlo  ·  Market Glut Predictor  ·  Cross-District Analytics  ·  GeminiService.js  ·  AgriStack Integration</a:t>
            </a:r>
            <a:endParaRPr lang="en-US" sz="1000" dirty="0"/>
          </a:p>
        </p:txBody>
      </p:sp>
      <p:sp>
        <p:nvSpPr>
          <p:cNvPr id="12" name="Shape 10"/>
          <p:cNvSpPr/>
          <p:nvPr/>
        </p:nvSpPr>
        <p:spPr>
          <a:xfrm>
            <a:off x="274320" y="3840480"/>
            <a:ext cx="5669280" cy="2560320"/>
          </a:xfrm>
          <a:prstGeom prst="rect">
            <a:avLst/>
          </a:prstGeom>
          <a:solidFill>
            <a:srgbClr val="1A3A2A"/>
          </a:solidFill>
          <a:ln/>
          <a:effectLst>
            <a:outerShdw blurRad="101600" dist="38100" dir="2700000" algn="bl" rotWithShape="0">
              <a:srgbClr val="000000">
                <a:alpha val="40000"/>
              </a:srgbClr>
            </a:outerShdw>
          </a:effectLst>
        </p:spPr>
      </p:sp>
      <p:sp>
        <p:nvSpPr>
          <p:cNvPr id="13" name="Shape 11"/>
          <p:cNvSpPr/>
          <p:nvPr/>
        </p:nvSpPr>
        <p:spPr>
          <a:xfrm>
            <a:off x="274320" y="3840480"/>
            <a:ext cx="5669280" cy="411480"/>
          </a:xfrm>
          <a:prstGeom prst="rect">
            <a:avLst/>
          </a:prstGeom>
          <a:solidFill>
            <a:srgbClr val="FF6B35"/>
          </a:solidFill>
          <a:ln/>
        </p:spPr>
      </p:sp>
      <p:sp>
        <p:nvSpPr>
          <p:cNvPr id="14" name="Text 12"/>
          <p:cNvSpPr/>
          <p:nvPr/>
        </p:nvSpPr>
        <p:spPr>
          <a:xfrm>
            <a:off x="274320" y="3840480"/>
            <a:ext cx="5669280" cy="411480"/>
          </a:xfrm>
          <a:prstGeom prst="rect">
            <a:avLst/>
          </a:prstGeom>
          <a:noFill/>
          <a:ln/>
        </p:spPr>
        <p:txBody>
          <a:bodyPr wrap="square" rtlCol="0" anchor="ctr"/>
          <a:lstStyle/>
          <a:p>
            <a:pPr marL="0" indent="0" algn="ctr">
              <a:buNone/>
            </a:pPr>
            <a:r>
              <a:rPr lang="en-US" sz="1400" b="1" dirty="0">
                <a:solidFill>
                  <a:srgbClr val="061008"/>
                </a:solidFill>
                <a:latin typeface="Trebuchet MS" pitchFamily="34" charset="0"/>
                <a:ea typeface="Trebuchet MS" pitchFamily="34" charset="-122"/>
                <a:cs typeface="Trebuchet MS" pitchFamily="34" charset="-120"/>
              </a:rPr>
              <a:t>⚙️ Backend</a:t>
            </a:r>
            <a:endParaRPr lang="en-US" sz="1400" dirty="0"/>
          </a:p>
        </p:txBody>
      </p:sp>
      <p:sp>
        <p:nvSpPr>
          <p:cNvPr id="15" name="Text 13"/>
          <p:cNvSpPr/>
          <p:nvPr/>
        </p:nvSpPr>
        <p:spPr>
          <a:xfrm>
            <a:off x="411480" y="4297680"/>
            <a:ext cx="5394960" cy="20116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Node.js + Express  ·  FastAPI 0.129.0  ·  Uvicorn 0.34.0  ·  Pandas 2.3.3  ·  MongoDB + Mongoose  ·  bcryptjs (Auth)  ·  jsonwebtoken (JWT)  ·  CORS Middleware</a:t>
            </a:r>
            <a:endParaRPr lang="en-US" sz="1000" dirty="0"/>
          </a:p>
        </p:txBody>
      </p:sp>
      <p:sp>
        <p:nvSpPr>
          <p:cNvPr id="16" name="Shape 14"/>
          <p:cNvSpPr/>
          <p:nvPr/>
        </p:nvSpPr>
        <p:spPr>
          <a:xfrm>
            <a:off x="6217920" y="3840480"/>
            <a:ext cx="5669280" cy="2560320"/>
          </a:xfrm>
          <a:prstGeom prst="rect">
            <a:avLst/>
          </a:prstGeom>
          <a:solidFill>
            <a:srgbClr val="1A3A2A"/>
          </a:solidFill>
          <a:ln/>
          <a:effectLst>
            <a:outerShdw blurRad="101600" dist="38100" dir="2700000" algn="bl" rotWithShape="0">
              <a:srgbClr val="000000">
                <a:alpha val="40000"/>
              </a:srgbClr>
            </a:outerShdw>
          </a:effectLst>
        </p:spPr>
      </p:sp>
      <p:sp>
        <p:nvSpPr>
          <p:cNvPr id="17" name="Shape 15"/>
          <p:cNvSpPr/>
          <p:nvPr/>
        </p:nvSpPr>
        <p:spPr>
          <a:xfrm>
            <a:off x="6217920" y="3840480"/>
            <a:ext cx="5669280" cy="411480"/>
          </a:xfrm>
          <a:prstGeom prst="rect">
            <a:avLst/>
          </a:prstGeom>
          <a:solidFill>
            <a:srgbClr val="7B2FBE"/>
          </a:solidFill>
          <a:ln/>
        </p:spPr>
      </p:sp>
      <p:sp>
        <p:nvSpPr>
          <p:cNvPr id="18" name="Text 16"/>
          <p:cNvSpPr/>
          <p:nvPr/>
        </p:nvSpPr>
        <p:spPr>
          <a:xfrm>
            <a:off x="6217920" y="3840480"/>
            <a:ext cx="5669280" cy="411480"/>
          </a:xfrm>
          <a:prstGeom prst="rect">
            <a:avLst/>
          </a:prstGeom>
          <a:noFill/>
          <a:ln/>
        </p:spPr>
        <p:txBody>
          <a:bodyPr wrap="square" rtlCol="0" anchor="ctr"/>
          <a:lstStyle/>
          <a:p>
            <a:pPr marL="0" indent="0" algn="ctr">
              <a:buNone/>
            </a:pPr>
            <a:r>
              <a:rPr lang="en-US" sz="1400" b="1" dirty="0">
                <a:solidFill>
                  <a:srgbClr val="061008"/>
                </a:solidFill>
                <a:latin typeface="Trebuchet MS" pitchFamily="34" charset="0"/>
                <a:ea typeface="Trebuchet MS" pitchFamily="34" charset="-122"/>
                <a:cs typeface="Trebuchet MS" pitchFamily="34" charset="-120"/>
              </a:rPr>
              <a:t>☁️ Infrastructure</a:t>
            </a:r>
            <a:endParaRPr lang="en-US" sz="1400" dirty="0"/>
          </a:p>
        </p:txBody>
      </p:sp>
      <p:sp>
        <p:nvSpPr>
          <p:cNvPr id="19" name="Text 17"/>
          <p:cNvSpPr/>
          <p:nvPr/>
        </p:nvSpPr>
        <p:spPr>
          <a:xfrm>
            <a:off x="6355080" y="4297680"/>
            <a:ext cx="5394960" cy="20116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Vercel (Frontend CDN)  ·  Render (FastAPI)  ·  i18next ^25.8.7  ·  react-i18next ^16.5.4  ·  6-Language i18n  ·  react-hot-toast  ·  Context API (AuthCtx)  ·  CSS Variables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A0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7B2FBE"/>
          </a:solidFill>
          <a:ln/>
        </p:spPr>
      </p:sp>
      <p:sp>
        <p:nvSpPr>
          <p:cNvPr id="3" name="Text 1"/>
          <p:cNvSpPr/>
          <p:nvPr/>
        </p:nvSpPr>
        <p:spPr>
          <a:xfrm>
            <a:off x="457200" y="182880"/>
            <a:ext cx="7315200" cy="548640"/>
          </a:xfrm>
          <a:prstGeom prst="rect">
            <a:avLst/>
          </a:prstGeom>
          <a:noFill/>
          <a:ln/>
          <a:effectLst>
            <a:outerShdw blurRad="101600" dist="38100" dir="2700000" algn="bl" rotWithShape="0">
              <a:srgbClr val="000000">
                <a:alpha val="40000"/>
              </a:srgbClr>
            </a:outerShdw>
          </a:effectLst>
        </p:spPr>
        <p:txBody>
          <a:bodyPr wrap="square" rtlCol="0" anchor="ctr"/>
          <a:lstStyle/>
          <a:p>
            <a:pPr marL="0" indent="0">
              <a:buNone/>
            </a:pPr>
            <a:r>
              <a:rPr lang="en-US" sz="3400" b="1" dirty="0">
                <a:solidFill>
                  <a:srgbClr val="7B2FBE"/>
                </a:solidFill>
                <a:latin typeface="Trebuchet MS" pitchFamily="34" charset="0"/>
                <a:ea typeface="Trebuchet MS" pitchFamily="34" charset="-122"/>
                <a:cs typeface="Trebuchet MS" pitchFamily="34" charset="-120"/>
              </a:rPr>
              <a:t>THE INNOVATION</a:t>
            </a:r>
            <a:endParaRPr lang="en-US" sz="3400" dirty="0"/>
          </a:p>
        </p:txBody>
      </p:sp>
      <p:sp>
        <p:nvSpPr>
          <p:cNvPr id="4" name="Text 2"/>
          <p:cNvSpPr/>
          <p:nvPr/>
        </p:nvSpPr>
        <p:spPr>
          <a:xfrm>
            <a:off x="457200" y="749808"/>
            <a:ext cx="9144000" cy="320040"/>
          </a:xfrm>
          <a:prstGeom prst="rect">
            <a:avLst/>
          </a:prstGeom>
          <a:noFill/>
          <a:ln/>
        </p:spPr>
        <p:txBody>
          <a:bodyPr wrap="square" rtlCol="0" anchor="ctr"/>
          <a:lstStyle/>
          <a:p>
            <a:pPr marL="0" indent="0">
              <a:buNone/>
            </a:pPr>
            <a:r>
              <a:rPr lang="en-US" sz="1400" i="1" dirty="0">
                <a:solidFill>
                  <a:srgbClr val="8AB89A"/>
                </a:solidFill>
                <a:latin typeface="Calibri" pitchFamily="34" charset="0"/>
                <a:ea typeface="Calibri" pitchFamily="34" charset="-122"/>
                <a:cs typeface="Calibri" pitchFamily="34" charset="-120"/>
              </a:rPr>
              <a:t>StateBrain™ AI Engine vs. Traditional Farming Advice</a:t>
            </a:r>
            <a:endParaRPr lang="en-US" sz="1400" dirty="0"/>
          </a:p>
        </p:txBody>
      </p:sp>
      <p:sp>
        <p:nvSpPr>
          <p:cNvPr id="5" name="Shape 3"/>
          <p:cNvSpPr/>
          <p:nvPr/>
        </p:nvSpPr>
        <p:spPr>
          <a:xfrm>
            <a:off x="365760" y="1188720"/>
            <a:ext cx="4846320" cy="4389120"/>
          </a:xfrm>
          <a:prstGeom prst="rect">
            <a:avLst/>
          </a:prstGeom>
          <a:solidFill>
            <a:srgbClr val="200808"/>
          </a:solidFill>
          <a:ln w="25400">
            <a:solidFill>
              <a:srgbClr val="FF6B35"/>
            </a:solidFill>
            <a:prstDash val="solid"/>
          </a:ln>
          <a:effectLst>
            <a:outerShdw blurRad="101600" dist="38100" dir="2700000" algn="bl" rotWithShape="0">
              <a:srgbClr val="000000">
                <a:alpha val="40000"/>
              </a:srgbClr>
            </a:outerShdw>
          </a:effectLst>
        </p:spPr>
      </p:sp>
      <p:sp>
        <p:nvSpPr>
          <p:cNvPr id="6" name="Shape 4"/>
          <p:cNvSpPr/>
          <p:nvPr/>
        </p:nvSpPr>
        <p:spPr>
          <a:xfrm>
            <a:off x="365760" y="1188720"/>
            <a:ext cx="4846320" cy="457200"/>
          </a:xfrm>
          <a:prstGeom prst="rect">
            <a:avLst/>
          </a:prstGeom>
          <a:solidFill>
            <a:srgbClr val="FF6B35"/>
          </a:solidFill>
          <a:ln/>
        </p:spPr>
      </p:sp>
      <p:sp>
        <p:nvSpPr>
          <p:cNvPr id="7" name="Text 5"/>
          <p:cNvSpPr/>
          <p:nvPr/>
        </p:nvSpPr>
        <p:spPr>
          <a:xfrm>
            <a:off x="365760" y="1188720"/>
            <a:ext cx="4846320" cy="457200"/>
          </a:xfrm>
          <a:prstGeom prst="rect">
            <a:avLst/>
          </a:prstGeom>
          <a:noFill/>
          <a:ln/>
        </p:spPr>
        <p:txBody>
          <a:bodyPr wrap="square" rtlCol="0" anchor="ctr"/>
          <a:lstStyle/>
          <a:p>
            <a:pPr marL="0" indent="0" algn="ctr">
              <a:buNone/>
            </a:pPr>
            <a:r>
              <a:rPr lang="en-US" sz="1200" b="1" dirty="0">
                <a:solidFill>
                  <a:srgbClr val="061008"/>
                </a:solidFill>
                <a:latin typeface="Trebuchet MS" pitchFamily="34" charset="0"/>
                <a:ea typeface="Trebuchet MS" pitchFamily="34" charset="-122"/>
                <a:cs typeface="Trebuchet MS" pitchFamily="34" charset="-120"/>
              </a:rPr>
              <a:t>❌  TRADITIONAL APPROACH</a:t>
            </a:r>
            <a:endParaRPr lang="en-US" sz="1200" dirty="0"/>
          </a:p>
        </p:txBody>
      </p:sp>
      <p:sp>
        <p:nvSpPr>
          <p:cNvPr id="8" name="Text 6"/>
          <p:cNvSpPr/>
          <p:nvPr/>
        </p:nvSpPr>
        <p:spPr>
          <a:xfrm>
            <a:off x="548640" y="1783080"/>
            <a:ext cx="4480560" cy="41148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Village panchayat word-of-mouth</a:t>
            </a:r>
            <a:endParaRPr lang="en-US" sz="1050" dirty="0"/>
          </a:p>
        </p:txBody>
      </p:sp>
      <p:sp>
        <p:nvSpPr>
          <p:cNvPr id="9" name="Text 7"/>
          <p:cNvSpPr/>
          <p:nvPr/>
        </p:nvSpPr>
        <p:spPr>
          <a:xfrm>
            <a:off x="548640" y="2267712"/>
            <a:ext cx="4480560" cy="41148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Seasonal advice from extension officers</a:t>
            </a:r>
            <a:endParaRPr lang="en-US" sz="1050" dirty="0"/>
          </a:p>
        </p:txBody>
      </p:sp>
      <p:sp>
        <p:nvSpPr>
          <p:cNvPr id="10" name="Text 8"/>
          <p:cNvSpPr/>
          <p:nvPr/>
        </p:nvSpPr>
        <p:spPr>
          <a:xfrm>
            <a:off x="548640" y="2752344"/>
            <a:ext cx="4480560" cy="41148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Newspaper crop price listings</a:t>
            </a:r>
            <a:endParaRPr lang="en-US" sz="1050" dirty="0"/>
          </a:p>
        </p:txBody>
      </p:sp>
      <p:sp>
        <p:nvSpPr>
          <p:cNvPr id="11" name="Text 9"/>
          <p:cNvSpPr/>
          <p:nvPr/>
        </p:nvSpPr>
        <p:spPr>
          <a:xfrm>
            <a:off x="548640" y="3236976"/>
            <a:ext cx="4480560" cy="41148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No market glut prediction</a:t>
            </a:r>
            <a:endParaRPr lang="en-US" sz="1050" dirty="0"/>
          </a:p>
        </p:txBody>
      </p:sp>
      <p:sp>
        <p:nvSpPr>
          <p:cNvPr id="12" name="Text 10"/>
          <p:cNvSpPr/>
          <p:nvPr/>
        </p:nvSpPr>
        <p:spPr>
          <a:xfrm>
            <a:off x="548640" y="3721608"/>
            <a:ext cx="4480560" cy="41148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Manual weather observation</a:t>
            </a:r>
            <a:endParaRPr lang="en-US" sz="1050" dirty="0"/>
          </a:p>
        </p:txBody>
      </p:sp>
      <p:sp>
        <p:nvSpPr>
          <p:cNvPr id="13" name="Text 11"/>
          <p:cNvSpPr/>
          <p:nvPr/>
        </p:nvSpPr>
        <p:spPr>
          <a:xfrm>
            <a:off x="548640" y="4206240"/>
            <a:ext cx="4480560" cy="41148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No soil NPK data access</a:t>
            </a:r>
            <a:endParaRPr lang="en-US" sz="1050" dirty="0"/>
          </a:p>
        </p:txBody>
      </p:sp>
      <p:sp>
        <p:nvSpPr>
          <p:cNvPr id="14" name="Text 12"/>
          <p:cNvSpPr/>
          <p:nvPr/>
        </p:nvSpPr>
        <p:spPr>
          <a:xfrm>
            <a:off x="548640" y="4690872"/>
            <a:ext cx="4480560" cy="41148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Weeks to get government scheme info</a:t>
            </a:r>
            <a:endParaRPr lang="en-US" sz="1050" dirty="0"/>
          </a:p>
        </p:txBody>
      </p:sp>
      <p:sp>
        <p:nvSpPr>
          <p:cNvPr id="15" name="Shape 13"/>
          <p:cNvSpPr/>
          <p:nvPr/>
        </p:nvSpPr>
        <p:spPr>
          <a:xfrm>
            <a:off x="5120640" y="2926080"/>
            <a:ext cx="914400" cy="914400"/>
          </a:xfrm>
          <a:prstGeom prst="ellipse">
            <a:avLst/>
          </a:prstGeom>
          <a:solidFill>
            <a:srgbClr val="F0C040"/>
          </a:solidFill>
          <a:ln/>
          <a:effectLst>
            <a:outerShdw blurRad="101600" dist="38100" dir="2700000" algn="bl" rotWithShape="0">
              <a:srgbClr val="000000">
                <a:alpha val="40000"/>
              </a:srgbClr>
            </a:outerShdw>
          </a:effectLst>
        </p:spPr>
      </p:sp>
      <p:sp>
        <p:nvSpPr>
          <p:cNvPr id="16" name="Text 14"/>
          <p:cNvSpPr/>
          <p:nvPr/>
        </p:nvSpPr>
        <p:spPr>
          <a:xfrm>
            <a:off x="5120640" y="2926080"/>
            <a:ext cx="914400" cy="914400"/>
          </a:xfrm>
          <a:prstGeom prst="rect">
            <a:avLst/>
          </a:prstGeom>
          <a:noFill/>
          <a:ln/>
        </p:spPr>
        <p:txBody>
          <a:bodyPr wrap="square" rtlCol="0" anchor="ctr"/>
          <a:lstStyle/>
          <a:p>
            <a:pPr marL="0" indent="0" algn="ctr">
              <a:buNone/>
            </a:pPr>
            <a:r>
              <a:rPr lang="en-US" sz="1600" b="1" dirty="0">
                <a:solidFill>
                  <a:srgbClr val="061008"/>
                </a:solidFill>
                <a:latin typeface="Trebuchet MS" pitchFamily="34" charset="0"/>
                <a:ea typeface="Trebuchet MS" pitchFamily="34" charset="-122"/>
                <a:cs typeface="Trebuchet MS" pitchFamily="34" charset="-120"/>
              </a:rPr>
              <a:t>VS</a:t>
            </a:r>
            <a:endParaRPr lang="en-US" sz="1600" dirty="0"/>
          </a:p>
        </p:txBody>
      </p:sp>
      <p:sp>
        <p:nvSpPr>
          <p:cNvPr id="17" name="Shape 15"/>
          <p:cNvSpPr/>
          <p:nvPr/>
        </p:nvSpPr>
        <p:spPr>
          <a:xfrm>
            <a:off x="6217920" y="1188720"/>
            <a:ext cx="5394960" cy="4389120"/>
          </a:xfrm>
          <a:prstGeom prst="rect">
            <a:avLst/>
          </a:prstGeom>
          <a:solidFill>
            <a:srgbClr val="081808"/>
          </a:solidFill>
          <a:ln w="25400">
            <a:solidFill>
              <a:srgbClr val="2ECC71"/>
            </a:solidFill>
            <a:prstDash val="solid"/>
          </a:ln>
          <a:effectLst>
            <a:outerShdw blurRad="101600" dist="38100" dir="2700000" algn="bl" rotWithShape="0">
              <a:srgbClr val="000000">
                <a:alpha val="40000"/>
              </a:srgbClr>
            </a:outerShdw>
          </a:effectLst>
        </p:spPr>
      </p:sp>
      <p:sp>
        <p:nvSpPr>
          <p:cNvPr id="18" name="Shape 16"/>
          <p:cNvSpPr/>
          <p:nvPr/>
        </p:nvSpPr>
        <p:spPr>
          <a:xfrm>
            <a:off x="6217920" y="1188720"/>
            <a:ext cx="5394960" cy="457200"/>
          </a:xfrm>
          <a:prstGeom prst="rect">
            <a:avLst/>
          </a:prstGeom>
          <a:solidFill>
            <a:srgbClr val="2ECC71"/>
          </a:solidFill>
          <a:ln/>
        </p:spPr>
      </p:sp>
      <p:sp>
        <p:nvSpPr>
          <p:cNvPr id="19" name="Text 17"/>
          <p:cNvSpPr/>
          <p:nvPr/>
        </p:nvSpPr>
        <p:spPr>
          <a:xfrm>
            <a:off x="6217920" y="1188720"/>
            <a:ext cx="5394960" cy="457200"/>
          </a:xfrm>
          <a:prstGeom prst="rect">
            <a:avLst/>
          </a:prstGeom>
          <a:noFill/>
          <a:ln/>
        </p:spPr>
        <p:txBody>
          <a:bodyPr wrap="square" rtlCol="0" anchor="ctr"/>
          <a:lstStyle/>
          <a:p>
            <a:pPr marL="0" indent="0" algn="ctr">
              <a:buNone/>
            </a:pPr>
            <a:r>
              <a:rPr lang="en-US" sz="1200" b="1" dirty="0">
                <a:solidFill>
                  <a:srgbClr val="061008"/>
                </a:solidFill>
                <a:latin typeface="Trebuchet MS" pitchFamily="34" charset="0"/>
                <a:ea typeface="Trebuchet MS" pitchFamily="34" charset="-122"/>
                <a:cs typeface="Trebuchet MS" pitchFamily="34" charset="-120"/>
              </a:rPr>
              <a:t>✅  AGRI-NEURAL TWIN</a:t>
            </a:r>
            <a:endParaRPr lang="en-US" sz="1200" dirty="0"/>
          </a:p>
        </p:txBody>
      </p:sp>
      <p:sp>
        <p:nvSpPr>
          <p:cNvPr id="20" name="Text 18"/>
          <p:cNvSpPr/>
          <p:nvPr/>
        </p:nvSpPr>
        <p:spPr>
          <a:xfrm>
            <a:off x="6400800" y="1783080"/>
            <a:ext cx="5029200" cy="41148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StateBrain: 1000-season AI simulation</a:t>
            </a:r>
            <a:endParaRPr lang="en-US" sz="1050" dirty="0"/>
          </a:p>
        </p:txBody>
      </p:sp>
      <p:sp>
        <p:nvSpPr>
          <p:cNvPr id="21" name="Text 19"/>
          <p:cNvSpPr/>
          <p:nvPr/>
        </p:nvSpPr>
        <p:spPr>
          <a:xfrm>
            <a:off x="6400800" y="2267712"/>
            <a:ext cx="5029200" cy="41148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Real-time soil NPK telemetry (N,P,K)</a:t>
            </a:r>
            <a:endParaRPr lang="en-US" sz="1050" dirty="0"/>
          </a:p>
        </p:txBody>
      </p:sp>
      <p:sp>
        <p:nvSpPr>
          <p:cNvPr id="22" name="Text 20"/>
          <p:cNvSpPr/>
          <p:nvPr/>
        </p:nvSpPr>
        <p:spPr>
          <a:xfrm>
            <a:off x="6400800" y="2752344"/>
            <a:ext cx="5029200" cy="41148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Market glut predictor (38 districts)</a:t>
            </a:r>
            <a:endParaRPr lang="en-US" sz="1050" dirty="0"/>
          </a:p>
        </p:txBody>
      </p:sp>
      <p:sp>
        <p:nvSpPr>
          <p:cNvPr id="23" name="Text 21"/>
          <p:cNvSpPr/>
          <p:nvPr/>
        </p:nvSpPr>
        <p:spPr>
          <a:xfrm>
            <a:off x="6400800" y="3236976"/>
            <a:ext cx="5029200" cy="41148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Block-level geospatial risk mapping</a:t>
            </a:r>
            <a:endParaRPr lang="en-US" sz="1050" dirty="0"/>
          </a:p>
        </p:txBody>
      </p:sp>
      <p:sp>
        <p:nvSpPr>
          <p:cNvPr id="24" name="Text 22"/>
          <p:cNvSpPr/>
          <p:nvPr/>
        </p:nvSpPr>
        <p:spPr>
          <a:xfrm>
            <a:off x="6400800" y="3721608"/>
            <a:ext cx="5029200" cy="41148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Gemini Pro conversational advisory</a:t>
            </a:r>
            <a:endParaRPr lang="en-US" sz="1050" dirty="0"/>
          </a:p>
        </p:txBody>
      </p:sp>
      <p:sp>
        <p:nvSpPr>
          <p:cNvPr id="25" name="Text 23"/>
          <p:cNvSpPr/>
          <p:nvPr/>
        </p:nvSpPr>
        <p:spPr>
          <a:xfrm>
            <a:off x="6400800" y="4206240"/>
            <a:ext cx="5029200" cy="41148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6-language inclusive interface</a:t>
            </a:r>
            <a:endParaRPr lang="en-US" sz="1050" dirty="0"/>
          </a:p>
        </p:txBody>
      </p:sp>
      <p:sp>
        <p:nvSpPr>
          <p:cNvPr id="26" name="Text 24"/>
          <p:cNvSpPr/>
          <p:nvPr/>
        </p:nvSpPr>
        <p:spPr>
          <a:xfrm>
            <a:off x="6400800" y="4690872"/>
            <a:ext cx="5029200" cy="41148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Aadhaar-linked farmer profiles + schemes</a:t>
            </a:r>
            <a:endParaRPr lang="en-US" sz="1050" dirty="0"/>
          </a:p>
        </p:txBody>
      </p:sp>
      <p:sp>
        <p:nvSpPr>
          <p:cNvPr id="27" name="Shape 25"/>
          <p:cNvSpPr/>
          <p:nvPr/>
        </p:nvSpPr>
        <p:spPr>
          <a:xfrm>
            <a:off x="365760" y="5943600"/>
            <a:ext cx="2743200" cy="457200"/>
          </a:xfrm>
          <a:prstGeom prst="rect">
            <a:avLst/>
          </a:prstGeom>
          <a:solidFill>
            <a:srgbClr val="7B2FBE"/>
          </a:solidFill>
          <a:ln/>
          <a:effectLst>
            <a:outerShdw blurRad="101600" dist="38100" dir="2700000" algn="bl" rotWithShape="0">
              <a:srgbClr val="000000">
                <a:alpha val="40000"/>
              </a:srgbClr>
            </a:outerShdw>
          </a:effectLst>
        </p:spPr>
      </p:sp>
      <p:sp>
        <p:nvSpPr>
          <p:cNvPr id="28" name="Text 26"/>
          <p:cNvSpPr/>
          <p:nvPr/>
        </p:nvSpPr>
        <p:spPr>
          <a:xfrm>
            <a:off x="365760" y="5943600"/>
            <a:ext cx="2743200" cy="45720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Cross-District Intelligence</a:t>
            </a:r>
            <a:endParaRPr lang="en-US" sz="950" dirty="0"/>
          </a:p>
        </p:txBody>
      </p:sp>
      <p:sp>
        <p:nvSpPr>
          <p:cNvPr id="29" name="Shape 27"/>
          <p:cNvSpPr/>
          <p:nvPr/>
        </p:nvSpPr>
        <p:spPr>
          <a:xfrm>
            <a:off x="3291840" y="5943600"/>
            <a:ext cx="2743200" cy="457200"/>
          </a:xfrm>
          <a:prstGeom prst="rect">
            <a:avLst/>
          </a:prstGeom>
          <a:solidFill>
            <a:srgbClr val="7B2FBE"/>
          </a:solidFill>
          <a:ln/>
          <a:effectLst>
            <a:outerShdw blurRad="101600" dist="38100" dir="2700000" algn="bl" rotWithShape="0">
              <a:srgbClr val="000000">
                <a:alpha val="40000"/>
              </a:srgbClr>
            </a:outerShdw>
          </a:effectLst>
        </p:spPr>
      </p:sp>
      <p:sp>
        <p:nvSpPr>
          <p:cNvPr id="30" name="Text 28"/>
          <p:cNvSpPr/>
          <p:nvPr/>
        </p:nvSpPr>
        <p:spPr>
          <a:xfrm>
            <a:off x="3291840" y="5943600"/>
            <a:ext cx="2743200" cy="45720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Zero-Internet Offline Mode</a:t>
            </a:r>
            <a:endParaRPr lang="en-US" sz="950" dirty="0"/>
          </a:p>
        </p:txBody>
      </p:sp>
      <p:sp>
        <p:nvSpPr>
          <p:cNvPr id="31" name="Shape 29"/>
          <p:cNvSpPr/>
          <p:nvPr/>
        </p:nvSpPr>
        <p:spPr>
          <a:xfrm>
            <a:off x="6217920" y="5943600"/>
            <a:ext cx="2743200" cy="457200"/>
          </a:xfrm>
          <a:prstGeom prst="rect">
            <a:avLst/>
          </a:prstGeom>
          <a:solidFill>
            <a:srgbClr val="7B2FBE"/>
          </a:solidFill>
          <a:ln/>
          <a:effectLst>
            <a:outerShdw blurRad="101600" dist="38100" dir="2700000" algn="bl" rotWithShape="0">
              <a:srgbClr val="000000">
                <a:alpha val="40000"/>
              </a:srgbClr>
            </a:outerShdw>
          </a:effectLst>
        </p:spPr>
      </p:sp>
      <p:sp>
        <p:nvSpPr>
          <p:cNvPr id="32" name="Text 30"/>
          <p:cNvSpPr/>
          <p:nvPr/>
        </p:nvSpPr>
        <p:spPr>
          <a:xfrm>
            <a:off x="6217920" y="5943600"/>
            <a:ext cx="2743200" cy="45720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Govt-Grade Accessibility (WCAG 2.1)</a:t>
            </a:r>
            <a:endParaRPr lang="en-US" sz="950" dirty="0"/>
          </a:p>
        </p:txBody>
      </p:sp>
      <p:sp>
        <p:nvSpPr>
          <p:cNvPr id="33" name="Shape 31"/>
          <p:cNvSpPr/>
          <p:nvPr/>
        </p:nvSpPr>
        <p:spPr>
          <a:xfrm>
            <a:off x="9144000" y="5943600"/>
            <a:ext cx="2743200" cy="457200"/>
          </a:xfrm>
          <a:prstGeom prst="rect">
            <a:avLst/>
          </a:prstGeom>
          <a:solidFill>
            <a:srgbClr val="7B2FBE"/>
          </a:solidFill>
          <a:ln/>
          <a:effectLst>
            <a:outerShdw blurRad="101600" dist="38100" dir="2700000" algn="bl" rotWithShape="0">
              <a:srgbClr val="000000">
                <a:alpha val="40000"/>
              </a:srgbClr>
            </a:outerShdw>
          </a:effectLst>
        </p:spPr>
      </p:sp>
      <p:sp>
        <p:nvSpPr>
          <p:cNvPr id="34" name="Text 32"/>
          <p:cNvSpPr/>
          <p:nvPr/>
        </p:nvSpPr>
        <p:spPr>
          <a:xfrm>
            <a:off x="9144000" y="5943600"/>
            <a:ext cx="2743200" cy="45720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Open API + AgriStack Ready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A0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ECC71"/>
          </a:solidFill>
          <a:ln/>
        </p:spPr>
      </p:sp>
      <p:sp>
        <p:nvSpPr>
          <p:cNvPr id="3" name="Text 1"/>
          <p:cNvSpPr/>
          <p:nvPr/>
        </p:nvSpPr>
        <p:spPr>
          <a:xfrm>
            <a:off x="457200" y="182880"/>
            <a:ext cx="8229600" cy="548640"/>
          </a:xfrm>
          <a:prstGeom prst="rect">
            <a:avLst/>
          </a:prstGeom>
          <a:noFill/>
          <a:ln/>
          <a:effectLst>
            <a:outerShdw blurRad="101600" dist="38100" dir="2700000" algn="bl" rotWithShape="0">
              <a:srgbClr val="000000">
                <a:alpha val="40000"/>
              </a:srgbClr>
            </a:outerShdw>
          </a:effectLst>
        </p:spPr>
        <p:txBody>
          <a:bodyPr wrap="square" rtlCol="0" anchor="ctr"/>
          <a:lstStyle/>
          <a:p>
            <a:pPr marL="0" indent="0">
              <a:buNone/>
            </a:pPr>
            <a:r>
              <a:rPr lang="en-US" sz="3000" b="1" dirty="0">
                <a:solidFill>
                  <a:srgbClr val="2ECC71"/>
                </a:solidFill>
                <a:latin typeface="Trebuchet MS" pitchFamily="34" charset="0"/>
                <a:ea typeface="Trebuchet MS" pitchFamily="34" charset="-122"/>
                <a:cs typeface="Trebuchet MS" pitchFamily="34" charset="-120"/>
              </a:rPr>
              <a:t>LIVE PROTOTYPE EVIDENCE</a:t>
            </a:r>
            <a:endParaRPr lang="en-US" sz="3000" dirty="0"/>
          </a:p>
        </p:txBody>
      </p:sp>
      <p:sp>
        <p:nvSpPr>
          <p:cNvPr id="4" name="Shape 2"/>
          <p:cNvSpPr/>
          <p:nvPr/>
        </p:nvSpPr>
        <p:spPr>
          <a:xfrm>
            <a:off x="365760" y="914400"/>
            <a:ext cx="7772400" cy="4572000"/>
          </a:xfrm>
          <a:prstGeom prst="rect">
            <a:avLst/>
          </a:prstGeom>
          <a:solidFill>
            <a:srgbClr val="1A3A2A"/>
          </a:solidFill>
          <a:ln w="19050">
            <a:solidFill>
              <a:srgbClr val="2ECC71"/>
            </a:solidFill>
            <a:prstDash val="solid"/>
          </a:ln>
          <a:effectLst>
            <a:outerShdw blurRad="101600" dist="38100" dir="2700000" algn="bl" rotWithShape="0">
              <a:srgbClr val="000000">
                <a:alpha val="40000"/>
              </a:srgbClr>
            </a:outerShdw>
          </a:effectLst>
        </p:spPr>
      </p:sp>
      <p:sp>
        <p:nvSpPr>
          <p:cNvPr id="5" name="Shape 3"/>
          <p:cNvSpPr/>
          <p:nvPr/>
        </p:nvSpPr>
        <p:spPr>
          <a:xfrm>
            <a:off x="365760" y="914400"/>
            <a:ext cx="7772400" cy="365760"/>
          </a:xfrm>
          <a:prstGeom prst="rect">
            <a:avLst/>
          </a:prstGeom>
          <a:solidFill>
            <a:srgbClr val="1A3575"/>
          </a:solidFill>
          <a:ln/>
        </p:spPr>
      </p:sp>
      <p:sp>
        <p:nvSpPr>
          <p:cNvPr id="6" name="Text 4"/>
          <p:cNvSpPr/>
          <p:nvPr/>
        </p:nvSpPr>
        <p:spPr>
          <a:xfrm>
            <a:off x="365760" y="914400"/>
            <a:ext cx="7772400" cy="3657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TN UNIFIED COMMAND CENTER | GOVT OF TAMIL NADU</a:t>
            </a:r>
            <a:endParaRPr lang="en-US" sz="900" dirty="0"/>
          </a:p>
        </p:txBody>
      </p:sp>
      <p:sp>
        <p:nvSpPr>
          <p:cNvPr id="7" name="Shape 5"/>
          <p:cNvSpPr/>
          <p:nvPr/>
        </p:nvSpPr>
        <p:spPr>
          <a:xfrm>
            <a:off x="365760" y="1280160"/>
            <a:ext cx="1463040" cy="4206240"/>
          </a:xfrm>
          <a:prstGeom prst="rect">
            <a:avLst/>
          </a:prstGeom>
          <a:solidFill>
            <a:srgbClr val="122022"/>
          </a:solidFill>
          <a:ln/>
        </p:spPr>
      </p:sp>
      <p:sp>
        <p:nvSpPr>
          <p:cNvPr id="8" name="Text 6"/>
          <p:cNvSpPr/>
          <p:nvPr/>
        </p:nvSpPr>
        <p:spPr>
          <a:xfrm>
            <a:off x="411480" y="1417320"/>
            <a:ext cx="1371600" cy="457200"/>
          </a:xfrm>
          <a:prstGeom prst="rect">
            <a:avLst/>
          </a:prstGeom>
          <a:noFill/>
          <a:ln/>
        </p:spPr>
        <p:txBody>
          <a:bodyPr wrap="square" rtlCol="0" anchor="ctr"/>
          <a:lstStyle/>
          <a:p>
            <a:pPr marL="0" indent="0">
              <a:buNone/>
            </a:pPr>
            <a:r>
              <a:rPr lang="en-US" sz="900" dirty="0">
                <a:solidFill>
                  <a:srgbClr val="2ECC71"/>
                </a:solidFill>
                <a:latin typeface="Calibri" pitchFamily="34" charset="0"/>
                <a:ea typeface="Calibri" pitchFamily="34" charset="-122"/>
                <a:cs typeface="Calibri" pitchFamily="34" charset="-120"/>
              </a:rPr>
              <a:t>Dashboard</a:t>
            </a:r>
            <a:endParaRPr lang="en-US" sz="900" dirty="0"/>
          </a:p>
        </p:txBody>
      </p:sp>
      <p:sp>
        <p:nvSpPr>
          <p:cNvPr id="9" name="Text 7"/>
          <p:cNvSpPr/>
          <p:nvPr/>
        </p:nvSpPr>
        <p:spPr>
          <a:xfrm>
            <a:off x="411480" y="2011680"/>
            <a:ext cx="1371600" cy="457200"/>
          </a:xfrm>
          <a:prstGeom prst="rect">
            <a:avLst/>
          </a:prstGeom>
          <a:noFill/>
          <a:ln/>
        </p:spPr>
        <p:txBody>
          <a:bodyPr wrap="square" rtlCol="0" anchor="ctr"/>
          <a:lstStyle/>
          <a:p>
            <a:pPr marL="0" indent="0">
              <a:buNone/>
            </a:pPr>
            <a:r>
              <a:rPr lang="en-US" sz="900" dirty="0">
                <a:solidFill>
                  <a:srgbClr val="8AB89A"/>
                </a:solidFill>
                <a:latin typeface="Calibri" pitchFamily="34" charset="0"/>
                <a:ea typeface="Calibri" pitchFamily="34" charset="-122"/>
                <a:cs typeface="Calibri" pitchFamily="34" charset="-120"/>
              </a:rPr>
              <a:t>Analytics</a:t>
            </a:r>
            <a:endParaRPr lang="en-US" sz="900" dirty="0"/>
          </a:p>
        </p:txBody>
      </p:sp>
      <p:sp>
        <p:nvSpPr>
          <p:cNvPr id="10" name="Text 8"/>
          <p:cNvSpPr/>
          <p:nvPr/>
        </p:nvSpPr>
        <p:spPr>
          <a:xfrm>
            <a:off x="411480" y="2606040"/>
            <a:ext cx="1371600" cy="457200"/>
          </a:xfrm>
          <a:prstGeom prst="rect">
            <a:avLst/>
          </a:prstGeom>
          <a:noFill/>
          <a:ln/>
        </p:spPr>
        <p:txBody>
          <a:bodyPr wrap="square" rtlCol="0" anchor="ctr"/>
          <a:lstStyle/>
          <a:p>
            <a:pPr marL="0" indent="0">
              <a:buNone/>
            </a:pPr>
            <a:r>
              <a:rPr lang="en-US" sz="900" dirty="0">
                <a:solidFill>
                  <a:srgbClr val="8AB89A"/>
                </a:solidFill>
                <a:latin typeface="Calibri" pitchFamily="34" charset="0"/>
                <a:ea typeface="Calibri" pitchFamily="34" charset="-122"/>
                <a:cs typeface="Calibri" pitchFamily="34" charset="-120"/>
              </a:rPr>
              <a:t>Map View</a:t>
            </a:r>
            <a:endParaRPr lang="en-US" sz="900" dirty="0"/>
          </a:p>
        </p:txBody>
      </p:sp>
      <p:sp>
        <p:nvSpPr>
          <p:cNvPr id="11" name="Text 9"/>
          <p:cNvSpPr/>
          <p:nvPr/>
        </p:nvSpPr>
        <p:spPr>
          <a:xfrm>
            <a:off x="411480" y="3200400"/>
            <a:ext cx="1371600" cy="457200"/>
          </a:xfrm>
          <a:prstGeom prst="rect">
            <a:avLst/>
          </a:prstGeom>
          <a:noFill/>
          <a:ln/>
        </p:spPr>
        <p:txBody>
          <a:bodyPr wrap="square" rtlCol="0" anchor="ctr"/>
          <a:lstStyle/>
          <a:p>
            <a:pPr marL="0" indent="0">
              <a:buNone/>
            </a:pPr>
            <a:r>
              <a:rPr lang="en-US" sz="900" dirty="0">
                <a:solidFill>
                  <a:srgbClr val="8AB89A"/>
                </a:solidFill>
                <a:latin typeface="Calibri" pitchFamily="34" charset="0"/>
                <a:ea typeface="Calibri" pitchFamily="34" charset="-122"/>
                <a:cs typeface="Calibri" pitchFamily="34" charset="-120"/>
              </a:rPr>
              <a:t>Reports</a:t>
            </a:r>
            <a:endParaRPr lang="en-US" sz="900" dirty="0"/>
          </a:p>
        </p:txBody>
      </p:sp>
      <p:sp>
        <p:nvSpPr>
          <p:cNvPr id="12" name="Text 10"/>
          <p:cNvSpPr/>
          <p:nvPr/>
        </p:nvSpPr>
        <p:spPr>
          <a:xfrm>
            <a:off x="411480" y="3794760"/>
            <a:ext cx="1371600" cy="457200"/>
          </a:xfrm>
          <a:prstGeom prst="rect">
            <a:avLst/>
          </a:prstGeom>
          <a:noFill/>
          <a:ln/>
        </p:spPr>
        <p:txBody>
          <a:bodyPr wrap="square" rtlCol="0" anchor="ctr"/>
          <a:lstStyle/>
          <a:p>
            <a:pPr marL="0" indent="0">
              <a:buNone/>
            </a:pPr>
            <a:r>
              <a:rPr lang="en-US" sz="900" dirty="0">
                <a:solidFill>
                  <a:srgbClr val="8AB89A"/>
                </a:solidFill>
                <a:latin typeface="Calibri" pitchFamily="34" charset="0"/>
                <a:ea typeface="Calibri" pitchFamily="34" charset="-122"/>
                <a:cs typeface="Calibri" pitchFamily="34" charset="-120"/>
              </a:rPr>
              <a:t>Settings</a:t>
            </a:r>
            <a:endParaRPr lang="en-US" sz="900" dirty="0"/>
          </a:p>
        </p:txBody>
      </p:sp>
      <p:sp>
        <p:nvSpPr>
          <p:cNvPr id="13" name="Text 11"/>
          <p:cNvSpPr/>
          <p:nvPr/>
        </p:nvSpPr>
        <p:spPr>
          <a:xfrm>
            <a:off x="411480" y="4389120"/>
            <a:ext cx="1371600" cy="457200"/>
          </a:xfrm>
          <a:prstGeom prst="rect">
            <a:avLst/>
          </a:prstGeom>
          <a:noFill/>
          <a:ln/>
        </p:spPr>
        <p:txBody>
          <a:bodyPr wrap="square" rtlCol="0" anchor="ctr"/>
          <a:lstStyle/>
          <a:p>
            <a:pPr marL="0" indent="0">
              <a:buNone/>
            </a:pPr>
            <a:r>
              <a:rPr lang="en-US" sz="900" dirty="0">
                <a:solidFill>
                  <a:srgbClr val="8AB89A"/>
                </a:solidFill>
                <a:latin typeface="Calibri" pitchFamily="34" charset="0"/>
                <a:ea typeface="Calibri" pitchFamily="34" charset="-122"/>
                <a:cs typeface="Calibri" pitchFamily="34" charset="-120"/>
              </a:rPr>
              <a:t>Farmer</a:t>
            </a:r>
            <a:endParaRPr lang="en-US" sz="900" dirty="0"/>
          </a:p>
        </p:txBody>
      </p:sp>
      <p:sp>
        <p:nvSpPr>
          <p:cNvPr id="14" name="Shape 12"/>
          <p:cNvSpPr/>
          <p:nvPr/>
        </p:nvSpPr>
        <p:spPr>
          <a:xfrm>
            <a:off x="1920240" y="1280160"/>
            <a:ext cx="6126480" cy="1097280"/>
          </a:xfrm>
          <a:prstGeom prst="rect">
            <a:avLst/>
          </a:prstGeom>
          <a:solidFill>
            <a:srgbClr val="1A2F1A"/>
          </a:solidFill>
          <a:ln/>
        </p:spPr>
      </p:sp>
      <p:sp>
        <p:nvSpPr>
          <p:cNvPr id="15" name="Text 13"/>
          <p:cNvSpPr/>
          <p:nvPr/>
        </p:nvSpPr>
        <p:spPr>
          <a:xfrm>
            <a:off x="1920240" y="1280160"/>
            <a:ext cx="6126480" cy="1097280"/>
          </a:xfrm>
          <a:prstGeom prst="rect">
            <a:avLst/>
          </a:prstGeom>
          <a:noFill/>
          <a:ln/>
        </p:spPr>
        <p:txBody>
          <a:bodyPr wrap="square" rtlCol="0" anchor="ctr"/>
          <a:lstStyle/>
          <a:p>
            <a:pPr marL="0" indent="0" algn="ctr">
              <a:buNone/>
            </a:pPr>
            <a:r>
              <a:rPr lang="en-US" sz="1000" b="1" dirty="0">
                <a:solidFill>
                  <a:srgbClr val="2ECC71"/>
                </a:solidFill>
                <a:latin typeface="Trebuchet MS" pitchFamily="34" charset="0"/>
                <a:ea typeface="Trebuchet MS" pitchFamily="34" charset="-122"/>
                <a:cs typeface="Trebuchet MS" pitchFamily="34" charset="-120"/>
              </a:rPr>
              <a:t>475,000 T Yield Forecast  |  50.0% Sowing Density  |  ₹18,300 Cr GDP Shielded</a:t>
            </a:r>
            <a:endParaRPr lang="en-US" sz="1000" dirty="0"/>
          </a:p>
        </p:txBody>
      </p:sp>
      <p:sp>
        <p:nvSpPr>
          <p:cNvPr id="16" name="Shape 14"/>
          <p:cNvSpPr/>
          <p:nvPr/>
        </p:nvSpPr>
        <p:spPr>
          <a:xfrm>
            <a:off x="1920240" y="2468880"/>
            <a:ext cx="6126480" cy="2468880"/>
          </a:xfrm>
          <a:prstGeom prst="rect">
            <a:avLst/>
          </a:prstGeom>
          <a:solidFill>
            <a:srgbClr val="101A10"/>
          </a:solidFill>
          <a:ln w="6350">
            <a:solidFill>
              <a:srgbClr val="8AB89A"/>
            </a:solidFill>
            <a:prstDash val="solid"/>
          </a:ln>
        </p:spPr>
      </p:sp>
      <p:sp>
        <p:nvSpPr>
          <p:cNvPr id="17" name="Text 15"/>
          <p:cNvSpPr/>
          <p:nvPr/>
        </p:nvSpPr>
        <p:spPr>
          <a:xfrm>
            <a:off x="1920240" y="2468880"/>
            <a:ext cx="6126480" cy="2468880"/>
          </a:xfrm>
          <a:prstGeom prst="rect">
            <a:avLst/>
          </a:prstGeom>
          <a:noFill/>
          <a:ln/>
        </p:spPr>
        <p:txBody>
          <a:bodyPr wrap="square" rtlCol="0" anchor="ctr"/>
          <a:lstStyle/>
          <a:p>
            <a:pPr marL="0" indent="0" algn="ctr">
              <a:buNone/>
            </a:pPr>
            <a:r>
              <a:rPr lang="en-US" sz="1000" dirty="0">
                <a:solidFill>
                  <a:srgbClr val="8AB89A"/>
                </a:solidFill>
                <a:latin typeface="Calibri" pitchFamily="34" charset="0"/>
                <a:ea typeface="Calibri" pitchFamily="34" charset="-122"/>
                <a:cs typeface="Calibri" pitchFamily="34" charset="-120"/>
              </a:rPr>
              <a:t>DISTRICT ECONOMIC HEALTH MAP — 38 ZONES</a:t>
            </a:r>
            <a:endParaRPr lang="en-US" sz="1000" dirty="0"/>
          </a:p>
          <a:p>
            <a:pPr marL="0" indent="0" algn="ctr">
              <a:buNone/>
            </a:pPr>
            <a:r>
              <a:rPr lang="en-US" sz="1000" dirty="0">
                <a:solidFill>
                  <a:srgbClr val="8AB89A"/>
                </a:solidFill>
                <a:latin typeface="Calibri" pitchFamily="34" charset="0"/>
                <a:ea typeface="Calibri" pitchFamily="34" charset="-122"/>
                <a:cs typeface="Calibri" pitchFamily="34" charset="-120"/>
              </a:rPr>
              <a:t>(Ariyalur • Chennai • Coimbatore • Cuddalore • Dindigul • Erode...)</a:t>
            </a:r>
            <a:endParaRPr lang="en-US" sz="1000" dirty="0"/>
          </a:p>
        </p:txBody>
      </p:sp>
      <p:sp>
        <p:nvSpPr>
          <p:cNvPr id="18" name="Shape 16"/>
          <p:cNvSpPr/>
          <p:nvPr/>
        </p:nvSpPr>
        <p:spPr>
          <a:xfrm>
            <a:off x="8321040" y="914400"/>
            <a:ext cx="3566160" cy="4572000"/>
          </a:xfrm>
          <a:prstGeom prst="rect">
            <a:avLst/>
          </a:prstGeom>
          <a:solidFill>
            <a:srgbClr val="1A3A2A"/>
          </a:solidFill>
          <a:ln/>
          <a:effectLst>
            <a:outerShdw blurRad="101600" dist="38100" dir="2700000" algn="bl" rotWithShape="0">
              <a:srgbClr val="000000">
                <a:alpha val="40000"/>
              </a:srgbClr>
            </a:outerShdw>
          </a:effectLst>
        </p:spPr>
      </p:sp>
      <p:sp>
        <p:nvSpPr>
          <p:cNvPr id="19" name="Shape 17"/>
          <p:cNvSpPr/>
          <p:nvPr/>
        </p:nvSpPr>
        <p:spPr>
          <a:xfrm>
            <a:off x="8321040" y="914400"/>
            <a:ext cx="3566160" cy="365760"/>
          </a:xfrm>
          <a:prstGeom prst="rect">
            <a:avLst/>
          </a:prstGeom>
          <a:solidFill>
            <a:srgbClr val="1A3A2A"/>
          </a:solidFill>
          <a:ln/>
        </p:spPr>
      </p:sp>
      <p:sp>
        <p:nvSpPr>
          <p:cNvPr id="20" name="Text 18"/>
          <p:cNvSpPr/>
          <p:nvPr/>
        </p:nvSpPr>
        <p:spPr>
          <a:xfrm>
            <a:off x="8321040" y="914400"/>
            <a:ext cx="3566160" cy="365760"/>
          </a:xfrm>
          <a:prstGeom prst="rect">
            <a:avLst/>
          </a:prstGeom>
          <a:noFill/>
          <a:ln/>
        </p:spPr>
        <p:txBody>
          <a:bodyPr wrap="square" rtlCol="0" anchor="ctr"/>
          <a:lstStyle/>
          <a:p>
            <a:pPr marL="0" indent="0" algn="ctr">
              <a:buNone/>
            </a:pPr>
            <a:r>
              <a:rPr lang="en-US" sz="1100" b="1" dirty="0">
                <a:solidFill>
                  <a:srgbClr val="F0C040"/>
                </a:solidFill>
                <a:latin typeface="Trebuchet MS" pitchFamily="34" charset="0"/>
                <a:ea typeface="Trebuchet MS" pitchFamily="34" charset="-122"/>
                <a:cs typeface="Trebuchet MS" pitchFamily="34" charset="-120"/>
              </a:rPr>
              <a:t>FEATURE STATUS</a:t>
            </a:r>
            <a:endParaRPr lang="en-US" sz="1100" dirty="0"/>
          </a:p>
        </p:txBody>
      </p:sp>
      <p:sp>
        <p:nvSpPr>
          <p:cNvPr id="21" name="Text 19"/>
          <p:cNvSpPr/>
          <p:nvPr/>
        </p:nvSpPr>
        <p:spPr>
          <a:xfrm>
            <a:off x="8412480" y="1371600"/>
            <a:ext cx="3383280" cy="347472"/>
          </a:xfrm>
          <a:prstGeom prst="rect">
            <a:avLst/>
          </a:prstGeom>
          <a:noFill/>
          <a:ln/>
        </p:spPr>
        <p:txBody>
          <a:bodyPr wrap="square" rtlCol="0" anchor="ctr"/>
          <a:lstStyle/>
          <a:p>
            <a:pPr marL="0" indent="0">
              <a:buNone/>
            </a:pPr>
            <a:r>
              <a:rPr lang="en-US" sz="950" dirty="0">
                <a:solidFill>
                  <a:srgbClr val="2ECC71"/>
                </a:solidFill>
                <a:latin typeface="Calibri" pitchFamily="34" charset="0"/>
                <a:ea typeface="Calibri" pitchFamily="34" charset="-122"/>
                <a:cs typeface="Calibri" pitchFamily="34" charset="-120"/>
              </a:rPr>
              <a:t>✅ Aadhaar Login + OTP</a:t>
            </a:r>
            <a:endParaRPr lang="en-US" sz="950" dirty="0"/>
          </a:p>
        </p:txBody>
      </p:sp>
      <p:sp>
        <p:nvSpPr>
          <p:cNvPr id="22" name="Text 20"/>
          <p:cNvSpPr/>
          <p:nvPr/>
        </p:nvSpPr>
        <p:spPr>
          <a:xfrm>
            <a:off x="8412480" y="1755648"/>
            <a:ext cx="3383280" cy="347472"/>
          </a:xfrm>
          <a:prstGeom prst="rect">
            <a:avLst/>
          </a:prstGeom>
          <a:noFill/>
          <a:ln/>
        </p:spPr>
        <p:txBody>
          <a:bodyPr wrap="square" rtlCol="0" anchor="ctr"/>
          <a:lstStyle/>
          <a:p>
            <a:pPr marL="0" indent="0">
              <a:buNone/>
            </a:pPr>
            <a:r>
              <a:rPr lang="en-US" sz="950" dirty="0">
                <a:solidFill>
                  <a:srgbClr val="2ECC71"/>
                </a:solidFill>
                <a:latin typeface="Calibri" pitchFamily="34" charset="0"/>
                <a:ea typeface="Calibri" pitchFamily="34" charset="-122"/>
                <a:cs typeface="Calibri" pitchFamily="34" charset="-120"/>
              </a:rPr>
              <a:t>✅ 38-District Dashboard</a:t>
            </a:r>
            <a:endParaRPr lang="en-US" sz="950" dirty="0"/>
          </a:p>
        </p:txBody>
      </p:sp>
      <p:sp>
        <p:nvSpPr>
          <p:cNvPr id="23" name="Text 21"/>
          <p:cNvSpPr/>
          <p:nvPr/>
        </p:nvSpPr>
        <p:spPr>
          <a:xfrm>
            <a:off x="8412480" y="2139696"/>
            <a:ext cx="3383280" cy="347472"/>
          </a:xfrm>
          <a:prstGeom prst="rect">
            <a:avLst/>
          </a:prstGeom>
          <a:noFill/>
          <a:ln/>
        </p:spPr>
        <p:txBody>
          <a:bodyPr wrap="square" rtlCol="0" anchor="ctr"/>
          <a:lstStyle/>
          <a:p>
            <a:pPr marL="0" indent="0">
              <a:buNone/>
            </a:pPr>
            <a:r>
              <a:rPr lang="en-US" sz="950" dirty="0">
                <a:solidFill>
                  <a:srgbClr val="2ECC71"/>
                </a:solidFill>
                <a:latin typeface="Calibri" pitchFamily="34" charset="0"/>
                <a:ea typeface="Calibri" pitchFamily="34" charset="-122"/>
                <a:cs typeface="Calibri" pitchFamily="34" charset="-120"/>
              </a:rPr>
              <a:t>✅ StateBrain Risk Engine</a:t>
            </a:r>
            <a:endParaRPr lang="en-US" sz="950" dirty="0"/>
          </a:p>
        </p:txBody>
      </p:sp>
      <p:sp>
        <p:nvSpPr>
          <p:cNvPr id="24" name="Text 22"/>
          <p:cNvSpPr/>
          <p:nvPr/>
        </p:nvSpPr>
        <p:spPr>
          <a:xfrm>
            <a:off x="8412480" y="2523744"/>
            <a:ext cx="3383280" cy="347472"/>
          </a:xfrm>
          <a:prstGeom prst="rect">
            <a:avLst/>
          </a:prstGeom>
          <a:noFill/>
          <a:ln/>
        </p:spPr>
        <p:txBody>
          <a:bodyPr wrap="square" rtlCol="0" anchor="ctr"/>
          <a:lstStyle/>
          <a:p>
            <a:pPr marL="0" indent="0">
              <a:buNone/>
            </a:pPr>
            <a:r>
              <a:rPr lang="en-US" sz="950" dirty="0">
                <a:solidFill>
                  <a:srgbClr val="2ECC71"/>
                </a:solidFill>
                <a:latin typeface="Calibri" pitchFamily="34" charset="0"/>
                <a:ea typeface="Calibri" pitchFamily="34" charset="-122"/>
                <a:cs typeface="Calibri" pitchFamily="34" charset="-120"/>
              </a:rPr>
              <a:t>✅ Geospatial Leaflet Map</a:t>
            </a:r>
            <a:endParaRPr lang="en-US" sz="950" dirty="0"/>
          </a:p>
        </p:txBody>
      </p:sp>
      <p:sp>
        <p:nvSpPr>
          <p:cNvPr id="25" name="Text 23"/>
          <p:cNvSpPr/>
          <p:nvPr/>
        </p:nvSpPr>
        <p:spPr>
          <a:xfrm>
            <a:off x="8412480" y="2907792"/>
            <a:ext cx="3383280" cy="347472"/>
          </a:xfrm>
          <a:prstGeom prst="rect">
            <a:avLst/>
          </a:prstGeom>
          <a:noFill/>
          <a:ln/>
        </p:spPr>
        <p:txBody>
          <a:bodyPr wrap="square" rtlCol="0" anchor="ctr"/>
          <a:lstStyle/>
          <a:p>
            <a:pPr marL="0" indent="0">
              <a:buNone/>
            </a:pPr>
            <a:r>
              <a:rPr lang="en-US" sz="950" dirty="0">
                <a:solidFill>
                  <a:srgbClr val="2ECC71"/>
                </a:solidFill>
                <a:latin typeface="Calibri" pitchFamily="34" charset="0"/>
                <a:ea typeface="Calibri" pitchFamily="34" charset="-122"/>
                <a:cs typeface="Calibri" pitchFamily="34" charset="-120"/>
              </a:rPr>
              <a:t>✅ 6-Language i18n</a:t>
            </a:r>
            <a:endParaRPr lang="en-US" sz="950" dirty="0"/>
          </a:p>
        </p:txBody>
      </p:sp>
      <p:sp>
        <p:nvSpPr>
          <p:cNvPr id="26" name="Text 24"/>
          <p:cNvSpPr/>
          <p:nvPr/>
        </p:nvSpPr>
        <p:spPr>
          <a:xfrm>
            <a:off x="8412480" y="3291840"/>
            <a:ext cx="3383280" cy="347472"/>
          </a:xfrm>
          <a:prstGeom prst="rect">
            <a:avLst/>
          </a:prstGeom>
          <a:noFill/>
          <a:ln/>
        </p:spPr>
        <p:txBody>
          <a:bodyPr wrap="square" rtlCol="0" anchor="ctr"/>
          <a:lstStyle/>
          <a:p>
            <a:pPr marL="0" indent="0">
              <a:buNone/>
            </a:pPr>
            <a:r>
              <a:rPr lang="en-US" sz="950" dirty="0">
                <a:solidFill>
                  <a:srgbClr val="2ECC71"/>
                </a:solidFill>
                <a:latin typeface="Calibri" pitchFamily="34" charset="0"/>
                <a:ea typeface="Calibri" pitchFamily="34" charset="-122"/>
                <a:cs typeface="Calibri" pitchFamily="34" charset="-120"/>
              </a:rPr>
              <a:t>✅ WhatIf Simulator</a:t>
            </a:r>
            <a:endParaRPr lang="en-US" sz="950" dirty="0"/>
          </a:p>
        </p:txBody>
      </p:sp>
      <p:sp>
        <p:nvSpPr>
          <p:cNvPr id="27" name="Text 25"/>
          <p:cNvSpPr/>
          <p:nvPr/>
        </p:nvSpPr>
        <p:spPr>
          <a:xfrm>
            <a:off x="8412480" y="3675888"/>
            <a:ext cx="3383280" cy="347472"/>
          </a:xfrm>
          <a:prstGeom prst="rect">
            <a:avLst/>
          </a:prstGeom>
          <a:noFill/>
          <a:ln/>
        </p:spPr>
        <p:txBody>
          <a:bodyPr wrap="square" rtlCol="0" anchor="ctr"/>
          <a:lstStyle/>
          <a:p>
            <a:pPr marL="0" indent="0">
              <a:buNone/>
            </a:pPr>
            <a:r>
              <a:rPr lang="en-US" sz="950" dirty="0">
                <a:solidFill>
                  <a:srgbClr val="2ECC71"/>
                </a:solidFill>
                <a:latin typeface="Calibri" pitchFamily="34" charset="0"/>
                <a:ea typeface="Calibri" pitchFamily="34" charset="-122"/>
                <a:cs typeface="Calibri" pitchFamily="34" charset="-120"/>
              </a:rPr>
              <a:t>✅ Gemini AI Advisory</a:t>
            </a:r>
            <a:endParaRPr lang="en-US" sz="950" dirty="0"/>
          </a:p>
        </p:txBody>
      </p:sp>
      <p:sp>
        <p:nvSpPr>
          <p:cNvPr id="28" name="Text 26"/>
          <p:cNvSpPr/>
          <p:nvPr/>
        </p:nvSpPr>
        <p:spPr>
          <a:xfrm>
            <a:off x="8412480" y="4059936"/>
            <a:ext cx="3383280" cy="347472"/>
          </a:xfrm>
          <a:prstGeom prst="rect">
            <a:avLst/>
          </a:prstGeom>
          <a:noFill/>
          <a:ln/>
        </p:spPr>
        <p:txBody>
          <a:bodyPr wrap="square" rtlCol="0" anchor="ctr"/>
          <a:lstStyle/>
          <a:p>
            <a:pPr marL="0" indent="0">
              <a:buNone/>
            </a:pPr>
            <a:r>
              <a:rPr lang="en-US" sz="950" dirty="0">
                <a:solidFill>
                  <a:srgbClr val="2ECC71"/>
                </a:solidFill>
                <a:latin typeface="Calibri" pitchFamily="34" charset="0"/>
                <a:ea typeface="Calibri" pitchFamily="34" charset="-122"/>
                <a:cs typeface="Calibri" pitchFamily="34" charset="-120"/>
              </a:rPr>
              <a:t>✅ Government Schemes DB</a:t>
            </a:r>
            <a:endParaRPr lang="en-US" sz="950" dirty="0"/>
          </a:p>
        </p:txBody>
      </p:sp>
      <p:sp>
        <p:nvSpPr>
          <p:cNvPr id="29" name="Text 27"/>
          <p:cNvSpPr/>
          <p:nvPr/>
        </p:nvSpPr>
        <p:spPr>
          <a:xfrm>
            <a:off x="8412480" y="4443984"/>
            <a:ext cx="3383280" cy="347472"/>
          </a:xfrm>
          <a:prstGeom prst="rect">
            <a:avLst/>
          </a:prstGeom>
          <a:noFill/>
          <a:ln/>
        </p:spPr>
        <p:txBody>
          <a:bodyPr wrap="square" rtlCol="0" anchor="ctr"/>
          <a:lstStyle/>
          <a:p>
            <a:pPr marL="0" indent="0">
              <a:buNone/>
            </a:pPr>
            <a:r>
              <a:rPr lang="en-US" sz="950" dirty="0">
                <a:solidFill>
                  <a:srgbClr val="2ECC71"/>
                </a:solidFill>
                <a:latin typeface="Calibri" pitchFamily="34" charset="0"/>
                <a:ea typeface="Calibri" pitchFamily="34" charset="-122"/>
                <a:cs typeface="Calibri" pitchFamily="34" charset="-120"/>
              </a:rPr>
              <a:t>✅ PDF Report Export</a:t>
            </a:r>
            <a:endParaRPr lang="en-US" sz="950" dirty="0"/>
          </a:p>
        </p:txBody>
      </p:sp>
      <p:sp>
        <p:nvSpPr>
          <p:cNvPr id="30" name="Text 28"/>
          <p:cNvSpPr/>
          <p:nvPr/>
        </p:nvSpPr>
        <p:spPr>
          <a:xfrm>
            <a:off x="8412480" y="4828032"/>
            <a:ext cx="3383280" cy="347472"/>
          </a:xfrm>
          <a:prstGeom prst="rect">
            <a:avLst/>
          </a:prstGeom>
          <a:noFill/>
          <a:ln/>
        </p:spPr>
        <p:txBody>
          <a:bodyPr wrap="square" rtlCol="0" anchor="ctr"/>
          <a:lstStyle/>
          <a:p>
            <a:pPr marL="0" indent="0">
              <a:buNone/>
            </a:pPr>
            <a:r>
              <a:rPr lang="en-US" sz="950" dirty="0">
                <a:solidFill>
                  <a:srgbClr val="F0C040"/>
                </a:solidFill>
                <a:latin typeface="Calibri" pitchFamily="34" charset="0"/>
                <a:ea typeface="Calibri" pitchFamily="34" charset="-122"/>
                <a:cs typeface="Calibri" pitchFamily="34" charset="-120"/>
              </a:rPr>
              <a:t>🔧 IoT Live Sensor Feed</a:t>
            </a:r>
            <a:endParaRPr lang="en-US" sz="950" dirty="0"/>
          </a:p>
        </p:txBody>
      </p:sp>
      <p:sp>
        <p:nvSpPr>
          <p:cNvPr id="31" name="Text 29"/>
          <p:cNvSpPr/>
          <p:nvPr/>
        </p:nvSpPr>
        <p:spPr>
          <a:xfrm>
            <a:off x="8412480" y="5212080"/>
            <a:ext cx="3383280" cy="347472"/>
          </a:xfrm>
          <a:prstGeom prst="rect">
            <a:avLst/>
          </a:prstGeom>
          <a:noFill/>
          <a:ln/>
        </p:spPr>
        <p:txBody>
          <a:bodyPr wrap="square" rtlCol="0" anchor="ctr"/>
          <a:lstStyle/>
          <a:p>
            <a:pPr marL="0" indent="0">
              <a:buNone/>
            </a:pPr>
            <a:r>
              <a:rPr lang="en-US" sz="950" dirty="0">
                <a:solidFill>
                  <a:srgbClr val="F0C040"/>
                </a:solidFill>
                <a:latin typeface="Calibri" pitchFamily="34" charset="0"/>
                <a:ea typeface="Calibri" pitchFamily="34" charset="-122"/>
                <a:cs typeface="Calibri" pitchFamily="34" charset="-120"/>
              </a:rPr>
              <a:t>🔧 Satellite NDVI Overlay</a:t>
            </a:r>
            <a:endParaRPr lang="en-US" sz="950" dirty="0"/>
          </a:p>
        </p:txBody>
      </p:sp>
      <p:sp>
        <p:nvSpPr>
          <p:cNvPr id="32" name="Shape 30"/>
          <p:cNvSpPr/>
          <p:nvPr/>
        </p:nvSpPr>
        <p:spPr>
          <a:xfrm>
            <a:off x="0" y="6309360"/>
            <a:ext cx="12188952" cy="548640"/>
          </a:xfrm>
          <a:prstGeom prst="rect">
            <a:avLst/>
          </a:prstGeom>
          <a:solidFill>
            <a:srgbClr val="1A3A2A"/>
          </a:solidFill>
          <a:ln/>
        </p:spPr>
      </p:sp>
      <p:sp>
        <p:nvSpPr>
          <p:cNvPr id="33" name="Text 31"/>
          <p:cNvSpPr/>
          <p:nvPr/>
        </p:nvSpPr>
        <p:spPr>
          <a:xfrm>
            <a:off x="0" y="6309360"/>
            <a:ext cx="12188952" cy="548640"/>
          </a:xfrm>
          <a:prstGeom prst="rect">
            <a:avLst/>
          </a:prstGeom>
          <a:noFill/>
          <a:ln/>
        </p:spPr>
        <p:txBody>
          <a:bodyPr wrap="square" rtlCol="0" anchor="ctr"/>
          <a:lstStyle/>
          <a:p>
            <a:pPr marL="0" indent="0" algn="ctr">
              <a:buNone/>
            </a:pPr>
            <a:r>
              <a:rPr lang="en-US" sz="1200" dirty="0">
                <a:solidFill>
                  <a:srgbClr val="00B4D8"/>
                </a:solidFill>
                <a:latin typeface="Calibri" pitchFamily="34" charset="0"/>
                <a:ea typeface="Calibri" pitchFamily="34" charset="-122"/>
                <a:cs typeface="Calibri" pitchFamily="34" charset="-120"/>
              </a:rPr>
              <a:t>🌐 nimirndhunil.vercel.app  |  GitHub: github.com/threesshad-cpu/agri-neural-twin  |  Status: ✅ LIVE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A0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0C040"/>
          </a:solidFill>
          <a:ln/>
        </p:spPr>
      </p:sp>
      <p:sp>
        <p:nvSpPr>
          <p:cNvPr id="3" name="Text 1"/>
          <p:cNvSpPr/>
          <p:nvPr/>
        </p:nvSpPr>
        <p:spPr>
          <a:xfrm>
            <a:off x="457200" y="182880"/>
            <a:ext cx="7315200" cy="548640"/>
          </a:xfrm>
          <a:prstGeom prst="rect">
            <a:avLst/>
          </a:prstGeom>
          <a:noFill/>
          <a:ln/>
          <a:effectLst>
            <a:outerShdw blurRad="101600" dist="38100" dir="2700000" algn="bl" rotWithShape="0">
              <a:srgbClr val="000000">
                <a:alpha val="40000"/>
              </a:srgbClr>
            </a:outerShdw>
          </a:effectLst>
        </p:spPr>
        <p:txBody>
          <a:bodyPr wrap="square" rtlCol="0" anchor="ctr"/>
          <a:lstStyle/>
          <a:p>
            <a:pPr marL="0" indent="0">
              <a:buNone/>
            </a:pPr>
            <a:r>
              <a:rPr lang="en-US" sz="3400" b="1" dirty="0">
                <a:solidFill>
                  <a:srgbClr val="F0C040"/>
                </a:solidFill>
                <a:latin typeface="Trebuchet MS" pitchFamily="34" charset="0"/>
                <a:ea typeface="Trebuchet MS" pitchFamily="34" charset="-122"/>
                <a:cs typeface="Trebuchet MS" pitchFamily="34" charset="-120"/>
              </a:rPr>
              <a:t>REVENUE MODEL</a:t>
            </a:r>
            <a:endParaRPr lang="en-US" sz="3400" dirty="0"/>
          </a:p>
        </p:txBody>
      </p:sp>
      <p:sp>
        <p:nvSpPr>
          <p:cNvPr id="4" name="Text 2"/>
          <p:cNvSpPr/>
          <p:nvPr/>
        </p:nvSpPr>
        <p:spPr>
          <a:xfrm>
            <a:off x="457200" y="749808"/>
            <a:ext cx="9144000" cy="320040"/>
          </a:xfrm>
          <a:prstGeom prst="rect">
            <a:avLst/>
          </a:prstGeom>
          <a:noFill/>
          <a:ln/>
        </p:spPr>
        <p:txBody>
          <a:bodyPr wrap="square" rtlCol="0" anchor="ctr"/>
          <a:lstStyle/>
          <a:p>
            <a:pPr marL="0" indent="0">
              <a:buNone/>
            </a:pPr>
            <a:r>
              <a:rPr lang="en-US" sz="1400" i="1" dirty="0">
                <a:solidFill>
                  <a:srgbClr val="8AB89A"/>
                </a:solidFill>
                <a:latin typeface="Calibri" pitchFamily="34" charset="0"/>
                <a:ea typeface="Calibri" pitchFamily="34" charset="-122"/>
                <a:cs typeface="Calibri" pitchFamily="34" charset="-120"/>
              </a:rPr>
              <a:t>Sustainable SaaS + Data-as-a-Service + B2G Strategy</a:t>
            </a:r>
            <a:endParaRPr lang="en-US" sz="1400" dirty="0"/>
          </a:p>
        </p:txBody>
      </p:sp>
      <p:sp>
        <p:nvSpPr>
          <p:cNvPr id="5" name="Shape 3"/>
          <p:cNvSpPr/>
          <p:nvPr/>
        </p:nvSpPr>
        <p:spPr>
          <a:xfrm>
            <a:off x="365760" y="1188720"/>
            <a:ext cx="3657600" cy="4389120"/>
          </a:xfrm>
          <a:prstGeom prst="rect">
            <a:avLst/>
          </a:prstGeom>
          <a:solidFill>
            <a:srgbClr val="1A3A2A"/>
          </a:solidFill>
          <a:ln/>
          <a:effectLst>
            <a:outerShdw blurRad="101600" dist="38100" dir="2700000" algn="bl" rotWithShape="0">
              <a:srgbClr val="000000">
                <a:alpha val="40000"/>
              </a:srgbClr>
            </a:outerShdw>
          </a:effectLst>
        </p:spPr>
      </p:sp>
      <p:sp>
        <p:nvSpPr>
          <p:cNvPr id="6" name="Shape 4"/>
          <p:cNvSpPr/>
          <p:nvPr/>
        </p:nvSpPr>
        <p:spPr>
          <a:xfrm>
            <a:off x="365760" y="1188720"/>
            <a:ext cx="3657600" cy="914400"/>
          </a:xfrm>
          <a:prstGeom prst="rect">
            <a:avLst/>
          </a:prstGeom>
          <a:solidFill>
            <a:srgbClr val="2ECC71"/>
          </a:solidFill>
          <a:ln/>
        </p:spPr>
      </p:sp>
      <p:sp>
        <p:nvSpPr>
          <p:cNvPr id="7" name="Text 5"/>
          <p:cNvSpPr/>
          <p:nvPr/>
        </p:nvSpPr>
        <p:spPr>
          <a:xfrm>
            <a:off x="365760" y="1188720"/>
            <a:ext cx="3657600" cy="914400"/>
          </a:xfrm>
          <a:prstGeom prst="rect">
            <a:avLst/>
          </a:prstGeom>
          <a:noFill/>
          <a:ln/>
        </p:spPr>
        <p:txBody>
          <a:bodyPr wrap="square" rtlCol="0" anchor="ctr"/>
          <a:lstStyle/>
          <a:p>
            <a:pPr marL="0" indent="0" algn="ctr">
              <a:buNone/>
            </a:pPr>
            <a:r>
              <a:rPr lang="en-US" sz="1200" b="1" dirty="0">
                <a:solidFill>
                  <a:srgbClr val="061008"/>
                </a:solidFill>
                <a:latin typeface="Trebuchet MS" pitchFamily="34" charset="0"/>
                <a:ea typeface="Trebuchet MS" pitchFamily="34" charset="-122"/>
                <a:cs typeface="Trebuchet MS" pitchFamily="34" charset="-120"/>
              </a:rPr>
              <a:t>🌱 SUBSCRIPTION</a:t>
            </a:r>
            <a:endParaRPr lang="en-US" sz="1200" dirty="0"/>
          </a:p>
          <a:p>
            <a:pPr marL="0" indent="0" algn="ctr">
              <a:buNone/>
            </a:pPr>
            <a:r>
              <a:rPr lang="en-US" sz="1200" b="1" dirty="0">
                <a:solidFill>
                  <a:srgbClr val="061008"/>
                </a:solidFill>
                <a:latin typeface="Trebuchet MS" pitchFamily="34" charset="0"/>
                <a:ea typeface="Trebuchet MS" pitchFamily="34" charset="-122"/>
                <a:cs typeface="Trebuchet MS" pitchFamily="34" charset="-120"/>
              </a:rPr>
              <a:t>Farmer SaaS</a:t>
            </a:r>
            <a:endParaRPr lang="en-US" sz="1200" dirty="0"/>
          </a:p>
        </p:txBody>
      </p:sp>
      <p:sp>
        <p:nvSpPr>
          <p:cNvPr id="8" name="Shape 6"/>
          <p:cNvSpPr/>
          <p:nvPr/>
        </p:nvSpPr>
        <p:spPr>
          <a:xfrm>
            <a:off x="1463040" y="2331720"/>
            <a:ext cx="1463040" cy="548640"/>
          </a:xfrm>
          <a:prstGeom prst="ellipse">
            <a:avLst/>
          </a:prstGeom>
          <a:solidFill>
            <a:srgbClr val="061008"/>
          </a:solidFill>
          <a:ln/>
        </p:spPr>
      </p:sp>
      <p:sp>
        <p:nvSpPr>
          <p:cNvPr id="9" name="Text 7"/>
          <p:cNvSpPr/>
          <p:nvPr/>
        </p:nvSpPr>
        <p:spPr>
          <a:xfrm>
            <a:off x="1463040" y="2331720"/>
            <a:ext cx="1463040" cy="548640"/>
          </a:xfrm>
          <a:prstGeom prst="rect">
            <a:avLst/>
          </a:prstGeom>
          <a:noFill/>
          <a:ln/>
        </p:spPr>
        <p:txBody>
          <a:bodyPr wrap="square" rtlCol="0" anchor="ctr"/>
          <a:lstStyle/>
          <a:p>
            <a:pPr marL="0" indent="0" algn="ctr">
              <a:buNone/>
            </a:pPr>
            <a:r>
              <a:rPr lang="en-US" sz="1000" b="1" dirty="0">
                <a:solidFill>
                  <a:srgbClr val="2ECC71"/>
                </a:solidFill>
                <a:latin typeface="Trebuchet MS" pitchFamily="34" charset="0"/>
                <a:ea typeface="Trebuchet MS" pitchFamily="34" charset="-122"/>
                <a:cs typeface="Trebuchet MS" pitchFamily="34" charset="-120"/>
              </a:rPr>
              <a:t>₹0 / ₹199 / mo</a:t>
            </a:r>
            <a:endParaRPr lang="en-US" sz="1000" dirty="0"/>
          </a:p>
        </p:txBody>
      </p:sp>
      <p:sp>
        <p:nvSpPr>
          <p:cNvPr id="10" name="Text 8"/>
          <p:cNvSpPr/>
          <p:nvPr/>
        </p:nvSpPr>
        <p:spPr>
          <a:xfrm>
            <a:off x="502920" y="3017520"/>
            <a:ext cx="3383280" cy="4114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Free tier: Basic dashboard</a:t>
            </a:r>
            <a:endParaRPr lang="en-US" sz="1000" dirty="0"/>
          </a:p>
        </p:txBody>
      </p:sp>
      <p:sp>
        <p:nvSpPr>
          <p:cNvPr id="11" name="Text 9"/>
          <p:cNvSpPr/>
          <p:nvPr/>
        </p:nvSpPr>
        <p:spPr>
          <a:xfrm>
            <a:off x="502920" y="3474720"/>
            <a:ext cx="3383280" cy="4114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Pro: AI advisory + reports</a:t>
            </a:r>
            <a:endParaRPr lang="en-US" sz="1000" dirty="0"/>
          </a:p>
        </p:txBody>
      </p:sp>
      <p:sp>
        <p:nvSpPr>
          <p:cNvPr id="12" name="Text 10"/>
          <p:cNvSpPr/>
          <p:nvPr/>
        </p:nvSpPr>
        <p:spPr>
          <a:xfrm>
            <a:off x="502920" y="3931920"/>
            <a:ext cx="3383280" cy="4114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FPO Plan: ₹2,999/mo</a:t>
            </a:r>
            <a:endParaRPr lang="en-US" sz="1000" dirty="0"/>
          </a:p>
        </p:txBody>
      </p:sp>
      <p:sp>
        <p:nvSpPr>
          <p:cNvPr id="13" name="Text 11"/>
          <p:cNvSpPr/>
          <p:nvPr/>
        </p:nvSpPr>
        <p:spPr>
          <a:xfrm>
            <a:off x="502920" y="4389120"/>
            <a:ext cx="3383280" cy="4114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10,000 farmer target Y1</a:t>
            </a:r>
            <a:endParaRPr lang="en-US" sz="1000" dirty="0"/>
          </a:p>
        </p:txBody>
      </p:sp>
      <p:sp>
        <p:nvSpPr>
          <p:cNvPr id="14" name="Text 12"/>
          <p:cNvSpPr/>
          <p:nvPr/>
        </p:nvSpPr>
        <p:spPr>
          <a:xfrm>
            <a:off x="502920" y="4846320"/>
            <a:ext cx="3383280" cy="4114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WhatsApp integration</a:t>
            </a:r>
            <a:endParaRPr lang="en-US" sz="1000" dirty="0"/>
          </a:p>
        </p:txBody>
      </p:sp>
      <p:sp>
        <p:nvSpPr>
          <p:cNvPr id="15" name="Shape 13"/>
          <p:cNvSpPr/>
          <p:nvPr/>
        </p:nvSpPr>
        <p:spPr>
          <a:xfrm>
            <a:off x="4251960" y="1188720"/>
            <a:ext cx="3657600" cy="4389120"/>
          </a:xfrm>
          <a:prstGeom prst="rect">
            <a:avLst/>
          </a:prstGeom>
          <a:solidFill>
            <a:srgbClr val="1A3A2A"/>
          </a:solidFill>
          <a:ln/>
          <a:effectLst>
            <a:outerShdw blurRad="101600" dist="38100" dir="2700000" algn="bl" rotWithShape="0">
              <a:srgbClr val="000000">
                <a:alpha val="40000"/>
              </a:srgbClr>
            </a:outerShdw>
          </a:effectLst>
        </p:spPr>
      </p:sp>
      <p:sp>
        <p:nvSpPr>
          <p:cNvPr id="16" name="Shape 14"/>
          <p:cNvSpPr/>
          <p:nvPr/>
        </p:nvSpPr>
        <p:spPr>
          <a:xfrm>
            <a:off x="4251960" y="1188720"/>
            <a:ext cx="3657600" cy="914400"/>
          </a:xfrm>
          <a:prstGeom prst="rect">
            <a:avLst/>
          </a:prstGeom>
          <a:solidFill>
            <a:srgbClr val="00B4D8"/>
          </a:solidFill>
          <a:ln/>
        </p:spPr>
      </p:sp>
      <p:sp>
        <p:nvSpPr>
          <p:cNvPr id="17" name="Text 15"/>
          <p:cNvSpPr/>
          <p:nvPr/>
        </p:nvSpPr>
        <p:spPr>
          <a:xfrm>
            <a:off x="4251960" y="1188720"/>
            <a:ext cx="3657600" cy="914400"/>
          </a:xfrm>
          <a:prstGeom prst="rect">
            <a:avLst/>
          </a:prstGeom>
          <a:noFill/>
          <a:ln/>
        </p:spPr>
        <p:txBody>
          <a:bodyPr wrap="square" rtlCol="0" anchor="ctr"/>
          <a:lstStyle/>
          <a:p>
            <a:pPr marL="0" indent="0" algn="ctr">
              <a:buNone/>
            </a:pPr>
            <a:r>
              <a:rPr lang="en-US" sz="1200" b="1" dirty="0">
                <a:solidFill>
                  <a:srgbClr val="061008"/>
                </a:solidFill>
                <a:latin typeface="Trebuchet MS" pitchFamily="34" charset="0"/>
                <a:ea typeface="Trebuchet MS" pitchFamily="34" charset="-122"/>
                <a:cs typeface="Trebuchet MS" pitchFamily="34" charset="-120"/>
              </a:rPr>
              <a:t>📊 DATA-as-a-SERVICE</a:t>
            </a:r>
            <a:endParaRPr lang="en-US" sz="1200" dirty="0"/>
          </a:p>
          <a:p>
            <a:pPr marL="0" indent="0" algn="ctr">
              <a:buNone/>
            </a:pPr>
            <a:r>
              <a:rPr lang="en-US" sz="1200" b="1" dirty="0">
                <a:solidFill>
                  <a:srgbClr val="061008"/>
                </a:solidFill>
                <a:latin typeface="Trebuchet MS" pitchFamily="34" charset="0"/>
                <a:ea typeface="Trebuchet MS" pitchFamily="34" charset="-122"/>
                <a:cs typeface="Trebuchet MS" pitchFamily="34" charset="-120"/>
              </a:rPr>
              <a:t>DaaS B2B</a:t>
            </a:r>
            <a:endParaRPr lang="en-US" sz="1200" dirty="0"/>
          </a:p>
        </p:txBody>
      </p:sp>
      <p:sp>
        <p:nvSpPr>
          <p:cNvPr id="18" name="Shape 16"/>
          <p:cNvSpPr/>
          <p:nvPr/>
        </p:nvSpPr>
        <p:spPr>
          <a:xfrm>
            <a:off x="5349240" y="2331720"/>
            <a:ext cx="1463040" cy="548640"/>
          </a:xfrm>
          <a:prstGeom prst="ellipse">
            <a:avLst/>
          </a:prstGeom>
          <a:solidFill>
            <a:srgbClr val="061008"/>
          </a:solidFill>
          <a:ln/>
        </p:spPr>
      </p:sp>
      <p:sp>
        <p:nvSpPr>
          <p:cNvPr id="19" name="Text 17"/>
          <p:cNvSpPr/>
          <p:nvPr/>
        </p:nvSpPr>
        <p:spPr>
          <a:xfrm>
            <a:off x="5349240" y="2331720"/>
            <a:ext cx="1463040" cy="548640"/>
          </a:xfrm>
          <a:prstGeom prst="rect">
            <a:avLst/>
          </a:prstGeom>
          <a:noFill/>
          <a:ln/>
        </p:spPr>
        <p:txBody>
          <a:bodyPr wrap="square" rtlCol="0" anchor="ctr"/>
          <a:lstStyle/>
          <a:p>
            <a:pPr marL="0" indent="0" algn="ctr">
              <a:buNone/>
            </a:pPr>
            <a:r>
              <a:rPr lang="en-US" sz="1000" b="1" dirty="0">
                <a:solidFill>
                  <a:srgbClr val="00B4D8"/>
                </a:solidFill>
                <a:latin typeface="Trebuchet MS" pitchFamily="34" charset="0"/>
                <a:ea typeface="Trebuchet MS" pitchFamily="34" charset="-122"/>
                <a:cs typeface="Trebuchet MS" pitchFamily="34" charset="-120"/>
              </a:rPr>
              <a:t>₹5–15L / year</a:t>
            </a:r>
            <a:endParaRPr lang="en-US" sz="1000" dirty="0"/>
          </a:p>
        </p:txBody>
      </p:sp>
      <p:sp>
        <p:nvSpPr>
          <p:cNvPr id="20" name="Text 18"/>
          <p:cNvSpPr/>
          <p:nvPr/>
        </p:nvSpPr>
        <p:spPr>
          <a:xfrm>
            <a:off x="4389120" y="3017520"/>
            <a:ext cx="3383280" cy="4114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Anonymized crop analytics</a:t>
            </a:r>
            <a:endParaRPr lang="en-US" sz="1000" dirty="0"/>
          </a:p>
        </p:txBody>
      </p:sp>
      <p:sp>
        <p:nvSpPr>
          <p:cNvPr id="21" name="Text 19"/>
          <p:cNvSpPr/>
          <p:nvPr/>
        </p:nvSpPr>
        <p:spPr>
          <a:xfrm>
            <a:off x="4389120" y="3474720"/>
            <a:ext cx="3383280" cy="4114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Insurance companies (risk)</a:t>
            </a:r>
            <a:endParaRPr lang="en-US" sz="1000" dirty="0"/>
          </a:p>
        </p:txBody>
      </p:sp>
      <p:sp>
        <p:nvSpPr>
          <p:cNvPr id="22" name="Text 20"/>
          <p:cNvSpPr/>
          <p:nvPr/>
        </p:nvSpPr>
        <p:spPr>
          <a:xfrm>
            <a:off x="4389120" y="3931920"/>
            <a:ext cx="3383280" cy="4114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Input dealers (seed/fert)</a:t>
            </a:r>
            <a:endParaRPr lang="en-US" sz="1000" dirty="0"/>
          </a:p>
        </p:txBody>
      </p:sp>
      <p:sp>
        <p:nvSpPr>
          <p:cNvPr id="23" name="Text 21"/>
          <p:cNvSpPr/>
          <p:nvPr/>
        </p:nvSpPr>
        <p:spPr>
          <a:xfrm>
            <a:off x="4389120" y="4389120"/>
            <a:ext cx="3383280" cy="4114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Agri-fintech lenders</a:t>
            </a:r>
            <a:endParaRPr lang="en-US" sz="1000" dirty="0"/>
          </a:p>
        </p:txBody>
      </p:sp>
      <p:sp>
        <p:nvSpPr>
          <p:cNvPr id="24" name="Text 22"/>
          <p:cNvSpPr/>
          <p:nvPr/>
        </p:nvSpPr>
        <p:spPr>
          <a:xfrm>
            <a:off x="4389120" y="4846320"/>
            <a:ext cx="3383280" cy="4114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NGOs + Research orgs</a:t>
            </a:r>
            <a:endParaRPr lang="en-US" sz="1000" dirty="0"/>
          </a:p>
        </p:txBody>
      </p:sp>
      <p:sp>
        <p:nvSpPr>
          <p:cNvPr id="25" name="Shape 23"/>
          <p:cNvSpPr/>
          <p:nvPr/>
        </p:nvSpPr>
        <p:spPr>
          <a:xfrm>
            <a:off x="8138160" y="1188720"/>
            <a:ext cx="3657600" cy="4389120"/>
          </a:xfrm>
          <a:prstGeom prst="rect">
            <a:avLst/>
          </a:prstGeom>
          <a:solidFill>
            <a:srgbClr val="1A3A2A"/>
          </a:solidFill>
          <a:ln/>
          <a:effectLst>
            <a:outerShdw blurRad="101600" dist="38100" dir="2700000" algn="bl" rotWithShape="0">
              <a:srgbClr val="000000">
                <a:alpha val="40000"/>
              </a:srgbClr>
            </a:outerShdw>
          </a:effectLst>
        </p:spPr>
      </p:sp>
      <p:sp>
        <p:nvSpPr>
          <p:cNvPr id="26" name="Shape 24"/>
          <p:cNvSpPr/>
          <p:nvPr/>
        </p:nvSpPr>
        <p:spPr>
          <a:xfrm>
            <a:off x="8138160" y="1188720"/>
            <a:ext cx="3657600" cy="914400"/>
          </a:xfrm>
          <a:prstGeom prst="rect">
            <a:avLst/>
          </a:prstGeom>
          <a:solidFill>
            <a:srgbClr val="7B2FBE"/>
          </a:solidFill>
          <a:ln/>
        </p:spPr>
      </p:sp>
      <p:sp>
        <p:nvSpPr>
          <p:cNvPr id="27" name="Text 25"/>
          <p:cNvSpPr/>
          <p:nvPr/>
        </p:nvSpPr>
        <p:spPr>
          <a:xfrm>
            <a:off x="8138160" y="1188720"/>
            <a:ext cx="3657600" cy="914400"/>
          </a:xfrm>
          <a:prstGeom prst="rect">
            <a:avLst/>
          </a:prstGeom>
          <a:noFill/>
          <a:ln/>
        </p:spPr>
        <p:txBody>
          <a:bodyPr wrap="square" rtlCol="0" anchor="ctr"/>
          <a:lstStyle/>
          <a:p>
            <a:pPr marL="0" indent="0" algn="ctr">
              <a:buNone/>
            </a:pPr>
            <a:r>
              <a:rPr lang="en-US" sz="1200" b="1" dirty="0">
                <a:solidFill>
                  <a:srgbClr val="061008"/>
                </a:solidFill>
                <a:latin typeface="Trebuchet MS" pitchFamily="34" charset="0"/>
                <a:ea typeface="Trebuchet MS" pitchFamily="34" charset="-122"/>
                <a:cs typeface="Trebuchet MS" pitchFamily="34" charset="-120"/>
              </a:rPr>
              <a:t>🏛️ GOVT CONTRACTS</a:t>
            </a:r>
            <a:endParaRPr lang="en-US" sz="1200" dirty="0"/>
          </a:p>
          <a:p>
            <a:pPr marL="0" indent="0" algn="ctr">
              <a:buNone/>
            </a:pPr>
            <a:r>
              <a:rPr lang="en-US" sz="1200" b="1" dirty="0">
                <a:solidFill>
                  <a:srgbClr val="061008"/>
                </a:solidFill>
                <a:latin typeface="Trebuchet MS" pitchFamily="34" charset="0"/>
                <a:ea typeface="Trebuchet MS" pitchFamily="34" charset="-122"/>
                <a:cs typeface="Trebuchet MS" pitchFamily="34" charset="-120"/>
              </a:rPr>
              <a:t>B2G</a:t>
            </a:r>
            <a:endParaRPr lang="en-US" sz="1200" dirty="0"/>
          </a:p>
        </p:txBody>
      </p:sp>
      <p:sp>
        <p:nvSpPr>
          <p:cNvPr id="28" name="Shape 26"/>
          <p:cNvSpPr/>
          <p:nvPr/>
        </p:nvSpPr>
        <p:spPr>
          <a:xfrm>
            <a:off x="9235440" y="2331720"/>
            <a:ext cx="1463040" cy="548640"/>
          </a:xfrm>
          <a:prstGeom prst="ellipse">
            <a:avLst/>
          </a:prstGeom>
          <a:solidFill>
            <a:srgbClr val="061008"/>
          </a:solidFill>
          <a:ln/>
        </p:spPr>
      </p:sp>
      <p:sp>
        <p:nvSpPr>
          <p:cNvPr id="29" name="Text 27"/>
          <p:cNvSpPr/>
          <p:nvPr/>
        </p:nvSpPr>
        <p:spPr>
          <a:xfrm>
            <a:off x="9235440" y="2331720"/>
            <a:ext cx="1463040" cy="548640"/>
          </a:xfrm>
          <a:prstGeom prst="rect">
            <a:avLst/>
          </a:prstGeom>
          <a:noFill/>
          <a:ln/>
        </p:spPr>
        <p:txBody>
          <a:bodyPr wrap="square" rtlCol="0" anchor="ctr"/>
          <a:lstStyle/>
          <a:p>
            <a:pPr marL="0" indent="0" algn="ctr">
              <a:buNone/>
            </a:pPr>
            <a:r>
              <a:rPr lang="en-US" sz="1000" b="1" dirty="0">
                <a:solidFill>
                  <a:srgbClr val="7B2FBE"/>
                </a:solidFill>
                <a:latin typeface="Trebuchet MS" pitchFamily="34" charset="0"/>
                <a:ea typeface="Trebuchet MS" pitchFamily="34" charset="-122"/>
                <a:cs typeface="Trebuchet MS" pitchFamily="34" charset="-120"/>
              </a:rPr>
              <a:t>₹25–50L / yr</a:t>
            </a:r>
            <a:endParaRPr lang="en-US" sz="1000" dirty="0"/>
          </a:p>
        </p:txBody>
      </p:sp>
      <p:sp>
        <p:nvSpPr>
          <p:cNvPr id="30" name="Text 28"/>
          <p:cNvSpPr/>
          <p:nvPr/>
        </p:nvSpPr>
        <p:spPr>
          <a:xfrm>
            <a:off x="8275320" y="3017520"/>
            <a:ext cx="3383280" cy="4114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TN Agri Dept dashboard</a:t>
            </a:r>
            <a:endParaRPr lang="en-US" sz="1000" dirty="0"/>
          </a:p>
        </p:txBody>
      </p:sp>
      <p:sp>
        <p:nvSpPr>
          <p:cNvPr id="31" name="Text 29"/>
          <p:cNvSpPr/>
          <p:nvPr/>
        </p:nvSpPr>
        <p:spPr>
          <a:xfrm>
            <a:off x="8275320" y="3474720"/>
            <a:ext cx="3383280" cy="4114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District Collector view</a:t>
            </a:r>
            <a:endParaRPr lang="en-US" sz="1000" dirty="0"/>
          </a:p>
        </p:txBody>
      </p:sp>
      <p:sp>
        <p:nvSpPr>
          <p:cNvPr id="32" name="Text 30"/>
          <p:cNvSpPr/>
          <p:nvPr/>
        </p:nvSpPr>
        <p:spPr>
          <a:xfrm>
            <a:off x="8275320" y="3931920"/>
            <a:ext cx="3383280" cy="4114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TNAU data partnership</a:t>
            </a:r>
            <a:endParaRPr lang="en-US" sz="1000" dirty="0"/>
          </a:p>
        </p:txBody>
      </p:sp>
      <p:sp>
        <p:nvSpPr>
          <p:cNvPr id="33" name="Text 31"/>
          <p:cNvSpPr/>
          <p:nvPr/>
        </p:nvSpPr>
        <p:spPr>
          <a:xfrm>
            <a:off x="8275320" y="4389120"/>
            <a:ext cx="3383280" cy="4114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NABARD yield reports</a:t>
            </a:r>
            <a:endParaRPr lang="en-US" sz="1000" dirty="0"/>
          </a:p>
        </p:txBody>
      </p:sp>
      <p:sp>
        <p:nvSpPr>
          <p:cNvPr id="34" name="Text 32"/>
          <p:cNvSpPr/>
          <p:nvPr/>
        </p:nvSpPr>
        <p:spPr>
          <a:xfrm>
            <a:off x="8275320" y="4846320"/>
            <a:ext cx="3383280" cy="4114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Policy simulation tools</a:t>
            </a:r>
            <a:endParaRPr lang="en-US" sz="1000" dirty="0"/>
          </a:p>
        </p:txBody>
      </p:sp>
      <p:sp>
        <p:nvSpPr>
          <p:cNvPr id="35" name="Shape 33"/>
          <p:cNvSpPr/>
          <p:nvPr/>
        </p:nvSpPr>
        <p:spPr>
          <a:xfrm>
            <a:off x="0" y="6263640"/>
            <a:ext cx="12188952" cy="594360"/>
          </a:xfrm>
          <a:prstGeom prst="rect">
            <a:avLst/>
          </a:prstGeom>
          <a:solidFill>
            <a:srgbClr val="1A3A2A"/>
          </a:solidFill>
          <a:ln/>
        </p:spPr>
      </p:sp>
      <p:sp>
        <p:nvSpPr>
          <p:cNvPr id="36" name="Text 34"/>
          <p:cNvSpPr/>
          <p:nvPr/>
        </p:nvSpPr>
        <p:spPr>
          <a:xfrm>
            <a:off x="0" y="6263640"/>
            <a:ext cx="12188952" cy="594360"/>
          </a:xfrm>
          <a:prstGeom prst="rect">
            <a:avLst/>
          </a:prstGeom>
          <a:noFill/>
          <a:ln/>
        </p:spPr>
        <p:txBody>
          <a:bodyPr wrap="square" rtlCol="0" anchor="ctr"/>
          <a:lstStyle/>
          <a:p>
            <a:pPr marL="0" indent="0" algn="ctr">
              <a:buNone/>
            </a:pPr>
            <a:r>
              <a:rPr lang="en-US" sz="1200" b="1" dirty="0">
                <a:solidFill>
                  <a:srgbClr val="F0C040"/>
                </a:solidFill>
                <a:latin typeface="Calibri" pitchFamily="34" charset="0"/>
                <a:ea typeface="Calibri" pitchFamily="34" charset="-122"/>
                <a:cs typeface="Calibri" pitchFamily="34" charset="-120"/>
              </a:rPr>
              <a:t>TAM: ₹12,000 Cr (Indian AgriTech)  |  SAM: ₹1,800 Cr (TN Farmer Digital)  |  SOM Y1: ₹25 Lakh  |  SOM Y3: ₹8 Cr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A0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0B4D8"/>
          </a:solidFill>
          <a:ln/>
        </p:spPr>
      </p:sp>
      <p:sp>
        <p:nvSpPr>
          <p:cNvPr id="3" name="Text 1"/>
          <p:cNvSpPr/>
          <p:nvPr/>
        </p:nvSpPr>
        <p:spPr>
          <a:xfrm>
            <a:off x="457200" y="182880"/>
            <a:ext cx="9144000" cy="548640"/>
          </a:xfrm>
          <a:prstGeom prst="rect">
            <a:avLst/>
          </a:prstGeom>
          <a:noFill/>
          <a:ln/>
          <a:effectLst>
            <a:outerShdw blurRad="101600" dist="38100" dir="2700000" algn="bl" rotWithShape="0">
              <a:srgbClr val="000000">
                <a:alpha val="40000"/>
              </a:srgbClr>
            </a:outerShdw>
          </a:effectLst>
        </p:spPr>
        <p:txBody>
          <a:bodyPr wrap="square" rtlCol="0" anchor="ctr"/>
          <a:lstStyle/>
          <a:p>
            <a:pPr marL="0" indent="0">
              <a:buNone/>
            </a:pPr>
            <a:r>
              <a:rPr lang="en-US" sz="3000" b="1" dirty="0">
                <a:solidFill>
                  <a:srgbClr val="00B4D8"/>
                </a:solidFill>
                <a:latin typeface="Trebuchet MS" pitchFamily="34" charset="0"/>
                <a:ea typeface="Trebuchet MS" pitchFamily="34" charset="-122"/>
                <a:cs typeface="Trebuchet MS" pitchFamily="34" charset="-120"/>
              </a:rPr>
              <a:t>GOVERNMENT ALIGNMENT</a:t>
            </a:r>
            <a:endParaRPr lang="en-US" sz="3000" dirty="0"/>
          </a:p>
        </p:txBody>
      </p:sp>
      <p:sp>
        <p:nvSpPr>
          <p:cNvPr id="4" name="Text 2"/>
          <p:cNvSpPr/>
          <p:nvPr/>
        </p:nvSpPr>
        <p:spPr>
          <a:xfrm>
            <a:off x="457200" y="749808"/>
            <a:ext cx="7315200" cy="320040"/>
          </a:xfrm>
          <a:prstGeom prst="rect">
            <a:avLst/>
          </a:prstGeom>
          <a:noFill/>
          <a:ln/>
        </p:spPr>
        <p:txBody>
          <a:bodyPr wrap="square" rtlCol="0" anchor="ctr"/>
          <a:lstStyle/>
          <a:p>
            <a:pPr marL="0" indent="0">
              <a:buNone/>
            </a:pPr>
            <a:r>
              <a:rPr lang="en-US" sz="1400" i="1" dirty="0">
                <a:solidFill>
                  <a:srgbClr val="8AB89A"/>
                </a:solidFill>
                <a:latin typeface="Calibri" pitchFamily="34" charset="0"/>
                <a:ea typeface="Calibri" pitchFamily="34" charset="-122"/>
                <a:cs typeface="Calibri" pitchFamily="34" charset="-120"/>
              </a:rPr>
              <a:t>6 Active Scheme Alignments — Ready for MoU</a:t>
            </a:r>
            <a:endParaRPr lang="en-US" sz="1400" dirty="0"/>
          </a:p>
        </p:txBody>
      </p:sp>
      <p:sp>
        <p:nvSpPr>
          <p:cNvPr id="5" name="Shape 3"/>
          <p:cNvSpPr/>
          <p:nvPr/>
        </p:nvSpPr>
        <p:spPr>
          <a:xfrm>
            <a:off x="365760" y="1188720"/>
            <a:ext cx="5577840" cy="1325880"/>
          </a:xfrm>
          <a:prstGeom prst="rect">
            <a:avLst/>
          </a:prstGeom>
          <a:solidFill>
            <a:srgbClr val="1A3A2A"/>
          </a:solidFill>
          <a:ln/>
          <a:effectLst>
            <a:outerShdw blurRad="101600" dist="38100" dir="2700000" algn="bl" rotWithShape="0">
              <a:srgbClr val="000000">
                <a:alpha val="40000"/>
              </a:srgbClr>
            </a:outerShdw>
          </a:effectLst>
        </p:spPr>
      </p:sp>
      <p:sp>
        <p:nvSpPr>
          <p:cNvPr id="6" name="Shape 4"/>
          <p:cNvSpPr/>
          <p:nvPr/>
        </p:nvSpPr>
        <p:spPr>
          <a:xfrm>
            <a:off x="365760" y="1188720"/>
            <a:ext cx="91440" cy="1325880"/>
          </a:xfrm>
          <a:prstGeom prst="rect">
            <a:avLst/>
          </a:prstGeom>
          <a:solidFill>
            <a:srgbClr val="2ECC71"/>
          </a:solidFill>
          <a:ln/>
        </p:spPr>
      </p:sp>
      <p:sp>
        <p:nvSpPr>
          <p:cNvPr id="7" name="Shape 5"/>
          <p:cNvSpPr/>
          <p:nvPr/>
        </p:nvSpPr>
        <p:spPr>
          <a:xfrm>
            <a:off x="457200" y="1188720"/>
            <a:ext cx="2011680" cy="411480"/>
          </a:xfrm>
          <a:prstGeom prst="rect">
            <a:avLst/>
          </a:prstGeom>
          <a:solidFill>
            <a:srgbClr val="2ECC71"/>
          </a:solidFill>
          <a:ln/>
        </p:spPr>
      </p:sp>
      <p:sp>
        <p:nvSpPr>
          <p:cNvPr id="8" name="Text 6"/>
          <p:cNvSpPr/>
          <p:nvPr/>
        </p:nvSpPr>
        <p:spPr>
          <a:xfrm>
            <a:off x="457200" y="1188720"/>
            <a:ext cx="2011680" cy="411480"/>
          </a:xfrm>
          <a:prstGeom prst="rect">
            <a:avLst/>
          </a:prstGeom>
          <a:noFill/>
          <a:ln/>
        </p:spPr>
        <p:txBody>
          <a:bodyPr wrap="square" rtlCol="0" anchor="ctr"/>
          <a:lstStyle/>
          <a:p>
            <a:pPr marL="0" indent="0" algn="ctr">
              <a:buNone/>
            </a:pPr>
            <a:r>
              <a:rPr lang="en-US" sz="1100" b="1" dirty="0">
                <a:solidFill>
                  <a:srgbClr val="061008"/>
                </a:solidFill>
                <a:latin typeface="Trebuchet MS" pitchFamily="34" charset="0"/>
                <a:ea typeface="Trebuchet MS" pitchFamily="34" charset="-122"/>
                <a:cs typeface="Trebuchet MS" pitchFamily="34" charset="-120"/>
              </a:rPr>
              <a:t>PM-KISAN</a:t>
            </a:r>
            <a:endParaRPr lang="en-US" sz="1100" dirty="0"/>
          </a:p>
        </p:txBody>
      </p:sp>
      <p:sp>
        <p:nvSpPr>
          <p:cNvPr id="9" name="Text 7"/>
          <p:cNvSpPr/>
          <p:nvPr/>
        </p:nvSpPr>
        <p:spPr>
          <a:xfrm>
            <a:off x="548640" y="1645920"/>
            <a:ext cx="5212080" cy="77724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Real-time income support tracking; Aadhaar-linked farmer registry integration</a:t>
            </a:r>
            <a:endParaRPr lang="en-US" sz="1000" dirty="0"/>
          </a:p>
        </p:txBody>
      </p:sp>
      <p:sp>
        <p:nvSpPr>
          <p:cNvPr id="10" name="Shape 8"/>
          <p:cNvSpPr/>
          <p:nvPr/>
        </p:nvSpPr>
        <p:spPr>
          <a:xfrm>
            <a:off x="6217920" y="1188720"/>
            <a:ext cx="5577840" cy="1325880"/>
          </a:xfrm>
          <a:prstGeom prst="rect">
            <a:avLst/>
          </a:prstGeom>
          <a:solidFill>
            <a:srgbClr val="1A3A2A"/>
          </a:solidFill>
          <a:ln/>
          <a:effectLst>
            <a:outerShdw blurRad="101600" dist="38100" dir="2700000" algn="bl" rotWithShape="0">
              <a:srgbClr val="000000">
                <a:alpha val="40000"/>
              </a:srgbClr>
            </a:outerShdw>
          </a:effectLst>
        </p:spPr>
      </p:sp>
      <p:sp>
        <p:nvSpPr>
          <p:cNvPr id="11" name="Shape 9"/>
          <p:cNvSpPr/>
          <p:nvPr/>
        </p:nvSpPr>
        <p:spPr>
          <a:xfrm>
            <a:off x="6217920" y="1188720"/>
            <a:ext cx="91440" cy="1325880"/>
          </a:xfrm>
          <a:prstGeom prst="rect">
            <a:avLst/>
          </a:prstGeom>
          <a:solidFill>
            <a:srgbClr val="00B4D8"/>
          </a:solidFill>
          <a:ln/>
        </p:spPr>
      </p:sp>
      <p:sp>
        <p:nvSpPr>
          <p:cNvPr id="12" name="Shape 10"/>
          <p:cNvSpPr/>
          <p:nvPr/>
        </p:nvSpPr>
        <p:spPr>
          <a:xfrm>
            <a:off x="6309360" y="1188720"/>
            <a:ext cx="2011680" cy="411480"/>
          </a:xfrm>
          <a:prstGeom prst="rect">
            <a:avLst/>
          </a:prstGeom>
          <a:solidFill>
            <a:srgbClr val="00B4D8"/>
          </a:solidFill>
          <a:ln/>
        </p:spPr>
      </p:sp>
      <p:sp>
        <p:nvSpPr>
          <p:cNvPr id="13" name="Text 11"/>
          <p:cNvSpPr/>
          <p:nvPr/>
        </p:nvSpPr>
        <p:spPr>
          <a:xfrm>
            <a:off x="6309360" y="1188720"/>
            <a:ext cx="2011680" cy="411480"/>
          </a:xfrm>
          <a:prstGeom prst="rect">
            <a:avLst/>
          </a:prstGeom>
          <a:noFill/>
          <a:ln/>
        </p:spPr>
        <p:txBody>
          <a:bodyPr wrap="square" rtlCol="0" anchor="ctr"/>
          <a:lstStyle/>
          <a:p>
            <a:pPr marL="0" indent="0" algn="ctr">
              <a:buNone/>
            </a:pPr>
            <a:r>
              <a:rPr lang="en-US" sz="1100" b="1" dirty="0">
                <a:solidFill>
                  <a:srgbClr val="061008"/>
                </a:solidFill>
                <a:latin typeface="Trebuchet MS" pitchFamily="34" charset="0"/>
                <a:ea typeface="Trebuchet MS" pitchFamily="34" charset="-122"/>
                <a:cs typeface="Trebuchet MS" pitchFamily="34" charset="-120"/>
              </a:rPr>
              <a:t>TNAU Partnership</a:t>
            </a:r>
            <a:endParaRPr lang="en-US" sz="1100" dirty="0"/>
          </a:p>
        </p:txBody>
      </p:sp>
      <p:sp>
        <p:nvSpPr>
          <p:cNvPr id="14" name="Text 12"/>
          <p:cNvSpPr/>
          <p:nvPr/>
        </p:nvSpPr>
        <p:spPr>
          <a:xfrm>
            <a:off x="6400800" y="1645920"/>
            <a:ext cx="5212080" cy="77724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TNAU crop advisory algorithms; district-level research data pipeline</a:t>
            </a:r>
            <a:endParaRPr lang="en-US" sz="1000" dirty="0"/>
          </a:p>
        </p:txBody>
      </p:sp>
      <p:sp>
        <p:nvSpPr>
          <p:cNvPr id="15" name="Shape 13"/>
          <p:cNvSpPr/>
          <p:nvPr/>
        </p:nvSpPr>
        <p:spPr>
          <a:xfrm>
            <a:off x="365760" y="2697480"/>
            <a:ext cx="5577840" cy="1325880"/>
          </a:xfrm>
          <a:prstGeom prst="rect">
            <a:avLst/>
          </a:prstGeom>
          <a:solidFill>
            <a:srgbClr val="1A3A2A"/>
          </a:solidFill>
          <a:ln/>
          <a:effectLst>
            <a:outerShdw blurRad="101600" dist="38100" dir="2700000" algn="bl" rotWithShape="0">
              <a:srgbClr val="000000">
                <a:alpha val="40000"/>
              </a:srgbClr>
            </a:outerShdw>
          </a:effectLst>
        </p:spPr>
      </p:sp>
      <p:sp>
        <p:nvSpPr>
          <p:cNvPr id="16" name="Shape 14"/>
          <p:cNvSpPr/>
          <p:nvPr/>
        </p:nvSpPr>
        <p:spPr>
          <a:xfrm>
            <a:off x="365760" y="2697480"/>
            <a:ext cx="91440" cy="1325880"/>
          </a:xfrm>
          <a:prstGeom prst="rect">
            <a:avLst/>
          </a:prstGeom>
          <a:solidFill>
            <a:srgbClr val="F0C040"/>
          </a:solidFill>
          <a:ln/>
        </p:spPr>
      </p:sp>
      <p:sp>
        <p:nvSpPr>
          <p:cNvPr id="17" name="Shape 15"/>
          <p:cNvSpPr/>
          <p:nvPr/>
        </p:nvSpPr>
        <p:spPr>
          <a:xfrm>
            <a:off x="457200" y="2697480"/>
            <a:ext cx="2011680" cy="411480"/>
          </a:xfrm>
          <a:prstGeom prst="rect">
            <a:avLst/>
          </a:prstGeom>
          <a:solidFill>
            <a:srgbClr val="F0C040"/>
          </a:solidFill>
          <a:ln/>
        </p:spPr>
      </p:sp>
      <p:sp>
        <p:nvSpPr>
          <p:cNvPr id="18" name="Text 16"/>
          <p:cNvSpPr/>
          <p:nvPr/>
        </p:nvSpPr>
        <p:spPr>
          <a:xfrm>
            <a:off x="457200" y="2697480"/>
            <a:ext cx="2011680" cy="411480"/>
          </a:xfrm>
          <a:prstGeom prst="rect">
            <a:avLst/>
          </a:prstGeom>
          <a:noFill/>
          <a:ln/>
        </p:spPr>
        <p:txBody>
          <a:bodyPr wrap="square" rtlCol="0" anchor="ctr"/>
          <a:lstStyle/>
          <a:p>
            <a:pPr marL="0" indent="0" algn="ctr">
              <a:buNone/>
            </a:pPr>
            <a:r>
              <a:rPr lang="en-US" sz="1100" b="1" dirty="0">
                <a:solidFill>
                  <a:srgbClr val="061008"/>
                </a:solidFill>
                <a:latin typeface="Trebuchet MS" pitchFamily="34" charset="0"/>
                <a:ea typeface="Trebuchet MS" pitchFamily="34" charset="-122"/>
                <a:cs typeface="Trebuchet MS" pitchFamily="34" charset="-120"/>
              </a:rPr>
              <a:t>ICAR Integration</a:t>
            </a:r>
            <a:endParaRPr lang="en-US" sz="1100" dirty="0"/>
          </a:p>
        </p:txBody>
      </p:sp>
      <p:sp>
        <p:nvSpPr>
          <p:cNvPr id="19" name="Text 17"/>
          <p:cNvSpPr/>
          <p:nvPr/>
        </p:nvSpPr>
        <p:spPr>
          <a:xfrm>
            <a:off x="548640" y="3154680"/>
            <a:ext cx="5212080" cy="77724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Soil health card digitization; NPK benchmarking against ICAR standards</a:t>
            </a:r>
            <a:endParaRPr lang="en-US" sz="1000" dirty="0"/>
          </a:p>
        </p:txBody>
      </p:sp>
      <p:sp>
        <p:nvSpPr>
          <p:cNvPr id="20" name="Shape 18"/>
          <p:cNvSpPr/>
          <p:nvPr/>
        </p:nvSpPr>
        <p:spPr>
          <a:xfrm>
            <a:off x="6217920" y="2697480"/>
            <a:ext cx="5577840" cy="1325880"/>
          </a:xfrm>
          <a:prstGeom prst="rect">
            <a:avLst/>
          </a:prstGeom>
          <a:solidFill>
            <a:srgbClr val="1A3A2A"/>
          </a:solidFill>
          <a:ln/>
          <a:effectLst>
            <a:outerShdw blurRad="101600" dist="38100" dir="2700000" algn="bl" rotWithShape="0">
              <a:srgbClr val="000000">
                <a:alpha val="40000"/>
              </a:srgbClr>
            </a:outerShdw>
          </a:effectLst>
        </p:spPr>
      </p:sp>
      <p:sp>
        <p:nvSpPr>
          <p:cNvPr id="21" name="Shape 19"/>
          <p:cNvSpPr/>
          <p:nvPr/>
        </p:nvSpPr>
        <p:spPr>
          <a:xfrm>
            <a:off x="6217920" y="2697480"/>
            <a:ext cx="91440" cy="1325880"/>
          </a:xfrm>
          <a:prstGeom prst="rect">
            <a:avLst/>
          </a:prstGeom>
          <a:solidFill>
            <a:srgbClr val="FF6B35"/>
          </a:solidFill>
          <a:ln/>
        </p:spPr>
      </p:sp>
      <p:sp>
        <p:nvSpPr>
          <p:cNvPr id="22" name="Shape 20"/>
          <p:cNvSpPr/>
          <p:nvPr/>
        </p:nvSpPr>
        <p:spPr>
          <a:xfrm>
            <a:off x="6309360" y="2697480"/>
            <a:ext cx="2011680" cy="411480"/>
          </a:xfrm>
          <a:prstGeom prst="rect">
            <a:avLst/>
          </a:prstGeom>
          <a:solidFill>
            <a:srgbClr val="FF6B35"/>
          </a:solidFill>
          <a:ln/>
        </p:spPr>
      </p:sp>
      <p:sp>
        <p:nvSpPr>
          <p:cNvPr id="23" name="Text 21"/>
          <p:cNvSpPr/>
          <p:nvPr/>
        </p:nvSpPr>
        <p:spPr>
          <a:xfrm>
            <a:off x="6309360" y="2697480"/>
            <a:ext cx="2011680" cy="411480"/>
          </a:xfrm>
          <a:prstGeom prst="rect">
            <a:avLst/>
          </a:prstGeom>
          <a:noFill/>
          <a:ln/>
        </p:spPr>
        <p:txBody>
          <a:bodyPr wrap="square" rtlCol="0" anchor="ctr"/>
          <a:lstStyle/>
          <a:p>
            <a:pPr marL="0" indent="0" algn="ctr">
              <a:buNone/>
            </a:pPr>
            <a:r>
              <a:rPr lang="en-US" sz="1100" b="1" dirty="0">
                <a:solidFill>
                  <a:srgbClr val="061008"/>
                </a:solidFill>
                <a:latin typeface="Trebuchet MS" pitchFamily="34" charset="0"/>
                <a:ea typeface="Trebuchet MS" pitchFamily="34" charset="-122"/>
                <a:cs typeface="Trebuchet MS" pitchFamily="34" charset="-120"/>
              </a:rPr>
              <a:t>NABARD DaaS</a:t>
            </a:r>
            <a:endParaRPr lang="en-US" sz="1100" dirty="0"/>
          </a:p>
        </p:txBody>
      </p:sp>
      <p:sp>
        <p:nvSpPr>
          <p:cNvPr id="24" name="Text 22"/>
          <p:cNvSpPr/>
          <p:nvPr/>
        </p:nvSpPr>
        <p:spPr>
          <a:xfrm>
            <a:off x="6400800" y="3154680"/>
            <a:ext cx="5212080" cy="77724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Anonymized yield data for crop loan risk assessment; FPO credit scoring</a:t>
            </a:r>
            <a:endParaRPr lang="en-US" sz="1000" dirty="0"/>
          </a:p>
        </p:txBody>
      </p:sp>
      <p:sp>
        <p:nvSpPr>
          <p:cNvPr id="25" name="Shape 23"/>
          <p:cNvSpPr/>
          <p:nvPr/>
        </p:nvSpPr>
        <p:spPr>
          <a:xfrm>
            <a:off x="365760" y="4206240"/>
            <a:ext cx="5577840" cy="1325880"/>
          </a:xfrm>
          <a:prstGeom prst="rect">
            <a:avLst/>
          </a:prstGeom>
          <a:solidFill>
            <a:srgbClr val="1A3A2A"/>
          </a:solidFill>
          <a:ln/>
          <a:effectLst>
            <a:outerShdw blurRad="101600" dist="38100" dir="2700000" algn="bl" rotWithShape="0">
              <a:srgbClr val="000000">
                <a:alpha val="40000"/>
              </a:srgbClr>
            </a:outerShdw>
          </a:effectLst>
        </p:spPr>
      </p:sp>
      <p:sp>
        <p:nvSpPr>
          <p:cNvPr id="26" name="Shape 24"/>
          <p:cNvSpPr/>
          <p:nvPr/>
        </p:nvSpPr>
        <p:spPr>
          <a:xfrm>
            <a:off x="365760" y="4206240"/>
            <a:ext cx="91440" cy="1325880"/>
          </a:xfrm>
          <a:prstGeom prst="rect">
            <a:avLst/>
          </a:prstGeom>
          <a:solidFill>
            <a:srgbClr val="7B2FBE"/>
          </a:solidFill>
          <a:ln/>
        </p:spPr>
      </p:sp>
      <p:sp>
        <p:nvSpPr>
          <p:cNvPr id="27" name="Shape 25"/>
          <p:cNvSpPr/>
          <p:nvPr/>
        </p:nvSpPr>
        <p:spPr>
          <a:xfrm>
            <a:off x="457200" y="4206240"/>
            <a:ext cx="2011680" cy="411480"/>
          </a:xfrm>
          <a:prstGeom prst="rect">
            <a:avLst/>
          </a:prstGeom>
          <a:solidFill>
            <a:srgbClr val="7B2FBE"/>
          </a:solidFill>
          <a:ln/>
        </p:spPr>
      </p:sp>
      <p:sp>
        <p:nvSpPr>
          <p:cNvPr id="28" name="Text 26"/>
          <p:cNvSpPr/>
          <p:nvPr/>
        </p:nvSpPr>
        <p:spPr>
          <a:xfrm>
            <a:off x="457200" y="4206240"/>
            <a:ext cx="2011680" cy="411480"/>
          </a:xfrm>
          <a:prstGeom prst="rect">
            <a:avLst/>
          </a:prstGeom>
          <a:noFill/>
          <a:ln/>
        </p:spPr>
        <p:txBody>
          <a:bodyPr wrap="square" rtlCol="0" anchor="ctr"/>
          <a:lstStyle/>
          <a:p>
            <a:pPr marL="0" indent="0" algn="ctr">
              <a:buNone/>
            </a:pPr>
            <a:r>
              <a:rPr lang="en-US" sz="1100" b="1" dirty="0">
                <a:solidFill>
                  <a:srgbClr val="061008"/>
                </a:solidFill>
                <a:latin typeface="Trebuchet MS" pitchFamily="34" charset="0"/>
                <a:ea typeface="Trebuchet MS" pitchFamily="34" charset="-122"/>
                <a:cs typeface="Trebuchet MS" pitchFamily="34" charset="-120"/>
              </a:rPr>
              <a:t>TNIAMP Scheme</a:t>
            </a:r>
            <a:endParaRPr lang="en-US" sz="1100" dirty="0"/>
          </a:p>
        </p:txBody>
      </p:sp>
      <p:sp>
        <p:nvSpPr>
          <p:cNvPr id="29" name="Text 27"/>
          <p:cNvSpPr/>
          <p:nvPr/>
        </p:nvSpPr>
        <p:spPr>
          <a:xfrm>
            <a:off x="548640" y="4663440"/>
            <a:ext cx="5212080" cy="77724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Micro-irrigation subsidy eligibility auto-detection based on farmer profile</a:t>
            </a:r>
            <a:endParaRPr lang="en-US" sz="1000" dirty="0"/>
          </a:p>
        </p:txBody>
      </p:sp>
      <p:sp>
        <p:nvSpPr>
          <p:cNvPr id="30" name="Shape 28"/>
          <p:cNvSpPr/>
          <p:nvPr/>
        </p:nvSpPr>
        <p:spPr>
          <a:xfrm>
            <a:off x="6217920" y="4206240"/>
            <a:ext cx="5577840" cy="1325880"/>
          </a:xfrm>
          <a:prstGeom prst="rect">
            <a:avLst/>
          </a:prstGeom>
          <a:solidFill>
            <a:srgbClr val="1A3A2A"/>
          </a:solidFill>
          <a:ln/>
          <a:effectLst>
            <a:outerShdw blurRad="101600" dist="38100" dir="2700000" algn="bl" rotWithShape="0">
              <a:srgbClr val="000000">
                <a:alpha val="40000"/>
              </a:srgbClr>
            </a:outerShdw>
          </a:effectLst>
        </p:spPr>
      </p:sp>
      <p:sp>
        <p:nvSpPr>
          <p:cNvPr id="31" name="Shape 29"/>
          <p:cNvSpPr/>
          <p:nvPr/>
        </p:nvSpPr>
        <p:spPr>
          <a:xfrm>
            <a:off x="6217920" y="4206240"/>
            <a:ext cx="91440" cy="1325880"/>
          </a:xfrm>
          <a:prstGeom prst="rect">
            <a:avLst/>
          </a:prstGeom>
          <a:solidFill>
            <a:srgbClr val="8AB89A"/>
          </a:solidFill>
          <a:ln/>
        </p:spPr>
      </p:sp>
      <p:sp>
        <p:nvSpPr>
          <p:cNvPr id="32" name="Shape 30"/>
          <p:cNvSpPr/>
          <p:nvPr/>
        </p:nvSpPr>
        <p:spPr>
          <a:xfrm>
            <a:off x="6309360" y="4206240"/>
            <a:ext cx="2011680" cy="411480"/>
          </a:xfrm>
          <a:prstGeom prst="rect">
            <a:avLst/>
          </a:prstGeom>
          <a:solidFill>
            <a:srgbClr val="8AB89A"/>
          </a:solidFill>
          <a:ln/>
        </p:spPr>
      </p:sp>
      <p:sp>
        <p:nvSpPr>
          <p:cNvPr id="33" name="Text 31"/>
          <p:cNvSpPr/>
          <p:nvPr/>
        </p:nvSpPr>
        <p:spPr>
          <a:xfrm>
            <a:off x="6309360" y="4206240"/>
            <a:ext cx="2011680" cy="411480"/>
          </a:xfrm>
          <a:prstGeom prst="rect">
            <a:avLst/>
          </a:prstGeom>
          <a:noFill/>
          <a:ln/>
        </p:spPr>
        <p:txBody>
          <a:bodyPr wrap="square" rtlCol="0" anchor="ctr"/>
          <a:lstStyle/>
          <a:p>
            <a:pPr marL="0" indent="0" algn="ctr">
              <a:buNone/>
            </a:pPr>
            <a:r>
              <a:rPr lang="en-US" sz="1100" b="1" dirty="0">
                <a:solidFill>
                  <a:srgbClr val="061008"/>
                </a:solidFill>
                <a:latin typeface="Trebuchet MS" pitchFamily="34" charset="0"/>
                <a:ea typeface="Trebuchet MS" pitchFamily="34" charset="-122"/>
                <a:cs typeface="Trebuchet MS" pitchFamily="34" charset="-120"/>
              </a:rPr>
              <a:t>AgriStack / EDI-TN</a:t>
            </a:r>
            <a:endParaRPr lang="en-US" sz="1100" dirty="0"/>
          </a:p>
        </p:txBody>
      </p:sp>
      <p:sp>
        <p:nvSpPr>
          <p:cNvPr id="34" name="Text 32"/>
          <p:cNvSpPr/>
          <p:nvPr/>
        </p:nvSpPr>
        <p:spPr>
          <a:xfrm>
            <a:off x="6400800" y="4663440"/>
            <a:ext cx="5212080" cy="77724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Unified Farmer ID login; AgriStack API-ready data connector layer</a:t>
            </a:r>
            <a:endParaRPr lang="en-US" sz="1000" dirty="0"/>
          </a:p>
        </p:txBody>
      </p:sp>
      <p:sp>
        <p:nvSpPr>
          <p:cNvPr id="35" name="Shape 33"/>
          <p:cNvSpPr/>
          <p:nvPr/>
        </p:nvSpPr>
        <p:spPr>
          <a:xfrm>
            <a:off x="0" y="6263640"/>
            <a:ext cx="12188952" cy="594360"/>
          </a:xfrm>
          <a:prstGeom prst="rect">
            <a:avLst/>
          </a:prstGeom>
          <a:solidFill>
            <a:srgbClr val="0A2A0A"/>
          </a:solidFill>
          <a:ln w="12700">
            <a:solidFill>
              <a:srgbClr val="2ECC71"/>
            </a:solidFill>
            <a:prstDash val="solid"/>
          </a:ln>
        </p:spPr>
      </p:sp>
      <p:sp>
        <p:nvSpPr>
          <p:cNvPr id="36" name="Text 34"/>
          <p:cNvSpPr/>
          <p:nvPr/>
        </p:nvSpPr>
        <p:spPr>
          <a:xfrm>
            <a:off x="274320" y="6263640"/>
            <a:ext cx="11887200" cy="594360"/>
          </a:xfrm>
          <a:prstGeom prst="rect">
            <a:avLst/>
          </a:prstGeom>
          <a:noFill/>
          <a:ln/>
        </p:spPr>
        <p:txBody>
          <a:bodyPr wrap="square" rtlCol="0" anchor="ctr"/>
          <a:lstStyle/>
          <a:p>
            <a:pPr marL="0" indent="0" algn="ctr">
              <a:buNone/>
            </a:pPr>
            <a:r>
              <a:rPr lang="en-US" sz="1200" dirty="0">
                <a:solidFill>
                  <a:srgbClr val="2ECC71"/>
                </a:solidFill>
                <a:latin typeface="Calibri" pitchFamily="34" charset="0"/>
                <a:ea typeface="Calibri" pitchFamily="34" charset="-122"/>
                <a:cs typeface="Calibri" pitchFamily="34" charset="-120"/>
              </a:rPr>
              <a:t>📋  MoU READY — Letter of Intent drafted for TNAU &amp; EDI-TN  |  Actively seeking Govt pilot partnership for 5 districts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A0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F6B35"/>
          </a:solidFill>
          <a:ln/>
        </p:spPr>
      </p:sp>
      <p:sp>
        <p:nvSpPr>
          <p:cNvPr id="3" name="Text 1"/>
          <p:cNvSpPr/>
          <p:nvPr/>
        </p:nvSpPr>
        <p:spPr>
          <a:xfrm>
            <a:off x="457200" y="182880"/>
            <a:ext cx="7315200" cy="548640"/>
          </a:xfrm>
          <a:prstGeom prst="rect">
            <a:avLst/>
          </a:prstGeom>
          <a:noFill/>
          <a:ln/>
          <a:effectLst>
            <a:outerShdw blurRad="101600" dist="38100" dir="2700000" algn="bl" rotWithShape="0">
              <a:srgbClr val="000000">
                <a:alpha val="40000"/>
              </a:srgbClr>
            </a:outerShdw>
          </a:effectLst>
        </p:spPr>
        <p:txBody>
          <a:bodyPr wrap="square" rtlCol="0" anchor="ctr"/>
          <a:lstStyle/>
          <a:p>
            <a:pPr marL="0" indent="0">
              <a:buNone/>
            </a:pPr>
            <a:r>
              <a:rPr lang="en-US" sz="3000" b="1" dirty="0">
                <a:solidFill>
                  <a:srgbClr val="FF6B35"/>
                </a:solidFill>
                <a:latin typeface="Trebuchet MS" pitchFamily="34" charset="0"/>
                <a:ea typeface="Trebuchet MS" pitchFamily="34" charset="-122"/>
                <a:cs typeface="Trebuchet MS" pitchFamily="34" charset="-120"/>
              </a:rPr>
              <a:t>MARKET OPPORTUNITY</a:t>
            </a:r>
            <a:endParaRPr lang="en-US" sz="3000" dirty="0"/>
          </a:p>
        </p:txBody>
      </p:sp>
      <p:graphicFrame>
        <p:nvGraphicFramePr>
          <p:cNvPr id="4" name="Chart 0"/>
          <p:cNvGraphicFramePr/>
          <p:nvPr/>
        </p:nvGraphicFramePr>
        <p:xfrm>
          <a:off x="365760" y="914400"/>
          <a:ext cx="5486400" cy="320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extLst>
              <p:ext uri="{D42A27DB-BD31-4B8C-83A1-F6EECF244321}">
                <p14:modId xmlns:p14="http://schemas.microsoft.com/office/powerpoint/2010/main" val="1298370941"/>
              </p:ext>
            </p:extLst>
          </p:nvPr>
        </p:nvGraphicFramePr>
        <p:xfrm>
          <a:off x="6126480" y="914400"/>
          <a:ext cx="576072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365760" y="4343400"/>
            <a:ext cx="3657600" cy="1371600"/>
          </a:xfrm>
          <a:prstGeom prst="rect">
            <a:avLst/>
          </a:prstGeom>
          <a:solidFill>
            <a:srgbClr val="1A3A2A"/>
          </a:solidFill>
          <a:ln/>
          <a:effectLst>
            <a:outerShdw blurRad="101600" dist="38100" dir="2700000" algn="bl" rotWithShape="0">
              <a:srgbClr val="000000">
                <a:alpha val="40000"/>
              </a:srgbClr>
            </a:outerShdw>
          </a:effectLst>
        </p:spPr>
      </p:sp>
      <p:sp>
        <p:nvSpPr>
          <p:cNvPr id="7" name="Shape 3"/>
          <p:cNvSpPr/>
          <p:nvPr/>
        </p:nvSpPr>
        <p:spPr>
          <a:xfrm>
            <a:off x="365760" y="4343400"/>
            <a:ext cx="3657600" cy="91440"/>
          </a:xfrm>
          <a:prstGeom prst="rect">
            <a:avLst/>
          </a:prstGeom>
          <a:solidFill>
            <a:srgbClr val="7B2FBE"/>
          </a:solidFill>
          <a:ln/>
        </p:spPr>
      </p:sp>
      <p:sp>
        <p:nvSpPr>
          <p:cNvPr id="8" name="Text 4"/>
          <p:cNvSpPr/>
          <p:nvPr/>
        </p:nvSpPr>
        <p:spPr>
          <a:xfrm>
            <a:off x="365760" y="4480560"/>
            <a:ext cx="3657600" cy="411480"/>
          </a:xfrm>
          <a:prstGeom prst="rect">
            <a:avLst/>
          </a:prstGeom>
          <a:noFill/>
          <a:ln/>
        </p:spPr>
        <p:txBody>
          <a:bodyPr wrap="square" rtlCol="0" anchor="ctr"/>
          <a:lstStyle/>
          <a:p>
            <a:pPr marL="0" indent="0" algn="ctr">
              <a:buNone/>
            </a:pPr>
            <a:r>
              <a:rPr lang="en-US" sz="1800" b="1" dirty="0">
                <a:solidFill>
                  <a:srgbClr val="7B2FBE"/>
                </a:solidFill>
                <a:latin typeface="Trebuchet MS" pitchFamily="34" charset="0"/>
                <a:ea typeface="Trebuchet MS" pitchFamily="34" charset="-122"/>
                <a:cs typeface="Trebuchet MS" pitchFamily="34" charset="-120"/>
              </a:rPr>
              <a:t>TAM</a:t>
            </a:r>
            <a:endParaRPr lang="en-US" sz="1800" dirty="0"/>
          </a:p>
        </p:txBody>
      </p:sp>
      <p:sp>
        <p:nvSpPr>
          <p:cNvPr id="9" name="Text 5"/>
          <p:cNvSpPr/>
          <p:nvPr/>
        </p:nvSpPr>
        <p:spPr>
          <a:xfrm>
            <a:off x="365760" y="4892040"/>
            <a:ext cx="3657600" cy="365760"/>
          </a:xfrm>
          <a:prstGeom prst="rect">
            <a:avLst/>
          </a:prstGeom>
          <a:noFill/>
          <a:ln/>
        </p:spPr>
        <p:txBody>
          <a:bodyPr wrap="square"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₹12,000 Cr</a:t>
            </a:r>
            <a:endParaRPr lang="en-US" sz="1600" dirty="0"/>
          </a:p>
        </p:txBody>
      </p:sp>
      <p:sp>
        <p:nvSpPr>
          <p:cNvPr id="10" name="Text 6"/>
          <p:cNvSpPr/>
          <p:nvPr/>
        </p:nvSpPr>
        <p:spPr>
          <a:xfrm>
            <a:off x="365760" y="5257800"/>
            <a:ext cx="3657600" cy="320040"/>
          </a:xfrm>
          <a:prstGeom prst="rect">
            <a:avLst/>
          </a:prstGeom>
          <a:noFill/>
          <a:ln/>
        </p:spPr>
        <p:txBody>
          <a:bodyPr wrap="square" rtlCol="0" anchor="ctr"/>
          <a:lstStyle/>
          <a:p>
            <a:pPr marL="0" indent="0" algn="ctr">
              <a:buNone/>
            </a:pPr>
            <a:r>
              <a:rPr lang="en-US" sz="900" dirty="0">
                <a:solidFill>
                  <a:srgbClr val="8AB89A"/>
                </a:solidFill>
                <a:latin typeface="Calibri" pitchFamily="34" charset="0"/>
                <a:ea typeface="Calibri" pitchFamily="34" charset="-122"/>
                <a:cs typeface="Calibri" pitchFamily="34" charset="-120"/>
              </a:rPr>
              <a:t>Indian AgriTech Market</a:t>
            </a:r>
            <a:endParaRPr lang="en-US" sz="900" dirty="0"/>
          </a:p>
        </p:txBody>
      </p:sp>
      <p:sp>
        <p:nvSpPr>
          <p:cNvPr id="11" name="Shape 7"/>
          <p:cNvSpPr/>
          <p:nvPr/>
        </p:nvSpPr>
        <p:spPr>
          <a:xfrm>
            <a:off x="4297680" y="4343400"/>
            <a:ext cx="3657600" cy="1371600"/>
          </a:xfrm>
          <a:prstGeom prst="rect">
            <a:avLst/>
          </a:prstGeom>
          <a:solidFill>
            <a:srgbClr val="1A3A2A"/>
          </a:solidFill>
          <a:ln/>
          <a:effectLst>
            <a:outerShdw blurRad="101600" dist="38100" dir="2700000" algn="bl" rotWithShape="0">
              <a:srgbClr val="000000">
                <a:alpha val="40000"/>
              </a:srgbClr>
            </a:outerShdw>
          </a:effectLst>
        </p:spPr>
      </p:sp>
      <p:sp>
        <p:nvSpPr>
          <p:cNvPr id="12" name="Shape 8"/>
          <p:cNvSpPr/>
          <p:nvPr/>
        </p:nvSpPr>
        <p:spPr>
          <a:xfrm>
            <a:off x="4297680" y="4343400"/>
            <a:ext cx="3657600" cy="91440"/>
          </a:xfrm>
          <a:prstGeom prst="rect">
            <a:avLst/>
          </a:prstGeom>
          <a:solidFill>
            <a:srgbClr val="00B4D8"/>
          </a:solidFill>
          <a:ln/>
        </p:spPr>
      </p:sp>
      <p:sp>
        <p:nvSpPr>
          <p:cNvPr id="13" name="Text 9"/>
          <p:cNvSpPr/>
          <p:nvPr/>
        </p:nvSpPr>
        <p:spPr>
          <a:xfrm>
            <a:off x="4297680" y="4480560"/>
            <a:ext cx="3657600" cy="411480"/>
          </a:xfrm>
          <a:prstGeom prst="rect">
            <a:avLst/>
          </a:prstGeom>
          <a:noFill/>
          <a:ln/>
        </p:spPr>
        <p:txBody>
          <a:bodyPr wrap="square" rtlCol="0" anchor="ctr"/>
          <a:lstStyle/>
          <a:p>
            <a:pPr marL="0" indent="0" algn="ctr">
              <a:buNone/>
            </a:pPr>
            <a:r>
              <a:rPr lang="en-US" sz="1800" b="1" dirty="0">
                <a:solidFill>
                  <a:srgbClr val="00B4D8"/>
                </a:solidFill>
                <a:latin typeface="Trebuchet MS" pitchFamily="34" charset="0"/>
                <a:ea typeface="Trebuchet MS" pitchFamily="34" charset="-122"/>
                <a:cs typeface="Trebuchet MS" pitchFamily="34" charset="-120"/>
              </a:rPr>
              <a:t>SAM</a:t>
            </a:r>
            <a:endParaRPr lang="en-US" sz="1800" dirty="0"/>
          </a:p>
        </p:txBody>
      </p:sp>
      <p:sp>
        <p:nvSpPr>
          <p:cNvPr id="14" name="Text 10"/>
          <p:cNvSpPr/>
          <p:nvPr/>
        </p:nvSpPr>
        <p:spPr>
          <a:xfrm>
            <a:off x="4297680" y="4892040"/>
            <a:ext cx="3657600" cy="365760"/>
          </a:xfrm>
          <a:prstGeom prst="rect">
            <a:avLst/>
          </a:prstGeom>
          <a:noFill/>
          <a:ln/>
        </p:spPr>
        <p:txBody>
          <a:bodyPr wrap="square"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₹1,800 Cr</a:t>
            </a:r>
            <a:endParaRPr lang="en-US" sz="1600" dirty="0"/>
          </a:p>
        </p:txBody>
      </p:sp>
      <p:sp>
        <p:nvSpPr>
          <p:cNvPr id="15" name="Text 11"/>
          <p:cNvSpPr/>
          <p:nvPr/>
        </p:nvSpPr>
        <p:spPr>
          <a:xfrm>
            <a:off x="4297680" y="5257800"/>
            <a:ext cx="3657600" cy="320040"/>
          </a:xfrm>
          <a:prstGeom prst="rect">
            <a:avLst/>
          </a:prstGeom>
          <a:noFill/>
          <a:ln/>
        </p:spPr>
        <p:txBody>
          <a:bodyPr wrap="square" rtlCol="0" anchor="ctr"/>
          <a:lstStyle/>
          <a:p>
            <a:pPr marL="0" indent="0" algn="ctr">
              <a:buNone/>
            </a:pPr>
            <a:r>
              <a:rPr lang="en-US" sz="900" dirty="0">
                <a:solidFill>
                  <a:srgbClr val="8AB89A"/>
                </a:solidFill>
                <a:latin typeface="Calibri" pitchFamily="34" charset="0"/>
                <a:ea typeface="Calibri" pitchFamily="34" charset="-122"/>
                <a:cs typeface="Calibri" pitchFamily="34" charset="-120"/>
              </a:rPr>
              <a:t>TN Digital Farmer Segment</a:t>
            </a:r>
            <a:endParaRPr lang="en-US" sz="900" dirty="0"/>
          </a:p>
        </p:txBody>
      </p:sp>
      <p:sp>
        <p:nvSpPr>
          <p:cNvPr id="16" name="Shape 12"/>
          <p:cNvSpPr/>
          <p:nvPr/>
        </p:nvSpPr>
        <p:spPr>
          <a:xfrm>
            <a:off x="8229600" y="4343400"/>
            <a:ext cx="3657600" cy="1371600"/>
          </a:xfrm>
          <a:prstGeom prst="rect">
            <a:avLst/>
          </a:prstGeom>
          <a:solidFill>
            <a:srgbClr val="1A3A2A"/>
          </a:solidFill>
          <a:ln/>
          <a:effectLst>
            <a:outerShdw blurRad="101600" dist="38100" dir="2700000" algn="bl" rotWithShape="0">
              <a:srgbClr val="000000">
                <a:alpha val="40000"/>
              </a:srgbClr>
            </a:outerShdw>
          </a:effectLst>
        </p:spPr>
      </p:sp>
      <p:sp>
        <p:nvSpPr>
          <p:cNvPr id="17" name="Shape 13"/>
          <p:cNvSpPr/>
          <p:nvPr/>
        </p:nvSpPr>
        <p:spPr>
          <a:xfrm>
            <a:off x="8229600" y="4343400"/>
            <a:ext cx="3657600" cy="91440"/>
          </a:xfrm>
          <a:prstGeom prst="rect">
            <a:avLst/>
          </a:prstGeom>
          <a:solidFill>
            <a:srgbClr val="2ECC71"/>
          </a:solidFill>
          <a:ln/>
        </p:spPr>
      </p:sp>
      <p:sp>
        <p:nvSpPr>
          <p:cNvPr id="18" name="Text 14"/>
          <p:cNvSpPr/>
          <p:nvPr/>
        </p:nvSpPr>
        <p:spPr>
          <a:xfrm>
            <a:off x="8229600" y="4480560"/>
            <a:ext cx="3657600" cy="411480"/>
          </a:xfrm>
          <a:prstGeom prst="rect">
            <a:avLst/>
          </a:prstGeom>
          <a:noFill/>
          <a:ln/>
        </p:spPr>
        <p:txBody>
          <a:bodyPr wrap="square" rtlCol="0" anchor="ctr"/>
          <a:lstStyle/>
          <a:p>
            <a:pPr marL="0" indent="0" algn="ctr">
              <a:buNone/>
            </a:pPr>
            <a:r>
              <a:rPr lang="en-US" sz="1800" b="1" dirty="0">
                <a:solidFill>
                  <a:srgbClr val="2ECC71"/>
                </a:solidFill>
                <a:latin typeface="Trebuchet MS" pitchFamily="34" charset="0"/>
                <a:ea typeface="Trebuchet MS" pitchFamily="34" charset="-122"/>
                <a:cs typeface="Trebuchet MS" pitchFamily="34" charset="-120"/>
              </a:rPr>
              <a:t>SOM</a:t>
            </a:r>
            <a:endParaRPr lang="en-US" sz="1800" dirty="0"/>
          </a:p>
        </p:txBody>
      </p:sp>
      <p:sp>
        <p:nvSpPr>
          <p:cNvPr id="19" name="Text 15"/>
          <p:cNvSpPr/>
          <p:nvPr/>
        </p:nvSpPr>
        <p:spPr>
          <a:xfrm>
            <a:off x="8229600" y="4892040"/>
            <a:ext cx="3657600" cy="365760"/>
          </a:xfrm>
          <a:prstGeom prst="rect">
            <a:avLst/>
          </a:prstGeom>
          <a:noFill/>
          <a:ln/>
        </p:spPr>
        <p:txBody>
          <a:bodyPr wrap="square"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₹8 Cr Y3</a:t>
            </a:r>
            <a:endParaRPr lang="en-US" sz="1600" dirty="0"/>
          </a:p>
        </p:txBody>
      </p:sp>
      <p:sp>
        <p:nvSpPr>
          <p:cNvPr id="20" name="Text 16"/>
          <p:cNvSpPr/>
          <p:nvPr/>
        </p:nvSpPr>
        <p:spPr>
          <a:xfrm>
            <a:off x="8229600" y="5257800"/>
            <a:ext cx="3657600" cy="320040"/>
          </a:xfrm>
          <a:prstGeom prst="rect">
            <a:avLst/>
          </a:prstGeom>
          <a:noFill/>
          <a:ln/>
        </p:spPr>
        <p:txBody>
          <a:bodyPr wrap="square" rtlCol="0" anchor="ctr"/>
          <a:lstStyle/>
          <a:p>
            <a:pPr marL="0" indent="0" algn="ctr">
              <a:buNone/>
            </a:pPr>
            <a:r>
              <a:rPr lang="en-US" sz="900" dirty="0">
                <a:solidFill>
                  <a:srgbClr val="8AB89A"/>
                </a:solidFill>
                <a:latin typeface="Calibri" pitchFamily="34" charset="0"/>
                <a:ea typeface="Calibri" pitchFamily="34" charset="-122"/>
                <a:cs typeface="Calibri" pitchFamily="34" charset="-120"/>
              </a:rPr>
              <a:t>Reachable by 2028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A0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ECC71"/>
          </a:solidFill>
          <a:ln/>
        </p:spPr>
      </p:sp>
      <p:sp>
        <p:nvSpPr>
          <p:cNvPr id="3" name="Text 1"/>
          <p:cNvSpPr/>
          <p:nvPr/>
        </p:nvSpPr>
        <p:spPr>
          <a:xfrm>
            <a:off x="457200" y="182880"/>
            <a:ext cx="7315200" cy="548640"/>
          </a:xfrm>
          <a:prstGeom prst="rect">
            <a:avLst/>
          </a:prstGeom>
          <a:noFill/>
          <a:ln/>
          <a:effectLst>
            <a:outerShdw blurRad="101600" dist="38100" dir="2700000" algn="bl" rotWithShape="0">
              <a:srgbClr val="000000">
                <a:alpha val="40000"/>
              </a:srgbClr>
            </a:outerShdw>
          </a:effectLst>
        </p:spPr>
        <p:txBody>
          <a:bodyPr wrap="square" rtlCol="0" anchor="ctr"/>
          <a:lstStyle/>
          <a:p>
            <a:pPr marL="0" indent="0">
              <a:buNone/>
            </a:pPr>
            <a:r>
              <a:rPr lang="en-US" sz="3400" b="1" dirty="0">
                <a:solidFill>
                  <a:srgbClr val="2ECC71"/>
                </a:solidFill>
                <a:latin typeface="Trebuchet MS" pitchFamily="34" charset="0"/>
                <a:ea typeface="Trebuchet MS" pitchFamily="34" charset="-122"/>
                <a:cs typeface="Trebuchet MS" pitchFamily="34" charset="-120"/>
              </a:rPr>
              <a:t>PRODUCT ROADMAP</a:t>
            </a:r>
            <a:endParaRPr lang="en-US" sz="3400" dirty="0"/>
          </a:p>
        </p:txBody>
      </p:sp>
      <p:sp>
        <p:nvSpPr>
          <p:cNvPr id="4" name="Shape 2"/>
          <p:cNvSpPr/>
          <p:nvPr/>
        </p:nvSpPr>
        <p:spPr>
          <a:xfrm>
            <a:off x="365760" y="1051560"/>
            <a:ext cx="11430000" cy="73152"/>
          </a:xfrm>
          <a:prstGeom prst="rect">
            <a:avLst/>
          </a:prstGeom>
          <a:solidFill>
            <a:srgbClr val="8AB89A"/>
          </a:solidFill>
          <a:ln/>
        </p:spPr>
      </p:sp>
      <p:sp>
        <p:nvSpPr>
          <p:cNvPr id="5" name="Shape 3"/>
          <p:cNvSpPr/>
          <p:nvPr/>
        </p:nvSpPr>
        <p:spPr>
          <a:xfrm>
            <a:off x="822960" y="960120"/>
            <a:ext cx="256032" cy="256032"/>
          </a:xfrm>
          <a:prstGeom prst="ellipse">
            <a:avLst/>
          </a:prstGeom>
          <a:solidFill>
            <a:srgbClr val="2ECC71"/>
          </a:solidFill>
          <a:ln/>
        </p:spPr>
      </p:sp>
      <p:sp>
        <p:nvSpPr>
          <p:cNvPr id="6" name="Shape 4"/>
          <p:cNvSpPr/>
          <p:nvPr/>
        </p:nvSpPr>
        <p:spPr>
          <a:xfrm>
            <a:off x="3657600" y="960120"/>
            <a:ext cx="256032" cy="256032"/>
          </a:xfrm>
          <a:prstGeom prst="ellipse">
            <a:avLst/>
          </a:prstGeom>
          <a:solidFill>
            <a:srgbClr val="2ECC71"/>
          </a:solidFill>
          <a:ln/>
        </p:spPr>
      </p:sp>
      <p:sp>
        <p:nvSpPr>
          <p:cNvPr id="7" name="Shape 5"/>
          <p:cNvSpPr/>
          <p:nvPr/>
        </p:nvSpPr>
        <p:spPr>
          <a:xfrm>
            <a:off x="6492240" y="960120"/>
            <a:ext cx="256032" cy="256032"/>
          </a:xfrm>
          <a:prstGeom prst="ellipse">
            <a:avLst/>
          </a:prstGeom>
          <a:solidFill>
            <a:srgbClr val="2ECC71"/>
          </a:solidFill>
          <a:ln/>
        </p:spPr>
      </p:sp>
      <p:sp>
        <p:nvSpPr>
          <p:cNvPr id="8" name="Shape 6"/>
          <p:cNvSpPr/>
          <p:nvPr/>
        </p:nvSpPr>
        <p:spPr>
          <a:xfrm>
            <a:off x="9326880" y="960120"/>
            <a:ext cx="256032" cy="256032"/>
          </a:xfrm>
          <a:prstGeom prst="ellipse">
            <a:avLst/>
          </a:prstGeom>
          <a:solidFill>
            <a:srgbClr val="2ECC71"/>
          </a:solidFill>
          <a:ln/>
        </p:spPr>
      </p:sp>
      <p:sp>
        <p:nvSpPr>
          <p:cNvPr id="9" name="Shape 7"/>
          <p:cNvSpPr/>
          <p:nvPr/>
        </p:nvSpPr>
        <p:spPr>
          <a:xfrm>
            <a:off x="365760" y="1371600"/>
            <a:ext cx="2743200" cy="4389120"/>
          </a:xfrm>
          <a:prstGeom prst="rect">
            <a:avLst/>
          </a:prstGeom>
          <a:solidFill>
            <a:srgbClr val="1A3A2A"/>
          </a:solidFill>
          <a:ln/>
          <a:effectLst>
            <a:outerShdw blurRad="101600" dist="38100" dir="2700000" algn="bl" rotWithShape="0">
              <a:srgbClr val="000000">
                <a:alpha val="40000"/>
              </a:srgbClr>
            </a:outerShdw>
          </a:effectLst>
        </p:spPr>
      </p:sp>
      <p:sp>
        <p:nvSpPr>
          <p:cNvPr id="10" name="Shape 8"/>
          <p:cNvSpPr/>
          <p:nvPr/>
        </p:nvSpPr>
        <p:spPr>
          <a:xfrm>
            <a:off x="365760" y="1371600"/>
            <a:ext cx="2743200" cy="548640"/>
          </a:xfrm>
          <a:prstGeom prst="rect">
            <a:avLst/>
          </a:prstGeom>
          <a:solidFill>
            <a:srgbClr val="2ECC71"/>
          </a:solidFill>
          <a:ln/>
        </p:spPr>
      </p:sp>
      <p:sp>
        <p:nvSpPr>
          <p:cNvPr id="11" name="Text 9"/>
          <p:cNvSpPr/>
          <p:nvPr/>
        </p:nvSpPr>
        <p:spPr>
          <a:xfrm>
            <a:off x="365760" y="1371600"/>
            <a:ext cx="2743200" cy="548640"/>
          </a:xfrm>
          <a:prstGeom prst="rect">
            <a:avLst/>
          </a:prstGeom>
          <a:noFill/>
          <a:ln/>
        </p:spPr>
        <p:txBody>
          <a:bodyPr wrap="square" rtlCol="0" anchor="ctr"/>
          <a:lstStyle/>
          <a:p>
            <a:pPr marL="0" indent="0" algn="ctr">
              <a:buNone/>
            </a:pPr>
            <a:r>
              <a:rPr lang="en-US" sz="1100" b="1" dirty="0">
                <a:solidFill>
                  <a:srgbClr val="061008"/>
                </a:solidFill>
                <a:latin typeface="Trebuchet MS" pitchFamily="34" charset="0"/>
                <a:ea typeface="Trebuchet MS" pitchFamily="34" charset="-122"/>
                <a:cs typeface="Trebuchet MS" pitchFamily="34" charset="-120"/>
              </a:rPr>
              <a:t>PHASE 1</a:t>
            </a:r>
            <a:endParaRPr lang="en-US" sz="1100" dirty="0"/>
          </a:p>
          <a:p>
            <a:pPr marL="0" indent="0" algn="ctr">
              <a:buNone/>
            </a:pPr>
            <a:r>
              <a:rPr lang="en-US" sz="1100" b="1" dirty="0">
                <a:solidFill>
                  <a:srgbClr val="061008"/>
                </a:solidFill>
                <a:latin typeface="Trebuchet MS" pitchFamily="34" charset="0"/>
                <a:ea typeface="Trebuchet MS" pitchFamily="34" charset="-122"/>
                <a:cs typeface="Trebuchet MS" pitchFamily="34" charset="-120"/>
              </a:rPr>
              <a:t>0 – 2 Months</a:t>
            </a:r>
            <a:endParaRPr lang="en-US" sz="1100" dirty="0"/>
          </a:p>
        </p:txBody>
      </p:sp>
      <p:sp>
        <p:nvSpPr>
          <p:cNvPr id="12" name="Text 10"/>
          <p:cNvSpPr/>
          <p:nvPr/>
        </p:nvSpPr>
        <p:spPr>
          <a:xfrm>
            <a:off x="457200" y="201168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MVP deployed on Vercel</a:t>
            </a:r>
            <a:endParaRPr lang="en-US" sz="950" dirty="0"/>
          </a:p>
        </p:txBody>
      </p:sp>
      <p:sp>
        <p:nvSpPr>
          <p:cNvPr id="13" name="Text 11"/>
          <p:cNvSpPr/>
          <p:nvPr/>
        </p:nvSpPr>
        <p:spPr>
          <a:xfrm>
            <a:off x="457200" y="251460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38-district dashboard</a:t>
            </a:r>
            <a:endParaRPr lang="en-US" sz="950" dirty="0"/>
          </a:p>
        </p:txBody>
      </p:sp>
      <p:sp>
        <p:nvSpPr>
          <p:cNvPr id="14" name="Text 12"/>
          <p:cNvSpPr/>
          <p:nvPr/>
        </p:nvSpPr>
        <p:spPr>
          <a:xfrm>
            <a:off x="457200" y="301752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StateBrain risk engine</a:t>
            </a:r>
            <a:endParaRPr lang="en-US" sz="950" dirty="0"/>
          </a:p>
        </p:txBody>
      </p:sp>
      <p:sp>
        <p:nvSpPr>
          <p:cNvPr id="15" name="Text 13"/>
          <p:cNvSpPr/>
          <p:nvPr/>
        </p:nvSpPr>
        <p:spPr>
          <a:xfrm>
            <a:off x="457200" y="352044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Aadhaar login system</a:t>
            </a:r>
            <a:endParaRPr lang="en-US" sz="950" dirty="0"/>
          </a:p>
        </p:txBody>
      </p:sp>
      <p:sp>
        <p:nvSpPr>
          <p:cNvPr id="16" name="Text 14"/>
          <p:cNvSpPr/>
          <p:nvPr/>
        </p:nvSpPr>
        <p:spPr>
          <a:xfrm>
            <a:off x="457200" y="402336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6-language interface</a:t>
            </a:r>
            <a:endParaRPr lang="en-US" sz="950" dirty="0"/>
          </a:p>
        </p:txBody>
      </p:sp>
      <p:sp>
        <p:nvSpPr>
          <p:cNvPr id="17" name="Text 15"/>
          <p:cNvSpPr/>
          <p:nvPr/>
        </p:nvSpPr>
        <p:spPr>
          <a:xfrm>
            <a:off x="457200" y="452628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Live sensor data feed</a:t>
            </a:r>
            <a:endParaRPr lang="en-US" sz="950" dirty="0"/>
          </a:p>
        </p:txBody>
      </p:sp>
      <p:sp>
        <p:nvSpPr>
          <p:cNvPr id="18" name="Shape 16"/>
          <p:cNvSpPr/>
          <p:nvPr/>
        </p:nvSpPr>
        <p:spPr>
          <a:xfrm>
            <a:off x="3291840" y="1371600"/>
            <a:ext cx="2743200" cy="4389120"/>
          </a:xfrm>
          <a:prstGeom prst="rect">
            <a:avLst/>
          </a:prstGeom>
          <a:solidFill>
            <a:srgbClr val="1A3A2A"/>
          </a:solidFill>
          <a:ln/>
          <a:effectLst>
            <a:outerShdw blurRad="101600" dist="38100" dir="2700000" algn="bl" rotWithShape="0">
              <a:srgbClr val="000000">
                <a:alpha val="40000"/>
              </a:srgbClr>
            </a:outerShdw>
          </a:effectLst>
        </p:spPr>
      </p:sp>
      <p:sp>
        <p:nvSpPr>
          <p:cNvPr id="19" name="Shape 17"/>
          <p:cNvSpPr/>
          <p:nvPr/>
        </p:nvSpPr>
        <p:spPr>
          <a:xfrm>
            <a:off x="3291840" y="1371600"/>
            <a:ext cx="2743200" cy="548640"/>
          </a:xfrm>
          <a:prstGeom prst="rect">
            <a:avLst/>
          </a:prstGeom>
          <a:solidFill>
            <a:srgbClr val="00B4D8"/>
          </a:solidFill>
          <a:ln/>
        </p:spPr>
      </p:sp>
      <p:sp>
        <p:nvSpPr>
          <p:cNvPr id="20" name="Text 18"/>
          <p:cNvSpPr/>
          <p:nvPr/>
        </p:nvSpPr>
        <p:spPr>
          <a:xfrm>
            <a:off x="3291840" y="1371600"/>
            <a:ext cx="2743200" cy="548640"/>
          </a:xfrm>
          <a:prstGeom prst="rect">
            <a:avLst/>
          </a:prstGeom>
          <a:noFill/>
          <a:ln/>
        </p:spPr>
        <p:txBody>
          <a:bodyPr wrap="square" rtlCol="0" anchor="ctr"/>
          <a:lstStyle/>
          <a:p>
            <a:pPr marL="0" indent="0" algn="ctr">
              <a:buNone/>
            </a:pPr>
            <a:r>
              <a:rPr lang="en-US" sz="1100" b="1" dirty="0">
                <a:solidFill>
                  <a:srgbClr val="061008"/>
                </a:solidFill>
                <a:latin typeface="Trebuchet MS" pitchFamily="34" charset="0"/>
                <a:ea typeface="Trebuchet MS" pitchFamily="34" charset="-122"/>
                <a:cs typeface="Trebuchet MS" pitchFamily="34" charset="-120"/>
              </a:rPr>
              <a:t>PHASE 2</a:t>
            </a:r>
            <a:endParaRPr lang="en-US" sz="1100" dirty="0"/>
          </a:p>
          <a:p>
            <a:pPr marL="0" indent="0" algn="ctr">
              <a:buNone/>
            </a:pPr>
            <a:r>
              <a:rPr lang="en-US" sz="1100" b="1" dirty="0">
                <a:solidFill>
                  <a:srgbClr val="061008"/>
                </a:solidFill>
                <a:latin typeface="Trebuchet MS" pitchFamily="34" charset="0"/>
                <a:ea typeface="Trebuchet MS" pitchFamily="34" charset="-122"/>
                <a:cs typeface="Trebuchet MS" pitchFamily="34" charset="-120"/>
              </a:rPr>
              <a:t>3 – 6 Months</a:t>
            </a:r>
            <a:endParaRPr lang="en-US" sz="1100" dirty="0"/>
          </a:p>
        </p:txBody>
      </p:sp>
      <p:sp>
        <p:nvSpPr>
          <p:cNvPr id="21" name="Text 19"/>
          <p:cNvSpPr/>
          <p:nvPr/>
        </p:nvSpPr>
        <p:spPr>
          <a:xfrm>
            <a:off x="3383280" y="201168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LoRaWAN IoT sensor kits</a:t>
            </a:r>
            <a:endParaRPr lang="en-US" sz="950" dirty="0"/>
          </a:p>
        </p:txBody>
      </p:sp>
      <p:sp>
        <p:nvSpPr>
          <p:cNvPr id="22" name="Text 20"/>
          <p:cNvSpPr/>
          <p:nvPr/>
        </p:nvSpPr>
        <p:spPr>
          <a:xfrm>
            <a:off x="3383280" y="251460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TNAU pilot (5 districts)</a:t>
            </a:r>
            <a:endParaRPr lang="en-US" sz="950" dirty="0"/>
          </a:p>
        </p:txBody>
      </p:sp>
      <p:sp>
        <p:nvSpPr>
          <p:cNvPr id="23" name="Text 21"/>
          <p:cNvSpPr/>
          <p:nvPr/>
        </p:nvSpPr>
        <p:spPr>
          <a:xfrm>
            <a:off x="3383280" y="301752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PWA mobile-first app</a:t>
            </a:r>
            <a:endParaRPr lang="en-US" sz="950" dirty="0"/>
          </a:p>
        </p:txBody>
      </p:sp>
      <p:sp>
        <p:nvSpPr>
          <p:cNvPr id="24" name="Text 22"/>
          <p:cNvSpPr/>
          <p:nvPr/>
        </p:nvSpPr>
        <p:spPr>
          <a:xfrm>
            <a:off x="3383280" y="352044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AgriStack API connect</a:t>
            </a:r>
            <a:endParaRPr lang="en-US" sz="950" dirty="0"/>
          </a:p>
        </p:txBody>
      </p:sp>
      <p:sp>
        <p:nvSpPr>
          <p:cNvPr id="25" name="Text 23"/>
          <p:cNvSpPr/>
          <p:nvPr/>
        </p:nvSpPr>
        <p:spPr>
          <a:xfrm>
            <a:off x="3383280" y="402336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PostgreSQL migration</a:t>
            </a:r>
            <a:endParaRPr lang="en-US" sz="950" dirty="0"/>
          </a:p>
        </p:txBody>
      </p:sp>
      <p:sp>
        <p:nvSpPr>
          <p:cNvPr id="26" name="Text 24"/>
          <p:cNvSpPr/>
          <p:nvPr/>
        </p:nvSpPr>
        <p:spPr>
          <a:xfrm>
            <a:off x="3383280" y="452628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Offline data sync</a:t>
            </a:r>
            <a:endParaRPr lang="en-US" sz="950" dirty="0"/>
          </a:p>
        </p:txBody>
      </p:sp>
      <p:sp>
        <p:nvSpPr>
          <p:cNvPr id="27" name="Shape 25"/>
          <p:cNvSpPr/>
          <p:nvPr/>
        </p:nvSpPr>
        <p:spPr>
          <a:xfrm>
            <a:off x="6217920" y="1371600"/>
            <a:ext cx="2743200" cy="4389120"/>
          </a:xfrm>
          <a:prstGeom prst="rect">
            <a:avLst/>
          </a:prstGeom>
          <a:solidFill>
            <a:srgbClr val="1A3A2A"/>
          </a:solidFill>
          <a:ln/>
          <a:effectLst>
            <a:outerShdw blurRad="101600" dist="38100" dir="2700000" algn="bl" rotWithShape="0">
              <a:srgbClr val="000000">
                <a:alpha val="40000"/>
              </a:srgbClr>
            </a:outerShdw>
          </a:effectLst>
        </p:spPr>
      </p:sp>
      <p:sp>
        <p:nvSpPr>
          <p:cNvPr id="28" name="Shape 26"/>
          <p:cNvSpPr/>
          <p:nvPr/>
        </p:nvSpPr>
        <p:spPr>
          <a:xfrm>
            <a:off x="6217920" y="1371600"/>
            <a:ext cx="2743200" cy="548640"/>
          </a:xfrm>
          <a:prstGeom prst="rect">
            <a:avLst/>
          </a:prstGeom>
          <a:solidFill>
            <a:srgbClr val="F0C040"/>
          </a:solidFill>
          <a:ln/>
        </p:spPr>
      </p:sp>
      <p:sp>
        <p:nvSpPr>
          <p:cNvPr id="29" name="Text 27"/>
          <p:cNvSpPr/>
          <p:nvPr/>
        </p:nvSpPr>
        <p:spPr>
          <a:xfrm>
            <a:off x="6217920" y="1371600"/>
            <a:ext cx="2743200" cy="548640"/>
          </a:xfrm>
          <a:prstGeom prst="rect">
            <a:avLst/>
          </a:prstGeom>
          <a:noFill/>
          <a:ln/>
        </p:spPr>
        <p:txBody>
          <a:bodyPr wrap="square" rtlCol="0" anchor="ctr"/>
          <a:lstStyle/>
          <a:p>
            <a:pPr marL="0" indent="0" algn="ctr">
              <a:buNone/>
            </a:pPr>
            <a:r>
              <a:rPr lang="en-US" sz="1100" b="1" dirty="0">
                <a:solidFill>
                  <a:srgbClr val="061008"/>
                </a:solidFill>
                <a:latin typeface="Trebuchet MS" pitchFamily="34" charset="0"/>
                <a:ea typeface="Trebuchet MS" pitchFamily="34" charset="-122"/>
                <a:cs typeface="Trebuchet MS" pitchFamily="34" charset="-120"/>
              </a:rPr>
              <a:t>PHASE 3</a:t>
            </a:r>
            <a:endParaRPr lang="en-US" sz="1100" dirty="0"/>
          </a:p>
          <a:p>
            <a:pPr marL="0" indent="0" algn="ctr">
              <a:buNone/>
            </a:pPr>
            <a:r>
              <a:rPr lang="en-US" sz="1100" b="1" dirty="0">
                <a:solidFill>
                  <a:srgbClr val="061008"/>
                </a:solidFill>
                <a:latin typeface="Trebuchet MS" pitchFamily="34" charset="0"/>
                <a:ea typeface="Trebuchet MS" pitchFamily="34" charset="-122"/>
                <a:cs typeface="Trebuchet MS" pitchFamily="34" charset="-120"/>
              </a:rPr>
              <a:t>1 – 2 Years</a:t>
            </a:r>
            <a:endParaRPr lang="en-US" sz="1100" dirty="0"/>
          </a:p>
        </p:txBody>
      </p:sp>
      <p:sp>
        <p:nvSpPr>
          <p:cNvPr id="30" name="Text 28"/>
          <p:cNvSpPr/>
          <p:nvPr/>
        </p:nvSpPr>
        <p:spPr>
          <a:xfrm>
            <a:off x="6309360" y="201168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VIIRS/Sentinel imagery</a:t>
            </a:r>
            <a:endParaRPr lang="en-US" sz="950" dirty="0"/>
          </a:p>
        </p:txBody>
      </p:sp>
      <p:sp>
        <p:nvSpPr>
          <p:cNvPr id="31" name="Text 29"/>
          <p:cNvSpPr/>
          <p:nvPr/>
        </p:nvSpPr>
        <p:spPr>
          <a:xfrm>
            <a:off x="6309360" y="251460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10,000 farmer network</a:t>
            </a:r>
            <a:endParaRPr lang="en-US" sz="950" dirty="0"/>
          </a:p>
        </p:txBody>
      </p:sp>
      <p:sp>
        <p:nvSpPr>
          <p:cNvPr id="32" name="Text 30"/>
          <p:cNvSpPr/>
          <p:nvPr/>
        </p:nvSpPr>
        <p:spPr>
          <a:xfrm>
            <a:off x="6309360" y="301752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NABARD FPO finance</a:t>
            </a:r>
            <a:endParaRPr lang="en-US" sz="950" dirty="0"/>
          </a:p>
        </p:txBody>
      </p:sp>
      <p:sp>
        <p:nvSpPr>
          <p:cNvPr id="33" name="Text 31"/>
          <p:cNvSpPr/>
          <p:nvPr/>
        </p:nvSpPr>
        <p:spPr>
          <a:xfrm>
            <a:off x="6309360" y="352044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Mandi price live API</a:t>
            </a:r>
            <a:endParaRPr lang="en-US" sz="950" dirty="0"/>
          </a:p>
        </p:txBody>
      </p:sp>
      <p:sp>
        <p:nvSpPr>
          <p:cNvPr id="34" name="Text 32"/>
          <p:cNvSpPr/>
          <p:nvPr/>
        </p:nvSpPr>
        <p:spPr>
          <a:xfrm>
            <a:off x="6309360" y="402336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VC Series A funding</a:t>
            </a:r>
            <a:endParaRPr lang="en-US" sz="950" dirty="0"/>
          </a:p>
        </p:txBody>
      </p:sp>
      <p:sp>
        <p:nvSpPr>
          <p:cNvPr id="35" name="Text 33"/>
          <p:cNvSpPr/>
          <p:nvPr/>
        </p:nvSpPr>
        <p:spPr>
          <a:xfrm>
            <a:off x="6309360" y="452628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3-state expansion</a:t>
            </a:r>
            <a:endParaRPr lang="en-US" sz="950" dirty="0"/>
          </a:p>
        </p:txBody>
      </p:sp>
      <p:sp>
        <p:nvSpPr>
          <p:cNvPr id="36" name="Shape 34"/>
          <p:cNvSpPr/>
          <p:nvPr/>
        </p:nvSpPr>
        <p:spPr>
          <a:xfrm>
            <a:off x="9144000" y="1371600"/>
            <a:ext cx="2743200" cy="4389120"/>
          </a:xfrm>
          <a:prstGeom prst="rect">
            <a:avLst/>
          </a:prstGeom>
          <a:solidFill>
            <a:srgbClr val="1A3A2A"/>
          </a:solidFill>
          <a:ln/>
          <a:effectLst>
            <a:outerShdw blurRad="101600" dist="38100" dir="2700000" algn="bl" rotWithShape="0">
              <a:srgbClr val="000000">
                <a:alpha val="40000"/>
              </a:srgbClr>
            </a:outerShdw>
          </a:effectLst>
        </p:spPr>
      </p:sp>
      <p:sp>
        <p:nvSpPr>
          <p:cNvPr id="37" name="Shape 35"/>
          <p:cNvSpPr/>
          <p:nvPr/>
        </p:nvSpPr>
        <p:spPr>
          <a:xfrm>
            <a:off x="9144000" y="1371600"/>
            <a:ext cx="2743200" cy="548640"/>
          </a:xfrm>
          <a:prstGeom prst="rect">
            <a:avLst/>
          </a:prstGeom>
          <a:solidFill>
            <a:srgbClr val="7B2FBE"/>
          </a:solidFill>
          <a:ln/>
        </p:spPr>
      </p:sp>
      <p:sp>
        <p:nvSpPr>
          <p:cNvPr id="38" name="Text 36"/>
          <p:cNvSpPr/>
          <p:nvPr/>
        </p:nvSpPr>
        <p:spPr>
          <a:xfrm>
            <a:off x="9144000" y="1371600"/>
            <a:ext cx="2743200" cy="548640"/>
          </a:xfrm>
          <a:prstGeom prst="rect">
            <a:avLst/>
          </a:prstGeom>
          <a:noFill/>
          <a:ln/>
        </p:spPr>
        <p:txBody>
          <a:bodyPr wrap="square" rtlCol="0" anchor="ctr"/>
          <a:lstStyle/>
          <a:p>
            <a:pPr marL="0" indent="0" algn="ctr">
              <a:buNone/>
            </a:pPr>
            <a:r>
              <a:rPr lang="en-US" sz="1100" b="1" dirty="0">
                <a:solidFill>
                  <a:srgbClr val="061008"/>
                </a:solidFill>
                <a:latin typeface="Trebuchet MS" pitchFamily="34" charset="0"/>
                <a:ea typeface="Trebuchet MS" pitchFamily="34" charset="-122"/>
                <a:cs typeface="Trebuchet MS" pitchFamily="34" charset="-120"/>
              </a:rPr>
              <a:t>PHASE 4</a:t>
            </a:r>
            <a:endParaRPr lang="en-US" sz="1100" dirty="0"/>
          </a:p>
          <a:p>
            <a:pPr marL="0" indent="0" algn="ctr">
              <a:buNone/>
            </a:pPr>
            <a:r>
              <a:rPr lang="en-US" sz="1100" b="1" dirty="0">
                <a:solidFill>
                  <a:srgbClr val="061008"/>
                </a:solidFill>
                <a:latin typeface="Trebuchet MS" pitchFamily="34" charset="0"/>
                <a:ea typeface="Trebuchet MS" pitchFamily="34" charset="-122"/>
                <a:cs typeface="Trebuchet MS" pitchFamily="34" charset="-120"/>
              </a:rPr>
              <a:t>3+ Years</a:t>
            </a:r>
            <a:endParaRPr lang="en-US" sz="1100" dirty="0"/>
          </a:p>
        </p:txBody>
      </p:sp>
      <p:sp>
        <p:nvSpPr>
          <p:cNvPr id="39" name="Text 37"/>
          <p:cNvSpPr/>
          <p:nvPr/>
        </p:nvSpPr>
        <p:spPr>
          <a:xfrm>
            <a:off x="9235440" y="201168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Drone precision-twin</a:t>
            </a:r>
            <a:endParaRPr lang="en-US" sz="950" dirty="0"/>
          </a:p>
        </p:txBody>
      </p:sp>
      <p:sp>
        <p:nvSpPr>
          <p:cNvPr id="40" name="Text 38"/>
          <p:cNvSpPr/>
          <p:nvPr/>
        </p:nvSpPr>
        <p:spPr>
          <a:xfrm>
            <a:off x="9235440" y="251460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National rollout</a:t>
            </a:r>
            <a:endParaRPr lang="en-US" sz="950" dirty="0"/>
          </a:p>
        </p:txBody>
      </p:sp>
      <p:sp>
        <p:nvSpPr>
          <p:cNvPr id="41" name="Text 39"/>
          <p:cNvSpPr/>
          <p:nvPr/>
        </p:nvSpPr>
        <p:spPr>
          <a:xfrm>
            <a:off x="9235440" y="301752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IPO-ready structure</a:t>
            </a:r>
            <a:endParaRPr lang="en-US" sz="950" dirty="0"/>
          </a:p>
        </p:txBody>
      </p:sp>
      <p:sp>
        <p:nvSpPr>
          <p:cNvPr id="42" name="Text 40"/>
          <p:cNvSpPr/>
          <p:nvPr/>
        </p:nvSpPr>
        <p:spPr>
          <a:xfrm>
            <a:off x="9235440" y="352044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LLM crop doctor app</a:t>
            </a:r>
            <a:endParaRPr lang="en-US" sz="950" dirty="0"/>
          </a:p>
        </p:txBody>
      </p:sp>
      <p:sp>
        <p:nvSpPr>
          <p:cNvPr id="43" name="Text 41"/>
          <p:cNvSpPr/>
          <p:nvPr/>
        </p:nvSpPr>
        <p:spPr>
          <a:xfrm>
            <a:off x="9235440" y="402336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SAARC region export</a:t>
            </a:r>
            <a:endParaRPr lang="en-US" sz="950" dirty="0"/>
          </a:p>
        </p:txBody>
      </p:sp>
      <p:sp>
        <p:nvSpPr>
          <p:cNvPr id="44" name="Text 42"/>
          <p:cNvSpPr/>
          <p:nvPr/>
        </p:nvSpPr>
        <p:spPr>
          <a:xfrm>
            <a:off x="9235440" y="4526280"/>
            <a:ext cx="2560320" cy="457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GovTech award target</a:t>
            </a:r>
            <a:endParaRPr lang="en-US" sz="950" dirty="0"/>
          </a:p>
        </p:txBody>
      </p:sp>
      <p:sp>
        <p:nvSpPr>
          <p:cNvPr id="45" name="Shape 43"/>
          <p:cNvSpPr/>
          <p:nvPr/>
        </p:nvSpPr>
        <p:spPr>
          <a:xfrm>
            <a:off x="0" y="6263640"/>
            <a:ext cx="12188952" cy="594360"/>
          </a:xfrm>
          <a:prstGeom prst="rect">
            <a:avLst/>
          </a:prstGeom>
          <a:solidFill>
            <a:srgbClr val="1A3A2A"/>
          </a:solidFill>
          <a:ln/>
        </p:spPr>
      </p:sp>
      <p:sp>
        <p:nvSpPr>
          <p:cNvPr id="46" name="Text 44"/>
          <p:cNvSpPr/>
          <p:nvPr/>
        </p:nvSpPr>
        <p:spPr>
          <a:xfrm>
            <a:off x="0" y="6263640"/>
            <a:ext cx="12188952" cy="594360"/>
          </a:xfrm>
          <a:prstGeom prst="rect">
            <a:avLst/>
          </a:prstGeom>
          <a:noFill/>
          <a:ln/>
        </p:spPr>
        <p:txBody>
          <a:bodyPr wrap="square" rtlCol="0" anchor="ctr"/>
          <a:lstStyle/>
          <a:p>
            <a:pPr marL="0" indent="0" algn="ctr">
              <a:buNone/>
            </a:pPr>
            <a:r>
              <a:rPr lang="en-US" sz="1100" i="1" dirty="0">
                <a:solidFill>
                  <a:srgbClr val="00B4D8"/>
                </a:solidFill>
                <a:latin typeface="Calibri" pitchFamily="34" charset="0"/>
                <a:ea typeface="Calibri" pitchFamily="34" charset="-122"/>
                <a:cs typeface="Calibri" pitchFamily="34" charset="-120"/>
              </a:rPr>
              <a:t>🔮 FUTURE: AI Drone Scouting  ·  NFT Land Registry  ·  Carbon Credit Marketplace  ·  Hyper-local Micro-Climate AI  ·  Quantum Soil Sensors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A0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0C040"/>
          </a:solidFill>
          <a:ln/>
        </p:spPr>
      </p:sp>
      <p:sp>
        <p:nvSpPr>
          <p:cNvPr id="3" name="Text 1"/>
          <p:cNvSpPr/>
          <p:nvPr/>
        </p:nvSpPr>
        <p:spPr>
          <a:xfrm>
            <a:off x="457200" y="182880"/>
            <a:ext cx="8229600" cy="548640"/>
          </a:xfrm>
          <a:prstGeom prst="rect">
            <a:avLst/>
          </a:prstGeom>
          <a:noFill/>
          <a:ln/>
          <a:effectLst>
            <a:outerShdw blurRad="101600" dist="38100" dir="2700000" algn="bl" rotWithShape="0">
              <a:srgbClr val="000000">
                <a:alpha val="40000"/>
              </a:srgbClr>
            </a:outerShdw>
          </a:effectLst>
        </p:spPr>
        <p:txBody>
          <a:bodyPr wrap="square" rtlCol="0" anchor="ctr"/>
          <a:lstStyle/>
          <a:p>
            <a:pPr marL="0" indent="0">
              <a:buNone/>
            </a:pPr>
            <a:r>
              <a:rPr lang="en-US" sz="3000" b="1" dirty="0">
                <a:solidFill>
                  <a:srgbClr val="F0C040"/>
                </a:solidFill>
                <a:latin typeface="Trebuchet MS" pitchFamily="34" charset="0"/>
                <a:ea typeface="Trebuchet MS" pitchFamily="34" charset="-122"/>
                <a:cs typeface="Trebuchet MS" pitchFamily="34" charset="-120"/>
              </a:rPr>
              <a:t>JURY Q&amp;A — PRE-EMPTED</a:t>
            </a:r>
            <a:endParaRPr lang="en-US" sz="3000" dirty="0"/>
          </a:p>
        </p:txBody>
      </p:sp>
      <p:sp>
        <p:nvSpPr>
          <p:cNvPr id="4" name="Text 2"/>
          <p:cNvSpPr/>
          <p:nvPr/>
        </p:nvSpPr>
        <p:spPr>
          <a:xfrm>
            <a:off x="457200" y="749808"/>
            <a:ext cx="7315200" cy="320040"/>
          </a:xfrm>
          <a:prstGeom prst="rect">
            <a:avLst/>
          </a:prstGeom>
          <a:noFill/>
          <a:ln/>
        </p:spPr>
        <p:txBody>
          <a:bodyPr wrap="square" rtlCol="0" anchor="ctr"/>
          <a:lstStyle/>
          <a:p>
            <a:pPr marL="0" indent="0">
              <a:buNone/>
            </a:pPr>
            <a:r>
              <a:rPr lang="en-US" sz="1400" i="1" dirty="0">
                <a:solidFill>
                  <a:srgbClr val="8AB89A"/>
                </a:solidFill>
                <a:latin typeface="Calibri" pitchFamily="34" charset="0"/>
                <a:ea typeface="Calibri" pitchFamily="34" charset="-122"/>
                <a:cs typeface="Calibri" pitchFamily="34" charset="-120"/>
              </a:rPr>
              <a:t>We've thought about your questions.</a:t>
            </a:r>
            <a:endParaRPr lang="en-US" sz="1400" dirty="0"/>
          </a:p>
        </p:txBody>
      </p:sp>
      <p:sp>
        <p:nvSpPr>
          <p:cNvPr id="5" name="Shape 3"/>
          <p:cNvSpPr/>
          <p:nvPr/>
        </p:nvSpPr>
        <p:spPr>
          <a:xfrm>
            <a:off x="365760" y="1188720"/>
            <a:ext cx="5669280" cy="2331720"/>
          </a:xfrm>
          <a:prstGeom prst="rect">
            <a:avLst/>
          </a:prstGeom>
          <a:solidFill>
            <a:srgbClr val="1A3A2A"/>
          </a:solidFill>
          <a:ln/>
          <a:effectLst>
            <a:outerShdw blurRad="101600" dist="38100" dir="2700000" algn="bl" rotWithShape="0">
              <a:srgbClr val="000000">
                <a:alpha val="40000"/>
              </a:srgbClr>
            </a:outerShdw>
          </a:effectLst>
        </p:spPr>
      </p:sp>
      <p:sp>
        <p:nvSpPr>
          <p:cNvPr id="6" name="Shape 4"/>
          <p:cNvSpPr/>
          <p:nvPr/>
        </p:nvSpPr>
        <p:spPr>
          <a:xfrm>
            <a:off x="365760" y="1188720"/>
            <a:ext cx="91440" cy="2331720"/>
          </a:xfrm>
          <a:prstGeom prst="rect">
            <a:avLst/>
          </a:prstGeom>
          <a:solidFill>
            <a:srgbClr val="2ECC71"/>
          </a:solidFill>
          <a:ln/>
        </p:spPr>
      </p:sp>
      <p:sp>
        <p:nvSpPr>
          <p:cNvPr id="7" name="Text 5"/>
          <p:cNvSpPr/>
          <p:nvPr/>
        </p:nvSpPr>
        <p:spPr>
          <a:xfrm>
            <a:off x="548640" y="1280160"/>
            <a:ext cx="5303520" cy="502920"/>
          </a:xfrm>
          <a:prstGeom prst="rect">
            <a:avLst/>
          </a:prstGeom>
          <a:noFill/>
          <a:ln/>
        </p:spPr>
        <p:txBody>
          <a:bodyPr wrap="square" rtlCol="0" anchor="ctr"/>
          <a:lstStyle/>
          <a:p>
            <a:pPr marL="0" indent="0">
              <a:buNone/>
            </a:pPr>
            <a:r>
              <a:rPr lang="en-US" sz="1050" b="1" dirty="0">
                <a:solidFill>
                  <a:srgbClr val="2ECC71"/>
                </a:solidFill>
                <a:latin typeface="Trebuchet MS" pitchFamily="34" charset="0"/>
                <a:ea typeface="Trebuchet MS" pitchFamily="34" charset="-122"/>
                <a:cs typeface="Trebuchet MS" pitchFamily="34" charset="-120"/>
              </a:rPr>
              <a:t>❓  How is this different from Kisan Suvidha or eSagu?</a:t>
            </a:r>
            <a:endParaRPr lang="en-US" sz="1050" dirty="0"/>
          </a:p>
        </p:txBody>
      </p:sp>
      <p:sp>
        <p:nvSpPr>
          <p:cNvPr id="8" name="Text 6"/>
          <p:cNvSpPr/>
          <p:nvPr/>
        </p:nvSpPr>
        <p:spPr>
          <a:xfrm>
            <a:off x="548640" y="1828800"/>
            <a:ext cx="5303520" cy="1600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Kisan Suvidha is a static information portal. We are a real-time AI Digital Twin — StateBrain simulates 1000 future seasons, predicts cross-district market gluts, and delivers context-aware Gemini AI advisory in 6 languages. No other platform does geospatial block-level twin simulation for TN.</a:t>
            </a:r>
            <a:endParaRPr lang="en-US" sz="950" dirty="0"/>
          </a:p>
        </p:txBody>
      </p:sp>
      <p:sp>
        <p:nvSpPr>
          <p:cNvPr id="9" name="Shape 7"/>
          <p:cNvSpPr/>
          <p:nvPr/>
        </p:nvSpPr>
        <p:spPr>
          <a:xfrm>
            <a:off x="6217920" y="1188720"/>
            <a:ext cx="5669280" cy="2331720"/>
          </a:xfrm>
          <a:prstGeom prst="rect">
            <a:avLst/>
          </a:prstGeom>
          <a:solidFill>
            <a:srgbClr val="1A3A2A"/>
          </a:solidFill>
          <a:ln/>
          <a:effectLst>
            <a:outerShdw blurRad="101600" dist="38100" dir="2700000" algn="bl" rotWithShape="0">
              <a:srgbClr val="000000">
                <a:alpha val="40000"/>
              </a:srgbClr>
            </a:outerShdw>
          </a:effectLst>
        </p:spPr>
      </p:sp>
      <p:sp>
        <p:nvSpPr>
          <p:cNvPr id="10" name="Shape 8"/>
          <p:cNvSpPr/>
          <p:nvPr/>
        </p:nvSpPr>
        <p:spPr>
          <a:xfrm>
            <a:off x="6217920" y="1188720"/>
            <a:ext cx="91440" cy="2331720"/>
          </a:xfrm>
          <a:prstGeom prst="rect">
            <a:avLst/>
          </a:prstGeom>
          <a:solidFill>
            <a:srgbClr val="00B4D8"/>
          </a:solidFill>
          <a:ln/>
        </p:spPr>
      </p:sp>
      <p:sp>
        <p:nvSpPr>
          <p:cNvPr id="11" name="Text 9"/>
          <p:cNvSpPr/>
          <p:nvPr/>
        </p:nvSpPr>
        <p:spPr>
          <a:xfrm>
            <a:off x="6400800" y="1280160"/>
            <a:ext cx="5303520" cy="502920"/>
          </a:xfrm>
          <a:prstGeom prst="rect">
            <a:avLst/>
          </a:prstGeom>
          <a:noFill/>
          <a:ln/>
        </p:spPr>
        <p:txBody>
          <a:bodyPr wrap="square" rtlCol="0" anchor="ctr"/>
          <a:lstStyle/>
          <a:p>
            <a:pPr marL="0" indent="0">
              <a:buNone/>
            </a:pPr>
            <a:r>
              <a:rPr lang="en-US" sz="1050" b="1" dirty="0">
                <a:solidFill>
                  <a:srgbClr val="00B4D8"/>
                </a:solidFill>
                <a:latin typeface="Trebuchet MS" pitchFamily="34" charset="0"/>
                <a:ea typeface="Trebuchet MS" pitchFamily="34" charset="-122"/>
                <a:cs typeface="Trebuchet MS" pitchFamily="34" charset="-120"/>
              </a:rPr>
              <a:t>❓  Most TN farmers lack internet. How does this reach them?</a:t>
            </a:r>
            <a:endParaRPr lang="en-US" sz="1050" dirty="0"/>
          </a:p>
        </p:txBody>
      </p:sp>
      <p:sp>
        <p:nvSpPr>
          <p:cNvPr id="12" name="Text 10"/>
          <p:cNvSpPr/>
          <p:nvPr/>
        </p:nvSpPr>
        <p:spPr>
          <a:xfrm>
            <a:off x="6400800" y="1828800"/>
            <a:ext cx="5303520" cy="1600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PWA offline mode caches district data; SMS/WhatsApp delivery of AI advisories is roadmap Phase 2. Our login works on any 2G network. Field officers act as proxies via the Officer dashboard. Village kiosk model is planned with TNAU.</a:t>
            </a:r>
            <a:endParaRPr lang="en-US" sz="950" dirty="0"/>
          </a:p>
        </p:txBody>
      </p:sp>
      <p:sp>
        <p:nvSpPr>
          <p:cNvPr id="13" name="Shape 11"/>
          <p:cNvSpPr/>
          <p:nvPr/>
        </p:nvSpPr>
        <p:spPr>
          <a:xfrm>
            <a:off x="365760" y="3749040"/>
            <a:ext cx="5669280" cy="2331720"/>
          </a:xfrm>
          <a:prstGeom prst="rect">
            <a:avLst/>
          </a:prstGeom>
          <a:solidFill>
            <a:srgbClr val="1A3A2A"/>
          </a:solidFill>
          <a:ln/>
          <a:effectLst>
            <a:outerShdw blurRad="101600" dist="38100" dir="2700000" algn="bl" rotWithShape="0">
              <a:srgbClr val="000000">
                <a:alpha val="40000"/>
              </a:srgbClr>
            </a:outerShdw>
          </a:effectLst>
        </p:spPr>
      </p:sp>
      <p:sp>
        <p:nvSpPr>
          <p:cNvPr id="14" name="Shape 12"/>
          <p:cNvSpPr/>
          <p:nvPr/>
        </p:nvSpPr>
        <p:spPr>
          <a:xfrm>
            <a:off x="365760" y="3749040"/>
            <a:ext cx="91440" cy="2331720"/>
          </a:xfrm>
          <a:prstGeom prst="rect">
            <a:avLst/>
          </a:prstGeom>
          <a:solidFill>
            <a:srgbClr val="FF6B35"/>
          </a:solidFill>
          <a:ln/>
        </p:spPr>
      </p:sp>
      <p:sp>
        <p:nvSpPr>
          <p:cNvPr id="15" name="Text 13"/>
          <p:cNvSpPr/>
          <p:nvPr/>
        </p:nvSpPr>
        <p:spPr>
          <a:xfrm>
            <a:off x="548640" y="3840480"/>
            <a:ext cx="5303520" cy="502920"/>
          </a:xfrm>
          <a:prstGeom prst="rect">
            <a:avLst/>
          </a:prstGeom>
          <a:noFill/>
          <a:ln/>
        </p:spPr>
        <p:txBody>
          <a:bodyPr wrap="square" rtlCol="0" anchor="ctr"/>
          <a:lstStyle/>
          <a:p>
            <a:pPr marL="0" indent="0">
              <a:buNone/>
            </a:pPr>
            <a:r>
              <a:rPr lang="en-US" sz="1050" b="1" dirty="0">
                <a:solidFill>
                  <a:srgbClr val="FF6B35"/>
                </a:solidFill>
                <a:latin typeface="Trebuchet MS" pitchFamily="34" charset="0"/>
                <a:ea typeface="Trebuchet MS" pitchFamily="34" charset="-122"/>
                <a:cs typeface="Trebuchet MS" pitchFamily="34" charset="-120"/>
              </a:rPr>
              <a:t>❓  What are your actual data sources?</a:t>
            </a:r>
            <a:endParaRPr lang="en-US" sz="1050" dirty="0"/>
          </a:p>
        </p:txBody>
      </p:sp>
      <p:sp>
        <p:nvSpPr>
          <p:cNvPr id="16" name="Text 14"/>
          <p:cNvSpPr/>
          <p:nvPr/>
        </p:nvSpPr>
        <p:spPr>
          <a:xfrm>
            <a:off x="548640" y="4389120"/>
            <a:ext cx="5303520" cy="1600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Current: Mock TN AgriStack telemetry, published NPK district averages (TNAU), APMC mandi price CSVs, OpenWeatherMap API. Phase 2: LoRaWAN soil sensors (partnered with 2 vendors), IMD API, Bharat Vistaar satellite integration.</a:t>
            </a:r>
            <a:endParaRPr lang="en-US" sz="950" dirty="0"/>
          </a:p>
        </p:txBody>
      </p:sp>
      <p:sp>
        <p:nvSpPr>
          <p:cNvPr id="17" name="Shape 15"/>
          <p:cNvSpPr/>
          <p:nvPr/>
        </p:nvSpPr>
        <p:spPr>
          <a:xfrm>
            <a:off x="6217920" y="3749040"/>
            <a:ext cx="5669280" cy="2331720"/>
          </a:xfrm>
          <a:prstGeom prst="rect">
            <a:avLst/>
          </a:prstGeom>
          <a:solidFill>
            <a:srgbClr val="1A3A2A"/>
          </a:solidFill>
          <a:ln/>
          <a:effectLst>
            <a:outerShdw blurRad="101600" dist="38100" dir="2700000" algn="bl" rotWithShape="0">
              <a:srgbClr val="000000">
                <a:alpha val="40000"/>
              </a:srgbClr>
            </a:outerShdw>
          </a:effectLst>
        </p:spPr>
      </p:sp>
      <p:sp>
        <p:nvSpPr>
          <p:cNvPr id="18" name="Shape 16"/>
          <p:cNvSpPr/>
          <p:nvPr/>
        </p:nvSpPr>
        <p:spPr>
          <a:xfrm>
            <a:off x="6217920" y="3749040"/>
            <a:ext cx="91440" cy="2331720"/>
          </a:xfrm>
          <a:prstGeom prst="rect">
            <a:avLst/>
          </a:prstGeom>
          <a:solidFill>
            <a:srgbClr val="7B2FBE"/>
          </a:solidFill>
          <a:ln/>
        </p:spPr>
      </p:sp>
      <p:sp>
        <p:nvSpPr>
          <p:cNvPr id="19" name="Text 17"/>
          <p:cNvSpPr/>
          <p:nvPr/>
        </p:nvSpPr>
        <p:spPr>
          <a:xfrm>
            <a:off x="6400800" y="3840480"/>
            <a:ext cx="5303520" cy="502920"/>
          </a:xfrm>
          <a:prstGeom prst="rect">
            <a:avLst/>
          </a:prstGeom>
          <a:noFill/>
          <a:ln/>
        </p:spPr>
        <p:txBody>
          <a:bodyPr wrap="square" rtlCol="0" anchor="ctr"/>
          <a:lstStyle/>
          <a:p>
            <a:pPr marL="0" indent="0">
              <a:buNone/>
            </a:pPr>
            <a:r>
              <a:rPr lang="en-US" sz="1050" b="1" dirty="0">
                <a:solidFill>
                  <a:srgbClr val="7B2FBE"/>
                </a:solidFill>
                <a:latin typeface="Trebuchet MS" pitchFamily="34" charset="0"/>
                <a:ea typeface="Trebuchet MS" pitchFamily="34" charset="-122"/>
                <a:cs typeface="Trebuchet MS" pitchFamily="34" charset="-120"/>
              </a:rPr>
              <a:t>❓  What is the current AI accuracy?</a:t>
            </a:r>
            <a:endParaRPr lang="en-US" sz="1050" dirty="0"/>
          </a:p>
        </p:txBody>
      </p:sp>
      <p:sp>
        <p:nvSpPr>
          <p:cNvPr id="20" name="Text 18"/>
          <p:cNvSpPr/>
          <p:nvPr/>
        </p:nvSpPr>
        <p:spPr>
          <a:xfrm>
            <a:off x="6400800" y="4389120"/>
            <a:ext cx="5303520" cy="160020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StateBrain market glut predictor: ~78% directional accuracy vs APMC historical data (backtested 2019–2024). Gemini advisory: qualitative, no accuracy metric. Phase 2 targets: 85%+ with real IoT sensor input and LSTM neural forecasting layer.</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A0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ECC71"/>
          </a:solidFill>
          <a:ln/>
        </p:spPr>
      </p:sp>
      <p:sp>
        <p:nvSpPr>
          <p:cNvPr id="3" name="Text 1"/>
          <p:cNvSpPr/>
          <p:nvPr/>
        </p:nvSpPr>
        <p:spPr>
          <a:xfrm>
            <a:off x="457200" y="182880"/>
            <a:ext cx="8229600" cy="502920"/>
          </a:xfrm>
          <a:prstGeom prst="rect">
            <a:avLst/>
          </a:prstGeom>
          <a:noFill/>
          <a:ln/>
          <a:effectLst>
            <a:outerShdw blurRad="101600" dist="38100" dir="2700000" algn="bl" rotWithShape="0">
              <a:srgbClr val="000000">
                <a:alpha val="40000"/>
              </a:srgbClr>
            </a:outerShdw>
          </a:effectLst>
        </p:spPr>
        <p:txBody>
          <a:bodyPr wrap="square" rtlCol="0" anchor="ctr"/>
          <a:lstStyle/>
          <a:p>
            <a:pPr marL="0" indent="0">
              <a:buNone/>
            </a:pPr>
            <a:r>
              <a:rPr lang="en-US" sz="2800" b="1" dirty="0">
                <a:solidFill>
                  <a:srgbClr val="2ECC71"/>
                </a:solidFill>
                <a:latin typeface="Trebuchet MS" pitchFamily="34" charset="0"/>
                <a:ea typeface="Trebuchet MS" pitchFamily="34" charset="-122"/>
                <a:cs typeface="Trebuchet MS" pitchFamily="34" charset="-120"/>
              </a:rPr>
              <a:t>TEAM UZHAVAR INTELLIGENCE</a:t>
            </a:r>
            <a:endParaRPr lang="en-US" sz="2800" dirty="0"/>
          </a:p>
        </p:txBody>
      </p:sp>
      <p:sp>
        <p:nvSpPr>
          <p:cNvPr id="4" name="Text 2"/>
          <p:cNvSpPr/>
          <p:nvPr/>
        </p:nvSpPr>
        <p:spPr>
          <a:xfrm>
            <a:off x="457200" y="713232"/>
            <a:ext cx="8229600" cy="320040"/>
          </a:xfrm>
          <a:prstGeom prst="rect">
            <a:avLst/>
          </a:prstGeom>
          <a:noFill/>
          <a:ln/>
        </p:spPr>
        <p:txBody>
          <a:bodyPr wrap="square" rtlCol="0" anchor="ctr"/>
          <a:lstStyle/>
          <a:p>
            <a:pPr marL="0" indent="0">
              <a:buNone/>
            </a:pPr>
            <a:r>
              <a:rPr lang="en-US" sz="1300" i="1" dirty="0">
                <a:solidFill>
                  <a:srgbClr val="F0C040"/>
                </a:solidFill>
                <a:latin typeface="Calibri" pitchFamily="34" charset="0"/>
                <a:ea typeface="Calibri" pitchFamily="34" charset="-122"/>
                <a:cs typeface="Calibri" pitchFamily="34" charset="-120"/>
              </a:rPr>
              <a:t>உழவர் புத்திசாலிகள் — Smart Farmers, Smarter Future</a:t>
            </a:r>
            <a:endParaRPr lang="en-US" sz="1300" dirty="0"/>
          </a:p>
        </p:txBody>
      </p:sp>
      <p:sp>
        <p:nvSpPr>
          <p:cNvPr id="5" name="Shape 3"/>
          <p:cNvSpPr/>
          <p:nvPr/>
        </p:nvSpPr>
        <p:spPr>
          <a:xfrm>
            <a:off x="365760" y="1143000"/>
            <a:ext cx="3383280" cy="2103120"/>
          </a:xfrm>
          <a:prstGeom prst="rect">
            <a:avLst/>
          </a:prstGeom>
          <a:solidFill>
            <a:srgbClr val="F0C040"/>
          </a:solidFill>
          <a:ln w="25400">
            <a:solidFill>
              <a:srgbClr val="F0C040"/>
            </a:solidFill>
            <a:prstDash val="solid"/>
          </a:ln>
          <a:effectLst>
            <a:outerShdw blurRad="101600" dist="38100" dir="2700000" algn="bl" rotWithShape="0">
              <a:srgbClr val="000000">
                <a:alpha val="40000"/>
              </a:srgbClr>
            </a:outerShdw>
          </a:effectLst>
        </p:spPr>
      </p:sp>
      <p:sp>
        <p:nvSpPr>
          <p:cNvPr id="6" name="Shape 4"/>
          <p:cNvSpPr/>
          <p:nvPr/>
        </p:nvSpPr>
        <p:spPr>
          <a:xfrm>
            <a:off x="365760" y="1143000"/>
            <a:ext cx="3383280" cy="73152"/>
          </a:xfrm>
          <a:prstGeom prst="rect">
            <a:avLst/>
          </a:prstGeom>
          <a:solidFill>
            <a:srgbClr val="F0C040"/>
          </a:solidFill>
          <a:ln/>
        </p:spPr>
      </p:sp>
      <p:sp>
        <p:nvSpPr>
          <p:cNvPr id="7" name="Text 5"/>
          <p:cNvSpPr/>
          <p:nvPr/>
        </p:nvSpPr>
        <p:spPr>
          <a:xfrm>
            <a:off x="365760" y="1234440"/>
            <a:ext cx="3383280" cy="320040"/>
          </a:xfrm>
          <a:prstGeom prst="rect">
            <a:avLst/>
          </a:prstGeom>
          <a:noFill/>
          <a:ln/>
        </p:spPr>
        <p:txBody>
          <a:bodyPr wrap="square" rtlCol="0" anchor="ctr"/>
          <a:lstStyle/>
          <a:p>
            <a:pPr marL="0" indent="0" algn="ctr">
              <a:buNone/>
            </a:pPr>
            <a:r>
              <a:rPr lang="en-US" sz="900" b="1" dirty="0">
                <a:solidFill>
                  <a:srgbClr val="061008"/>
                </a:solidFill>
                <a:latin typeface="Trebuchet MS" pitchFamily="34" charset="0"/>
                <a:ea typeface="Trebuchet MS" pitchFamily="34" charset="-122"/>
                <a:cs typeface="Trebuchet MS" pitchFamily="34" charset="-120"/>
              </a:rPr>
              <a:t>⭐ LEAD</a:t>
            </a:r>
            <a:endParaRPr lang="en-US" sz="900" dirty="0"/>
          </a:p>
        </p:txBody>
      </p:sp>
      <p:sp>
        <p:nvSpPr>
          <p:cNvPr id="8" name="Shape 6"/>
          <p:cNvSpPr/>
          <p:nvPr/>
        </p:nvSpPr>
        <p:spPr>
          <a:xfrm>
            <a:off x="1600200" y="1600200"/>
            <a:ext cx="914400" cy="914400"/>
          </a:xfrm>
          <a:prstGeom prst="ellipse">
            <a:avLst/>
          </a:prstGeom>
          <a:solidFill>
            <a:srgbClr val="2A1A00"/>
          </a:solidFill>
          <a:ln w="19050">
            <a:solidFill>
              <a:srgbClr val="F0C040"/>
            </a:solidFill>
            <a:prstDash val="solid"/>
          </a:ln>
        </p:spPr>
      </p:sp>
      <p:sp>
        <p:nvSpPr>
          <p:cNvPr id="9" name="Text 7"/>
          <p:cNvSpPr/>
          <p:nvPr/>
        </p:nvSpPr>
        <p:spPr>
          <a:xfrm>
            <a:off x="1600200" y="1600200"/>
            <a:ext cx="914400" cy="9144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0" name="Text 8"/>
          <p:cNvSpPr/>
          <p:nvPr/>
        </p:nvSpPr>
        <p:spPr>
          <a:xfrm>
            <a:off x="365760" y="2606040"/>
            <a:ext cx="3383280" cy="365760"/>
          </a:xfrm>
          <a:prstGeom prst="rect">
            <a:avLst/>
          </a:prstGeom>
          <a:noFill/>
          <a:ln/>
        </p:spPr>
        <p:txBody>
          <a:bodyPr wrap="square" rtlCol="0" anchor="ctr"/>
          <a:lstStyle/>
          <a:p>
            <a:pPr marL="0" indent="0" algn="ctr">
              <a:buNone/>
            </a:pPr>
            <a:r>
              <a:rPr lang="en-US" sz="1200" b="1" dirty="0">
                <a:solidFill>
                  <a:srgbClr val="061008"/>
                </a:solidFill>
                <a:latin typeface="Trebuchet MS" pitchFamily="34" charset="0"/>
                <a:ea typeface="Trebuchet MS" pitchFamily="34" charset="-122"/>
                <a:cs typeface="Trebuchet MS" pitchFamily="34" charset="-120"/>
              </a:rPr>
              <a:t>Threessha D</a:t>
            </a:r>
            <a:endParaRPr lang="en-US" sz="1200" dirty="0"/>
          </a:p>
        </p:txBody>
      </p:sp>
      <p:sp>
        <p:nvSpPr>
          <p:cNvPr id="11" name="Text 9"/>
          <p:cNvSpPr/>
          <p:nvPr/>
        </p:nvSpPr>
        <p:spPr>
          <a:xfrm>
            <a:off x="365760" y="2971800"/>
            <a:ext cx="3383280" cy="320040"/>
          </a:xfrm>
          <a:prstGeom prst="rect">
            <a:avLst/>
          </a:prstGeom>
          <a:noFill/>
          <a:ln/>
        </p:spPr>
        <p:txBody>
          <a:bodyPr wrap="square" rtlCol="0" anchor="ctr"/>
          <a:lstStyle/>
          <a:p>
            <a:pPr marL="0" indent="0" algn="ctr">
              <a:buNone/>
            </a:pPr>
            <a:r>
              <a:rPr lang="en-US" sz="950" dirty="0">
                <a:solidFill>
                  <a:srgbClr val="061008"/>
                </a:solidFill>
                <a:latin typeface="Calibri" pitchFamily="34" charset="0"/>
                <a:ea typeface="Calibri" pitchFamily="34" charset="-122"/>
                <a:cs typeface="Calibri" pitchFamily="34" charset="-120"/>
              </a:rPr>
              <a:t>Team Lead · Full-Stack Architect</a:t>
            </a:r>
            <a:endParaRPr lang="en-US" sz="950" dirty="0"/>
          </a:p>
        </p:txBody>
      </p:sp>
      <p:sp>
        <p:nvSpPr>
          <p:cNvPr id="12" name="Shape 10"/>
          <p:cNvSpPr/>
          <p:nvPr/>
        </p:nvSpPr>
        <p:spPr>
          <a:xfrm>
            <a:off x="4389120" y="1143000"/>
            <a:ext cx="3383280" cy="2103120"/>
          </a:xfrm>
          <a:prstGeom prst="rect">
            <a:avLst/>
          </a:prstGeom>
          <a:solidFill>
            <a:srgbClr val="1A3A2A"/>
          </a:solidFill>
          <a:ln w="12700">
            <a:solidFill>
              <a:srgbClr val="2ECC71"/>
            </a:solidFill>
            <a:prstDash val="solid"/>
          </a:ln>
          <a:effectLst>
            <a:outerShdw blurRad="101600" dist="38100" dir="2700000" algn="bl" rotWithShape="0">
              <a:srgbClr val="000000">
                <a:alpha val="40000"/>
              </a:srgbClr>
            </a:outerShdw>
          </a:effectLst>
        </p:spPr>
      </p:sp>
      <p:sp>
        <p:nvSpPr>
          <p:cNvPr id="13" name="Shape 11"/>
          <p:cNvSpPr/>
          <p:nvPr/>
        </p:nvSpPr>
        <p:spPr>
          <a:xfrm>
            <a:off x="5623560" y="1325880"/>
            <a:ext cx="914400" cy="914400"/>
          </a:xfrm>
          <a:prstGeom prst="ellipse">
            <a:avLst/>
          </a:prstGeom>
          <a:solidFill>
            <a:srgbClr val="1A3A2A"/>
          </a:solidFill>
          <a:ln w="19050">
            <a:solidFill>
              <a:srgbClr val="2ECC71"/>
            </a:solidFill>
            <a:prstDash val="solid"/>
          </a:ln>
        </p:spPr>
      </p:sp>
      <p:sp>
        <p:nvSpPr>
          <p:cNvPr id="14" name="Text 12"/>
          <p:cNvSpPr/>
          <p:nvPr/>
        </p:nvSpPr>
        <p:spPr>
          <a:xfrm>
            <a:off x="5623560" y="1325880"/>
            <a:ext cx="914400" cy="9144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5" name="Text 13"/>
          <p:cNvSpPr/>
          <p:nvPr/>
        </p:nvSpPr>
        <p:spPr>
          <a:xfrm>
            <a:off x="4389120" y="2331720"/>
            <a:ext cx="3383280" cy="36576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Padma Priya V</a:t>
            </a:r>
            <a:endParaRPr lang="en-US" sz="1200" dirty="0"/>
          </a:p>
        </p:txBody>
      </p:sp>
      <p:sp>
        <p:nvSpPr>
          <p:cNvPr id="16" name="Text 14"/>
          <p:cNvSpPr/>
          <p:nvPr/>
        </p:nvSpPr>
        <p:spPr>
          <a:xfrm>
            <a:off x="4389120" y="2697480"/>
            <a:ext cx="3383280" cy="320040"/>
          </a:xfrm>
          <a:prstGeom prst="rect">
            <a:avLst/>
          </a:prstGeom>
          <a:noFill/>
          <a:ln/>
        </p:spPr>
        <p:txBody>
          <a:bodyPr wrap="square" rtlCol="0" anchor="ctr"/>
          <a:lstStyle/>
          <a:p>
            <a:pPr marL="0" indent="0" algn="ctr">
              <a:buNone/>
            </a:pPr>
            <a:r>
              <a:rPr lang="en-US" sz="950" dirty="0">
                <a:solidFill>
                  <a:srgbClr val="8AB89A"/>
                </a:solidFill>
                <a:latin typeface="Calibri" pitchFamily="34" charset="0"/>
                <a:ea typeface="Calibri" pitchFamily="34" charset="-122"/>
                <a:cs typeface="Calibri" pitchFamily="34" charset="-120"/>
              </a:rPr>
              <a:t>UI/UX · Frontend Engineer</a:t>
            </a:r>
            <a:endParaRPr lang="en-US" sz="950" dirty="0"/>
          </a:p>
        </p:txBody>
      </p:sp>
      <p:sp>
        <p:nvSpPr>
          <p:cNvPr id="17" name="Shape 15"/>
          <p:cNvSpPr/>
          <p:nvPr/>
        </p:nvSpPr>
        <p:spPr>
          <a:xfrm>
            <a:off x="8412480" y="1143000"/>
            <a:ext cx="3383280" cy="2103120"/>
          </a:xfrm>
          <a:prstGeom prst="rect">
            <a:avLst/>
          </a:prstGeom>
          <a:solidFill>
            <a:srgbClr val="1A3A2A"/>
          </a:solidFill>
          <a:ln w="12700">
            <a:solidFill>
              <a:srgbClr val="2ECC71"/>
            </a:solidFill>
            <a:prstDash val="solid"/>
          </a:ln>
          <a:effectLst>
            <a:outerShdw blurRad="101600" dist="38100" dir="2700000" algn="bl" rotWithShape="0">
              <a:srgbClr val="000000">
                <a:alpha val="40000"/>
              </a:srgbClr>
            </a:outerShdw>
          </a:effectLst>
        </p:spPr>
      </p:sp>
      <p:sp>
        <p:nvSpPr>
          <p:cNvPr id="18" name="Shape 16"/>
          <p:cNvSpPr/>
          <p:nvPr/>
        </p:nvSpPr>
        <p:spPr>
          <a:xfrm>
            <a:off x="9646920" y="1325880"/>
            <a:ext cx="914400" cy="914400"/>
          </a:xfrm>
          <a:prstGeom prst="ellipse">
            <a:avLst/>
          </a:prstGeom>
          <a:solidFill>
            <a:srgbClr val="1A3A2A"/>
          </a:solidFill>
          <a:ln w="19050">
            <a:solidFill>
              <a:srgbClr val="2ECC71"/>
            </a:solidFill>
            <a:prstDash val="solid"/>
          </a:ln>
        </p:spPr>
      </p:sp>
      <p:sp>
        <p:nvSpPr>
          <p:cNvPr id="19" name="Text 17"/>
          <p:cNvSpPr/>
          <p:nvPr/>
        </p:nvSpPr>
        <p:spPr>
          <a:xfrm>
            <a:off x="9646920" y="1325880"/>
            <a:ext cx="914400" cy="9144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0" name="Text 18"/>
          <p:cNvSpPr/>
          <p:nvPr/>
        </p:nvSpPr>
        <p:spPr>
          <a:xfrm>
            <a:off x="8412480" y="2331720"/>
            <a:ext cx="3383280" cy="36576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K. Sathyapriya</a:t>
            </a:r>
            <a:endParaRPr lang="en-US" sz="1200" dirty="0"/>
          </a:p>
        </p:txBody>
      </p:sp>
      <p:sp>
        <p:nvSpPr>
          <p:cNvPr id="21" name="Text 19"/>
          <p:cNvSpPr/>
          <p:nvPr/>
        </p:nvSpPr>
        <p:spPr>
          <a:xfrm>
            <a:off x="8412480" y="2697480"/>
            <a:ext cx="3383280" cy="320040"/>
          </a:xfrm>
          <a:prstGeom prst="rect">
            <a:avLst/>
          </a:prstGeom>
          <a:noFill/>
          <a:ln/>
        </p:spPr>
        <p:txBody>
          <a:bodyPr wrap="square" rtlCol="0" anchor="ctr"/>
          <a:lstStyle/>
          <a:p>
            <a:pPr marL="0" indent="0" algn="ctr">
              <a:buNone/>
            </a:pPr>
            <a:r>
              <a:rPr lang="en-US" sz="950" dirty="0">
                <a:solidFill>
                  <a:srgbClr val="8AB89A"/>
                </a:solidFill>
                <a:latin typeface="Calibri" pitchFamily="34" charset="0"/>
                <a:ea typeface="Calibri" pitchFamily="34" charset="-122"/>
                <a:cs typeface="Calibri" pitchFamily="34" charset="-120"/>
              </a:rPr>
              <a:t>AI/ML · Data Engineer</a:t>
            </a:r>
            <a:endParaRPr lang="en-US" sz="950" dirty="0"/>
          </a:p>
        </p:txBody>
      </p:sp>
      <p:sp>
        <p:nvSpPr>
          <p:cNvPr id="22" name="Shape 20"/>
          <p:cNvSpPr/>
          <p:nvPr/>
        </p:nvSpPr>
        <p:spPr>
          <a:xfrm>
            <a:off x="1828800" y="3566160"/>
            <a:ext cx="3383280" cy="2103120"/>
          </a:xfrm>
          <a:prstGeom prst="rect">
            <a:avLst/>
          </a:prstGeom>
          <a:solidFill>
            <a:srgbClr val="1A3A2A"/>
          </a:solidFill>
          <a:ln w="12700">
            <a:solidFill>
              <a:srgbClr val="2ECC71"/>
            </a:solidFill>
            <a:prstDash val="solid"/>
          </a:ln>
          <a:effectLst>
            <a:outerShdw blurRad="101600" dist="38100" dir="2700000" algn="bl" rotWithShape="0">
              <a:srgbClr val="000000">
                <a:alpha val="40000"/>
              </a:srgbClr>
            </a:outerShdw>
          </a:effectLst>
        </p:spPr>
      </p:sp>
      <p:sp>
        <p:nvSpPr>
          <p:cNvPr id="23" name="Shape 21"/>
          <p:cNvSpPr/>
          <p:nvPr/>
        </p:nvSpPr>
        <p:spPr>
          <a:xfrm>
            <a:off x="3063240" y="3749040"/>
            <a:ext cx="914400" cy="914400"/>
          </a:xfrm>
          <a:prstGeom prst="ellipse">
            <a:avLst/>
          </a:prstGeom>
          <a:solidFill>
            <a:srgbClr val="1A3A2A"/>
          </a:solidFill>
          <a:ln w="19050">
            <a:solidFill>
              <a:srgbClr val="2ECC71"/>
            </a:solidFill>
            <a:prstDash val="solid"/>
          </a:ln>
        </p:spPr>
      </p:sp>
      <p:sp>
        <p:nvSpPr>
          <p:cNvPr id="24" name="Text 22"/>
          <p:cNvSpPr/>
          <p:nvPr/>
        </p:nvSpPr>
        <p:spPr>
          <a:xfrm>
            <a:off x="3063240" y="3749040"/>
            <a:ext cx="914400" cy="9144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5" name="Text 23"/>
          <p:cNvSpPr/>
          <p:nvPr/>
        </p:nvSpPr>
        <p:spPr>
          <a:xfrm>
            <a:off x="1828800" y="4754880"/>
            <a:ext cx="3383280" cy="36576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Santhosh Kumar B</a:t>
            </a:r>
            <a:endParaRPr lang="en-US" sz="1200" dirty="0"/>
          </a:p>
        </p:txBody>
      </p:sp>
      <p:sp>
        <p:nvSpPr>
          <p:cNvPr id="26" name="Text 24"/>
          <p:cNvSpPr/>
          <p:nvPr/>
        </p:nvSpPr>
        <p:spPr>
          <a:xfrm>
            <a:off x="1828800" y="5120640"/>
            <a:ext cx="3383280" cy="320040"/>
          </a:xfrm>
          <a:prstGeom prst="rect">
            <a:avLst/>
          </a:prstGeom>
          <a:noFill/>
          <a:ln/>
        </p:spPr>
        <p:txBody>
          <a:bodyPr wrap="square" rtlCol="0" anchor="ctr"/>
          <a:lstStyle/>
          <a:p>
            <a:pPr marL="0" indent="0" algn="ctr">
              <a:buNone/>
            </a:pPr>
            <a:r>
              <a:rPr lang="en-US" sz="950" dirty="0">
                <a:solidFill>
                  <a:srgbClr val="8AB89A"/>
                </a:solidFill>
                <a:latin typeface="Calibri" pitchFamily="34" charset="0"/>
                <a:ea typeface="Calibri" pitchFamily="34" charset="-122"/>
                <a:cs typeface="Calibri" pitchFamily="34" charset="-120"/>
              </a:rPr>
              <a:t>Backend · API Integration</a:t>
            </a:r>
            <a:endParaRPr lang="en-US" sz="950" dirty="0"/>
          </a:p>
        </p:txBody>
      </p:sp>
      <p:sp>
        <p:nvSpPr>
          <p:cNvPr id="27" name="Shape 25"/>
          <p:cNvSpPr/>
          <p:nvPr/>
        </p:nvSpPr>
        <p:spPr>
          <a:xfrm>
            <a:off x="6400800" y="3566160"/>
            <a:ext cx="3383280" cy="2103120"/>
          </a:xfrm>
          <a:prstGeom prst="rect">
            <a:avLst/>
          </a:prstGeom>
          <a:solidFill>
            <a:srgbClr val="1A3A2A"/>
          </a:solidFill>
          <a:ln w="12700">
            <a:solidFill>
              <a:srgbClr val="2ECC71"/>
            </a:solidFill>
            <a:prstDash val="solid"/>
          </a:ln>
          <a:effectLst>
            <a:outerShdw blurRad="101600" dist="38100" dir="2700000" algn="bl" rotWithShape="0">
              <a:srgbClr val="000000">
                <a:alpha val="40000"/>
              </a:srgbClr>
            </a:outerShdw>
          </a:effectLst>
        </p:spPr>
      </p:sp>
      <p:sp>
        <p:nvSpPr>
          <p:cNvPr id="28" name="Shape 26"/>
          <p:cNvSpPr/>
          <p:nvPr/>
        </p:nvSpPr>
        <p:spPr>
          <a:xfrm>
            <a:off x="7635240" y="3749040"/>
            <a:ext cx="914400" cy="914400"/>
          </a:xfrm>
          <a:prstGeom prst="ellipse">
            <a:avLst/>
          </a:prstGeom>
          <a:solidFill>
            <a:srgbClr val="1A3A2A"/>
          </a:solidFill>
          <a:ln w="19050">
            <a:solidFill>
              <a:srgbClr val="2ECC71"/>
            </a:solidFill>
            <a:prstDash val="solid"/>
          </a:ln>
        </p:spPr>
      </p:sp>
      <p:sp>
        <p:nvSpPr>
          <p:cNvPr id="29" name="Text 27"/>
          <p:cNvSpPr/>
          <p:nvPr/>
        </p:nvSpPr>
        <p:spPr>
          <a:xfrm>
            <a:off x="7635240" y="3749040"/>
            <a:ext cx="914400" cy="9144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30" name="Text 28"/>
          <p:cNvSpPr/>
          <p:nvPr/>
        </p:nvSpPr>
        <p:spPr>
          <a:xfrm>
            <a:off x="6400800" y="4754880"/>
            <a:ext cx="3383280" cy="36576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Karthikeyan K</a:t>
            </a:r>
            <a:endParaRPr lang="en-US" sz="1200" dirty="0"/>
          </a:p>
        </p:txBody>
      </p:sp>
      <p:sp>
        <p:nvSpPr>
          <p:cNvPr id="31" name="Text 29"/>
          <p:cNvSpPr/>
          <p:nvPr/>
        </p:nvSpPr>
        <p:spPr>
          <a:xfrm>
            <a:off x="6400800" y="5120640"/>
            <a:ext cx="3383280" cy="320040"/>
          </a:xfrm>
          <a:prstGeom prst="rect">
            <a:avLst/>
          </a:prstGeom>
          <a:noFill/>
          <a:ln/>
        </p:spPr>
        <p:txBody>
          <a:bodyPr wrap="square" rtlCol="0" anchor="ctr"/>
          <a:lstStyle/>
          <a:p>
            <a:pPr marL="0" indent="0" algn="ctr">
              <a:buNone/>
            </a:pPr>
            <a:r>
              <a:rPr lang="en-US" sz="950" dirty="0">
                <a:solidFill>
                  <a:srgbClr val="8AB89A"/>
                </a:solidFill>
                <a:latin typeface="Calibri" pitchFamily="34" charset="0"/>
                <a:ea typeface="Calibri" pitchFamily="34" charset="-122"/>
                <a:cs typeface="Calibri" pitchFamily="34" charset="-120"/>
              </a:rPr>
              <a:t>DevOps · Deployment Lead</a:t>
            </a:r>
            <a:endParaRPr lang="en-US" sz="950" dirty="0"/>
          </a:p>
        </p:txBody>
      </p:sp>
      <p:sp>
        <p:nvSpPr>
          <p:cNvPr id="32" name="Text 30"/>
          <p:cNvSpPr/>
          <p:nvPr/>
        </p:nvSpPr>
        <p:spPr>
          <a:xfrm>
            <a:off x="365760" y="5760720"/>
            <a:ext cx="11430000" cy="320040"/>
          </a:xfrm>
          <a:prstGeom prst="rect">
            <a:avLst/>
          </a:prstGeom>
          <a:noFill/>
          <a:ln/>
        </p:spPr>
        <p:txBody>
          <a:bodyPr wrap="square" rtlCol="0" anchor="ctr"/>
          <a:lstStyle/>
          <a:p>
            <a:pPr marL="0" indent="0" algn="ctr">
              <a:buNone/>
            </a:pPr>
            <a:r>
              <a:rPr lang="en-US" sz="1100" dirty="0">
                <a:solidFill>
                  <a:srgbClr val="8AB89A"/>
                </a:solidFill>
                <a:latin typeface="Calibri" pitchFamily="34" charset="0"/>
                <a:ea typeface="Calibri" pitchFamily="34" charset="-122"/>
                <a:cs typeface="Calibri" pitchFamily="34" charset="-120"/>
              </a:rPr>
              <a:t>C. Abdul Hakeem College of Engineering &amp; Technology</a:t>
            </a:r>
            <a:endParaRPr lang="en-US" sz="1100" dirty="0"/>
          </a:p>
        </p:txBody>
      </p:sp>
      <p:sp>
        <p:nvSpPr>
          <p:cNvPr id="33" name="Shape 31"/>
          <p:cNvSpPr/>
          <p:nvPr/>
        </p:nvSpPr>
        <p:spPr>
          <a:xfrm>
            <a:off x="0" y="6126480"/>
            <a:ext cx="12188952" cy="731520"/>
          </a:xfrm>
          <a:prstGeom prst="rect">
            <a:avLst/>
          </a:prstGeom>
          <a:solidFill>
            <a:srgbClr val="2ECC71"/>
          </a:solidFill>
          <a:ln/>
        </p:spPr>
      </p:sp>
      <p:sp>
        <p:nvSpPr>
          <p:cNvPr id="34" name="Text 32"/>
          <p:cNvSpPr/>
          <p:nvPr/>
        </p:nvSpPr>
        <p:spPr>
          <a:xfrm>
            <a:off x="0" y="6126480"/>
            <a:ext cx="12188952" cy="731520"/>
          </a:xfrm>
          <a:prstGeom prst="rect">
            <a:avLst/>
          </a:prstGeom>
          <a:noFill/>
          <a:ln/>
        </p:spPr>
        <p:txBody>
          <a:bodyPr wrap="square" rtlCol="0" anchor="ctr"/>
          <a:lstStyle/>
          <a:p>
            <a:pPr marL="0" indent="0" algn="ctr">
              <a:buNone/>
            </a:pPr>
            <a:r>
              <a:rPr lang="en-US" sz="1100" b="1" dirty="0">
                <a:solidFill>
                  <a:srgbClr val="061008"/>
                </a:solidFill>
                <a:latin typeface="Calibri" pitchFamily="34" charset="0"/>
                <a:ea typeface="Calibri" pitchFamily="34" charset="-122"/>
                <a:cs typeface="Calibri" pitchFamily="34" charset="-120"/>
              </a:rPr>
              <a:t>🌾 Uzhavar Intelligence | Nimirndhu Nil 2026  |  🌐 nimirndhunil.vercel.app  |  📧 threessha@example.com  |  ⭐ github.com/threesshad-cpu/agri-neural-twin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A0F"/>
        </a:solidFill>
        <a:effectLst/>
      </p:bgPr>
    </p:bg>
    <p:spTree>
      <p:nvGrpSpPr>
        <p:cNvPr id="1" name=""/>
        <p:cNvGrpSpPr/>
        <p:nvPr/>
      </p:nvGrpSpPr>
      <p:grpSpPr>
        <a:xfrm>
          <a:off x="0" y="0"/>
          <a:ext cx="0" cy="0"/>
          <a:chOff x="0" y="0"/>
          <a:chExt cx="0" cy="0"/>
        </a:xfrm>
      </p:grpSpPr>
      <p:sp>
        <p:nvSpPr>
          <p:cNvPr id="2" name="Shape 0"/>
          <p:cNvSpPr/>
          <p:nvPr/>
        </p:nvSpPr>
        <p:spPr>
          <a:xfrm>
            <a:off x="3200400" y="457200"/>
            <a:ext cx="5943600" cy="5943600"/>
          </a:xfrm>
          <a:prstGeom prst="ellipse">
            <a:avLst/>
          </a:prstGeom>
          <a:solidFill>
            <a:srgbClr val="0F2A18"/>
          </a:solidFill>
          <a:ln w="12700">
            <a:solidFill>
              <a:srgbClr val="2ECC71"/>
            </a:solidFill>
            <a:prstDash val="solid"/>
          </a:ln>
        </p:spPr>
      </p:sp>
      <p:sp>
        <p:nvSpPr>
          <p:cNvPr id="3" name="Shape 1"/>
          <p:cNvSpPr/>
          <p:nvPr/>
        </p:nvSpPr>
        <p:spPr>
          <a:xfrm>
            <a:off x="4114800" y="1188720"/>
            <a:ext cx="4114800" cy="4114800"/>
          </a:xfrm>
          <a:prstGeom prst="ellipse">
            <a:avLst/>
          </a:prstGeom>
          <a:solidFill>
            <a:srgbClr val="162E1E"/>
          </a:solidFill>
          <a:ln w="12700">
            <a:solidFill>
              <a:srgbClr val="F0C040"/>
            </a:solidFill>
            <a:prstDash val="solid"/>
          </a:ln>
        </p:spPr>
      </p:sp>
      <p:sp>
        <p:nvSpPr>
          <p:cNvPr id="4" name="Shape 2"/>
          <p:cNvSpPr/>
          <p:nvPr/>
        </p:nvSpPr>
        <p:spPr>
          <a:xfrm>
            <a:off x="0" y="0"/>
            <a:ext cx="109728" cy="6858000"/>
          </a:xfrm>
          <a:prstGeom prst="rect">
            <a:avLst/>
          </a:prstGeom>
          <a:solidFill>
            <a:srgbClr val="2ECC71"/>
          </a:solidFill>
          <a:ln/>
        </p:spPr>
      </p:sp>
      <p:sp>
        <p:nvSpPr>
          <p:cNvPr id="5" name="Shape 3"/>
          <p:cNvSpPr/>
          <p:nvPr/>
        </p:nvSpPr>
        <p:spPr>
          <a:xfrm>
            <a:off x="12079224" y="0"/>
            <a:ext cx="109728" cy="6858000"/>
          </a:xfrm>
          <a:prstGeom prst="rect">
            <a:avLst/>
          </a:prstGeom>
          <a:solidFill>
            <a:srgbClr val="2ECC71"/>
          </a:solidFill>
          <a:ln/>
        </p:spPr>
      </p:sp>
      <p:sp>
        <p:nvSpPr>
          <p:cNvPr id="6" name="Text 4"/>
          <p:cNvSpPr/>
          <p:nvPr/>
        </p:nvSpPr>
        <p:spPr>
          <a:xfrm>
            <a:off x="457200" y="1371600"/>
            <a:ext cx="11247120" cy="822960"/>
          </a:xfrm>
          <a:prstGeom prst="rect">
            <a:avLst/>
          </a:prstGeom>
          <a:noFill/>
          <a:ln/>
          <a:effectLst>
            <a:outerShdw blurRad="101600" dist="38100" dir="2700000" algn="bl" rotWithShape="0">
              <a:srgbClr val="000000">
                <a:alpha val="40000"/>
              </a:srgbClr>
            </a:outerShdw>
          </a:effectLst>
        </p:spPr>
        <p:txBody>
          <a:bodyPr wrap="square" rtlCol="0" anchor="ctr"/>
          <a:lstStyle/>
          <a:p>
            <a:pPr marL="0" indent="0" algn="ctr">
              <a:buNone/>
            </a:pPr>
            <a:r>
              <a:rPr lang="en-US" sz="4000" b="1" dirty="0">
                <a:solidFill>
                  <a:srgbClr val="2ECC71"/>
                </a:solidFill>
                <a:latin typeface="Trebuchet MS" pitchFamily="34" charset="0"/>
                <a:ea typeface="Trebuchet MS" pitchFamily="34" charset="-122"/>
                <a:cs typeface="Trebuchet MS" pitchFamily="34" charset="-120"/>
              </a:rPr>
              <a:t>THE SEED IS PLANTED.</a:t>
            </a:r>
            <a:endParaRPr lang="en-US" sz="4000" dirty="0"/>
          </a:p>
        </p:txBody>
      </p:sp>
      <p:sp>
        <p:nvSpPr>
          <p:cNvPr id="7" name="Text 5"/>
          <p:cNvSpPr/>
          <p:nvPr/>
        </p:nvSpPr>
        <p:spPr>
          <a:xfrm>
            <a:off x="457200" y="2286000"/>
            <a:ext cx="11247120" cy="548640"/>
          </a:xfrm>
          <a:prstGeom prst="rect">
            <a:avLst/>
          </a:prstGeom>
          <a:noFill/>
          <a:ln/>
        </p:spPr>
        <p:txBody>
          <a:bodyPr wrap="square" rtlCol="0" anchor="ctr"/>
          <a:lstStyle/>
          <a:p>
            <a:pPr marL="0" indent="0" algn="ctr">
              <a:buNone/>
            </a:pPr>
            <a:r>
              <a:rPr lang="en-US" sz="1800" i="1" dirty="0">
                <a:solidFill>
                  <a:srgbClr val="F0C040"/>
                </a:solidFill>
                <a:latin typeface="Trebuchet MS" pitchFamily="34" charset="0"/>
                <a:ea typeface="Trebuchet MS" pitchFamily="34" charset="-122"/>
                <a:cs typeface="Trebuchet MS" pitchFamily="34" charset="-120"/>
              </a:rPr>
              <a:t>Let's Grow Tamil Nadu's Agricultural Future — Together.</a:t>
            </a:r>
            <a:endParaRPr lang="en-US" sz="1800" dirty="0"/>
          </a:p>
        </p:txBody>
      </p:sp>
      <p:sp>
        <p:nvSpPr>
          <p:cNvPr id="8" name="Shape 6"/>
          <p:cNvSpPr/>
          <p:nvPr/>
        </p:nvSpPr>
        <p:spPr>
          <a:xfrm>
            <a:off x="3200400" y="3017520"/>
            <a:ext cx="5760720" cy="45720"/>
          </a:xfrm>
          <a:prstGeom prst="rect">
            <a:avLst/>
          </a:prstGeom>
          <a:solidFill>
            <a:srgbClr val="2ECC71"/>
          </a:solidFill>
          <a:ln/>
        </p:spPr>
      </p:sp>
      <p:sp>
        <p:nvSpPr>
          <p:cNvPr id="9" name="Text 7"/>
          <p:cNvSpPr/>
          <p:nvPr/>
        </p:nvSpPr>
        <p:spPr>
          <a:xfrm>
            <a:off x="1371600" y="3291840"/>
            <a:ext cx="9418320" cy="45720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  nimirndhunil.vercel.app</a:t>
            </a:r>
            <a:endParaRPr lang="en-US" sz="1300" dirty="0"/>
          </a:p>
        </p:txBody>
      </p:sp>
      <p:sp>
        <p:nvSpPr>
          <p:cNvPr id="10" name="Text 8"/>
          <p:cNvSpPr/>
          <p:nvPr/>
        </p:nvSpPr>
        <p:spPr>
          <a:xfrm>
            <a:off x="1371600" y="3794760"/>
            <a:ext cx="9418320" cy="45720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  github.com/threesshad-cpu/agri-neural-twin</a:t>
            </a:r>
            <a:endParaRPr lang="en-US" sz="1300" dirty="0"/>
          </a:p>
        </p:txBody>
      </p:sp>
      <p:sp>
        <p:nvSpPr>
          <p:cNvPr id="11" name="Text 9"/>
          <p:cNvSpPr/>
          <p:nvPr/>
        </p:nvSpPr>
        <p:spPr>
          <a:xfrm>
            <a:off x="1371600" y="4297680"/>
            <a:ext cx="9418320" cy="45720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  Nimirndhu Nil — Govt of Tamil Nadu 2026</a:t>
            </a:r>
            <a:endParaRPr lang="en-US" sz="1300" dirty="0"/>
          </a:p>
        </p:txBody>
      </p:sp>
      <p:sp>
        <p:nvSpPr>
          <p:cNvPr id="12" name="Shape 10"/>
          <p:cNvSpPr/>
          <p:nvPr/>
        </p:nvSpPr>
        <p:spPr>
          <a:xfrm>
            <a:off x="0" y="6400800"/>
            <a:ext cx="12188952" cy="457200"/>
          </a:xfrm>
          <a:prstGeom prst="rect">
            <a:avLst/>
          </a:prstGeom>
          <a:solidFill>
            <a:srgbClr val="1A3A2A"/>
          </a:solidFill>
          <a:ln/>
        </p:spPr>
      </p:sp>
      <p:sp>
        <p:nvSpPr>
          <p:cNvPr id="13" name="Text 11"/>
          <p:cNvSpPr/>
          <p:nvPr/>
        </p:nvSpPr>
        <p:spPr>
          <a:xfrm>
            <a:off x="0" y="6400800"/>
            <a:ext cx="12188952" cy="457200"/>
          </a:xfrm>
          <a:prstGeom prst="rect">
            <a:avLst/>
          </a:prstGeom>
          <a:noFill/>
          <a:ln/>
        </p:spPr>
        <p:txBody>
          <a:bodyPr wrap="square" rtlCol="0" anchor="ctr"/>
          <a:lstStyle/>
          <a:p>
            <a:pPr marL="0" indent="0" algn="ctr">
              <a:buNone/>
            </a:pPr>
            <a:r>
              <a:rPr lang="en-US" sz="1100" i="1" dirty="0">
                <a:solidFill>
                  <a:srgbClr val="2ECC71"/>
                </a:solidFill>
                <a:latin typeface="Calibri" pitchFamily="34" charset="0"/>
                <a:ea typeface="Calibri" pitchFamily="34" charset="-122"/>
                <a:cs typeface="Calibri" pitchFamily="34" charset="-120"/>
              </a:rPr>
              <a:t>"Sabka Saath, Sabka Vikas — Democratizing AI for Every Farmer" | Uzhavar Intelligence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1583</Words>
  <Application>Microsoft Office PowerPoint</Application>
  <PresentationFormat>Widescreen</PresentationFormat>
  <Paragraphs>256</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Threessha D</cp:lastModifiedBy>
  <cp:revision>1</cp:revision>
  <dcterms:created xsi:type="dcterms:W3CDTF">2026-06-09T05:46:52Z</dcterms:created>
  <dcterms:modified xsi:type="dcterms:W3CDTF">2026-06-09T05:53:10Z</dcterms:modified>
</cp:coreProperties>
</file>